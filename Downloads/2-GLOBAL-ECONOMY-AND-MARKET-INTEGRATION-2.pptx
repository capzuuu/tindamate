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68" r:id="rId3"/>
    <p:sldId id="269" r:id="rId4"/>
    <p:sldId id="270" r:id="rId5"/>
    <p:sldId id="271" r:id="rId6"/>
    <p:sldId id="267" r:id="rId7"/>
    <p:sldId id="258" r:id="rId8"/>
    <p:sldId id="259" r:id="rId9"/>
    <p:sldId id="260" r:id="rId10"/>
    <p:sldId id="262" r:id="rId11"/>
    <p:sldId id="263" r:id="rId12"/>
    <p:sldId id="264" r:id="rId13"/>
    <p:sldId id="265" r:id="rId14"/>
    <p:sldId id="266" r:id="rId15"/>
    <p:sldId id="26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82" autoAdjust="0"/>
  </p:normalViewPr>
  <p:slideViewPr>
    <p:cSldViewPr snapToGrid="0">
      <p:cViewPr varScale="1">
        <p:scale>
          <a:sx n="85" d="100"/>
          <a:sy n="85" d="100"/>
        </p:scale>
        <p:origin x="744" y="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D7BCDB-1BAA-4A8F-B096-309F6AA629BA}" type="datetimeFigureOut">
              <a:rPr lang="en-US" smtClean="0"/>
              <a:t>9/10/2024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EF36B0-907B-4DE1-AEDE-07CAAE81137D}" type="slidenum">
              <a:rPr lang="en-US" smtClean="0"/>
              <a:t>‹#›</a:t>
            </a:fld>
            <a:endParaRPr lang="en-US"/>
          </a:p>
        </p:txBody>
      </p:sp>
    </p:spTree>
    <p:extLst>
      <p:ext uri="{BB962C8B-B14F-4D97-AF65-F5344CB8AC3E}">
        <p14:creationId xmlns:p14="http://schemas.microsoft.com/office/powerpoint/2010/main" val="131577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1</a:t>
            </a:fld>
            <a:endParaRPr lang="en-US"/>
          </a:p>
        </p:txBody>
      </p:sp>
    </p:spTree>
    <p:extLst>
      <p:ext uri="{BB962C8B-B14F-4D97-AF65-F5344CB8AC3E}">
        <p14:creationId xmlns:p14="http://schemas.microsoft.com/office/powerpoint/2010/main" val="1724167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Are you a part of the economy?</a:t>
            </a:r>
            <a:r>
              <a:rPr lang="en-US" baseline="0" dirty="0" smtClean="0"/>
              <a:t> Local economy, (sari </a:t>
            </a:r>
            <a:r>
              <a:rPr lang="en-US" baseline="0" dirty="0" err="1" smtClean="0"/>
              <a:t>sari</a:t>
            </a:r>
            <a:r>
              <a:rPr lang="en-US" baseline="0" dirty="0" smtClean="0"/>
              <a:t> store) you become a participant of the economy. Have you been in business?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31EF36B0-907B-4DE1-AEDE-07CAAE81137D}" type="slidenum">
              <a:rPr lang="en-US" smtClean="0"/>
              <a:t>2</a:t>
            </a:fld>
            <a:endParaRPr lang="en-US"/>
          </a:p>
        </p:txBody>
      </p:sp>
    </p:spTree>
    <p:extLst>
      <p:ext uri="{BB962C8B-B14F-4D97-AF65-F5344CB8AC3E}">
        <p14:creationId xmlns:p14="http://schemas.microsoft.com/office/powerpoint/2010/main" val="1730791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3</a:t>
            </a:fld>
            <a:endParaRPr lang="en-US"/>
          </a:p>
        </p:txBody>
      </p:sp>
    </p:spTree>
    <p:extLst>
      <p:ext uri="{BB962C8B-B14F-4D97-AF65-F5344CB8AC3E}">
        <p14:creationId xmlns:p14="http://schemas.microsoft.com/office/powerpoint/2010/main" val="1112178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4</a:t>
            </a:fld>
            <a:endParaRPr lang="en-US"/>
          </a:p>
        </p:txBody>
      </p:sp>
    </p:spTree>
    <p:extLst>
      <p:ext uri="{BB962C8B-B14F-4D97-AF65-F5344CB8AC3E}">
        <p14:creationId xmlns:p14="http://schemas.microsoft.com/office/powerpoint/2010/main" val="3422550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5</a:t>
            </a:fld>
            <a:endParaRPr lang="en-US"/>
          </a:p>
        </p:txBody>
      </p:sp>
    </p:spTree>
    <p:extLst>
      <p:ext uri="{BB962C8B-B14F-4D97-AF65-F5344CB8AC3E}">
        <p14:creationId xmlns:p14="http://schemas.microsoft.com/office/powerpoint/2010/main" val="2017918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7</a:t>
            </a:fld>
            <a:endParaRPr lang="en-US"/>
          </a:p>
        </p:txBody>
      </p:sp>
    </p:spTree>
    <p:extLst>
      <p:ext uri="{BB962C8B-B14F-4D97-AF65-F5344CB8AC3E}">
        <p14:creationId xmlns:p14="http://schemas.microsoft.com/office/powerpoint/2010/main" val="3823853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8</a:t>
            </a:fld>
            <a:endParaRPr lang="en-US"/>
          </a:p>
        </p:txBody>
      </p:sp>
    </p:spTree>
    <p:extLst>
      <p:ext uri="{BB962C8B-B14F-4D97-AF65-F5344CB8AC3E}">
        <p14:creationId xmlns:p14="http://schemas.microsoft.com/office/powerpoint/2010/main" val="3309049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9</a:t>
            </a:fld>
            <a:endParaRPr lang="en-US"/>
          </a:p>
        </p:txBody>
      </p:sp>
    </p:spTree>
    <p:extLst>
      <p:ext uri="{BB962C8B-B14F-4D97-AF65-F5344CB8AC3E}">
        <p14:creationId xmlns:p14="http://schemas.microsoft.com/office/powerpoint/2010/main" val="3559666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10</a:t>
            </a:fld>
            <a:endParaRPr lang="en-US"/>
          </a:p>
        </p:txBody>
      </p:sp>
    </p:spTree>
    <p:extLst>
      <p:ext uri="{BB962C8B-B14F-4D97-AF65-F5344CB8AC3E}">
        <p14:creationId xmlns:p14="http://schemas.microsoft.com/office/powerpoint/2010/main" val="449099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11</a:t>
            </a:fld>
            <a:endParaRPr lang="en-US"/>
          </a:p>
        </p:txBody>
      </p:sp>
    </p:spTree>
    <p:extLst>
      <p:ext uri="{BB962C8B-B14F-4D97-AF65-F5344CB8AC3E}">
        <p14:creationId xmlns:p14="http://schemas.microsoft.com/office/powerpoint/2010/main" val="2343237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12</a:t>
            </a:fld>
            <a:endParaRPr lang="en-US"/>
          </a:p>
        </p:txBody>
      </p:sp>
    </p:spTree>
    <p:extLst>
      <p:ext uri="{BB962C8B-B14F-4D97-AF65-F5344CB8AC3E}">
        <p14:creationId xmlns:p14="http://schemas.microsoft.com/office/powerpoint/2010/main" val="174711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Larger capital</a:t>
            </a:r>
            <a:r>
              <a:rPr lang="en-US" baseline="0" dirty="0" smtClean="0"/>
              <a:t> provides more chance to trade and compete internationally.</a:t>
            </a:r>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13</a:t>
            </a:fld>
            <a:endParaRPr lang="en-US"/>
          </a:p>
        </p:txBody>
      </p:sp>
    </p:spTree>
    <p:extLst>
      <p:ext uri="{BB962C8B-B14F-4D97-AF65-F5344CB8AC3E}">
        <p14:creationId xmlns:p14="http://schemas.microsoft.com/office/powerpoint/2010/main" val="2070236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14</a:t>
            </a:fld>
            <a:endParaRPr lang="en-US"/>
          </a:p>
        </p:txBody>
      </p:sp>
    </p:spTree>
    <p:extLst>
      <p:ext uri="{BB962C8B-B14F-4D97-AF65-F5344CB8AC3E}">
        <p14:creationId xmlns:p14="http://schemas.microsoft.com/office/powerpoint/2010/main" val="2285023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EF36B0-907B-4DE1-AEDE-07CAAE81137D}" type="slidenum">
              <a:rPr lang="en-US" smtClean="0"/>
              <a:t>15</a:t>
            </a:fld>
            <a:endParaRPr lang="en-US"/>
          </a:p>
        </p:txBody>
      </p:sp>
    </p:spTree>
    <p:extLst>
      <p:ext uri="{BB962C8B-B14F-4D97-AF65-F5344CB8AC3E}">
        <p14:creationId xmlns:p14="http://schemas.microsoft.com/office/powerpoint/2010/main" val="3483210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88AEECFB-9A43-49E7-9E8D-45F88F961D97}"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9507BC-2D25-498C-8CD2-4E4BE077952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8294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AEECFB-9A43-49E7-9E8D-45F88F961D97}"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9507BC-2D25-498C-8CD2-4E4BE077952A}" type="slidenum">
              <a:rPr lang="en-US" smtClean="0"/>
              <a:t>‹#›</a:t>
            </a:fld>
            <a:endParaRPr lang="en-US"/>
          </a:p>
        </p:txBody>
      </p:sp>
    </p:spTree>
    <p:extLst>
      <p:ext uri="{BB962C8B-B14F-4D97-AF65-F5344CB8AC3E}">
        <p14:creationId xmlns:p14="http://schemas.microsoft.com/office/powerpoint/2010/main" val="2977688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AEECFB-9A43-49E7-9E8D-45F88F961D97}"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9507BC-2D25-498C-8CD2-4E4BE077952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672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8AEECFB-9A43-49E7-9E8D-45F88F961D97}" type="datetimeFigureOut">
              <a:rPr lang="en-US" smtClean="0"/>
              <a:t>9/10/2024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9507BC-2D25-498C-8CD2-4E4BE077952A}" type="slidenum">
              <a:rPr lang="en-US" smtClean="0"/>
              <a:t>‹#›</a:t>
            </a:fld>
            <a:endParaRPr lang="en-US"/>
          </a:p>
        </p:txBody>
      </p:sp>
    </p:spTree>
    <p:extLst>
      <p:ext uri="{BB962C8B-B14F-4D97-AF65-F5344CB8AC3E}">
        <p14:creationId xmlns:p14="http://schemas.microsoft.com/office/powerpoint/2010/main" val="4058566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8AEECFB-9A43-49E7-9E8D-45F88F961D97}" type="datetimeFigureOut">
              <a:rPr lang="en-US" smtClean="0"/>
              <a:t>9/10/2024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9507BC-2D25-498C-8CD2-4E4BE077952A}" type="slidenum">
              <a:rPr lang="en-US" smtClean="0"/>
              <a:t>‹#›</a:t>
            </a:fld>
            <a:endParaRPr lang="en-US"/>
          </a:p>
        </p:txBody>
      </p:sp>
    </p:spTree>
    <p:extLst>
      <p:ext uri="{BB962C8B-B14F-4D97-AF65-F5344CB8AC3E}">
        <p14:creationId xmlns:p14="http://schemas.microsoft.com/office/powerpoint/2010/main" val="2080819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8AEECFB-9A43-49E7-9E8D-45F88F961D97}" type="datetimeFigureOut">
              <a:rPr lang="en-US" smtClean="0"/>
              <a:t>9/10/2024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9507BC-2D25-498C-8CD2-4E4BE077952A}" type="slidenum">
              <a:rPr lang="en-US" smtClean="0"/>
              <a:t>‹#›</a:t>
            </a:fld>
            <a:endParaRPr lang="en-US"/>
          </a:p>
        </p:txBody>
      </p:sp>
    </p:spTree>
    <p:extLst>
      <p:ext uri="{BB962C8B-B14F-4D97-AF65-F5344CB8AC3E}">
        <p14:creationId xmlns:p14="http://schemas.microsoft.com/office/powerpoint/2010/main" val="2281240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AEECFB-9A43-49E7-9E8D-45F88F961D97}" type="datetimeFigureOut">
              <a:rPr lang="en-US" smtClean="0"/>
              <a:t>9/10/2024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9507BC-2D25-498C-8CD2-4E4BE077952A}" type="slidenum">
              <a:rPr lang="en-US" smtClean="0"/>
              <a:t>‹#›</a:t>
            </a:fld>
            <a:endParaRPr lang="en-US"/>
          </a:p>
        </p:txBody>
      </p:sp>
    </p:spTree>
    <p:extLst>
      <p:ext uri="{BB962C8B-B14F-4D97-AF65-F5344CB8AC3E}">
        <p14:creationId xmlns:p14="http://schemas.microsoft.com/office/powerpoint/2010/main" val="1599240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8AEECFB-9A43-49E7-9E8D-45F88F961D97}" type="datetimeFigureOut">
              <a:rPr lang="en-US" smtClean="0"/>
              <a:t>9/10/2024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9507BC-2D25-498C-8CD2-4E4BE077952A}" type="slidenum">
              <a:rPr lang="en-US" smtClean="0"/>
              <a:t>‹#›</a:t>
            </a:fld>
            <a:endParaRPr lang="en-US"/>
          </a:p>
        </p:txBody>
      </p:sp>
    </p:spTree>
    <p:extLst>
      <p:ext uri="{BB962C8B-B14F-4D97-AF65-F5344CB8AC3E}">
        <p14:creationId xmlns:p14="http://schemas.microsoft.com/office/powerpoint/2010/main" val="294498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8AEECFB-9A43-49E7-9E8D-45F88F961D97}" type="datetimeFigureOut">
              <a:rPr lang="en-US" smtClean="0"/>
              <a:t>9/10/2024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9507BC-2D25-498C-8CD2-4E4BE077952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0482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AEECFB-9A43-49E7-9E8D-45F88F961D97}"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9507BC-2D25-498C-8CD2-4E4BE077952A}" type="slidenum">
              <a:rPr lang="en-US" smtClean="0"/>
              <a:t>‹#›</a:t>
            </a:fld>
            <a:endParaRPr lang="en-US"/>
          </a:p>
        </p:txBody>
      </p:sp>
    </p:spTree>
    <p:extLst>
      <p:ext uri="{BB962C8B-B14F-4D97-AF65-F5344CB8AC3E}">
        <p14:creationId xmlns:p14="http://schemas.microsoft.com/office/powerpoint/2010/main" val="1494651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AEECFB-9A43-49E7-9E8D-45F88F961D97}"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9507BC-2D25-498C-8CD2-4E4BE077952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0851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8AEECFB-9A43-49E7-9E8D-45F88F961D97}" type="datetimeFigureOut">
              <a:rPr lang="en-US" smtClean="0"/>
              <a:t>9/10/2024</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269507BC-2D25-498C-8CD2-4E4BE077952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9480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Global economy</a:t>
            </a:r>
            <a:endParaRPr lang="en-US" dirty="0"/>
          </a:p>
        </p:txBody>
      </p:sp>
      <p:sp>
        <p:nvSpPr>
          <p:cNvPr id="3" name="Subtitle 2"/>
          <p:cNvSpPr>
            <a:spLocks noGrp="1"/>
          </p:cNvSpPr>
          <p:nvPr>
            <p:ph type="subTitle" idx="1"/>
          </p:nvPr>
        </p:nvSpPr>
        <p:spPr/>
        <p:txBody>
          <a:bodyPr/>
          <a:lstStyle/>
          <a:p>
            <a:r>
              <a:rPr lang="en-US" dirty="0" smtClean="0"/>
              <a:t>The Contemporary world</a:t>
            </a:r>
            <a:endParaRPr lang="en-US" dirty="0"/>
          </a:p>
        </p:txBody>
      </p:sp>
    </p:spTree>
    <p:extLst>
      <p:ext uri="{BB962C8B-B14F-4D97-AF65-F5344CB8AC3E}">
        <p14:creationId xmlns:p14="http://schemas.microsoft.com/office/powerpoint/2010/main" val="1222907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992459"/>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smtClean="0">
                <a:solidFill>
                  <a:schemeClr val="accent1">
                    <a:lumMod val="50000"/>
                  </a:schemeClr>
                </a:solidFill>
              </a:rPr>
              <a:t>Economy</a:t>
            </a:r>
            <a:r>
              <a:rPr lang="en-US" sz="4000" dirty="0" smtClean="0"/>
              <a:t> is a process or system by which goods and services are produced, sold, and bought in a country or region.</a:t>
            </a:r>
          </a:p>
          <a:p>
            <a:pPr marL="0" indent="0" algn="just">
              <a:buNone/>
            </a:pPr>
            <a:endParaRPr lang="en-US" sz="4000" dirty="0"/>
          </a:p>
          <a:p>
            <a:pPr marL="0" indent="0" algn="just">
              <a:buNone/>
            </a:pPr>
            <a:r>
              <a:rPr lang="en-US" sz="4000" dirty="0" smtClean="0">
                <a:solidFill>
                  <a:schemeClr val="accent1">
                    <a:lumMod val="50000"/>
                  </a:schemeClr>
                </a:solidFill>
              </a:rPr>
              <a:t>Global economy </a:t>
            </a:r>
            <a:r>
              <a:rPr lang="en-US" sz="4000" dirty="0" smtClean="0"/>
              <a:t>are economies of countries are more connected from extraction, production, distribution, consumption and disposal of goods and services.</a:t>
            </a:r>
          </a:p>
        </p:txBody>
      </p:sp>
    </p:spTree>
    <p:extLst>
      <p:ext uri="{BB962C8B-B14F-4D97-AF65-F5344CB8AC3E}">
        <p14:creationId xmlns:p14="http://schemas.microsoft.com/office/powerpoint/2010/main" val="27079728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992459"/>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smtClean="0"/>
              <a:t>Most of the definitions of the globalization centers on </a:t>
            </a:r>
            <a:r>
              <a:rPr lang="en-US" sz="4000" dirty="0" smtClean="0">
                <a:solidFill>
                  <a:schemeClr val="accent1">
                    <a:lumMod val="50000"/>
                  </a:schemeClr>
                </a:solidFill>
              </a:rPr>
              <a:t>economic dimensions</a:t>
            </a:r>
            <a:r>
              <a:rPr lang="en-US" sz="4000" dirty="0" smtClean="0"/>
              <a:t>.</a:t>
            </a:r>
          </a:p>
          <a:p>
            <a:pPr marL="0" indent="0" algn="just">
              <a:buNone/>
            </a:pPr>
            <a:endParaRPr lang="en-US" sz="4000" dirty="0"/>
          </a:p>
          <a:p>
            <a:pPr marL="0" indent="0" algn="just">
              <a:buNone/>
            </a:pPr>
            <a:r>
              <a:rPr lang="en-US" sz="4000" dirty="0" smtClean="0">
                <a:solidFill>
                  <a:schemeClr val="accent1">
                    <a:lumMod val="50000"/>
                  </a:schemeClr>
                </a:solidFill>
              </a:rPr>
              <a:t>Economic globalization </a:t>
            </a:r>
            <a:r>
              <a:rPr lang="en-US" sz="4000" dirty="0" smtClean="0"/>
              <a:t>refers to the increasing interdependence of world economies as a result of the growing scale of cross-border trade of commodities and services, flow of international capital and wide and rapid spread of technologies.</a:t>
            </a:r>
          </a:p>
        </p:txBody>
      </p:sp>
    </p:spTree>
    <p:extLst>
      <p:ext uri="{BB962C8B-B14F-4D97-AF65-F5344CB8AC3E}">
        <p14:creationId xmlns:p14="http://schemas.microsoft.com/office/powerpoint/2010/main" val="35266705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744101"/>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smtClean="0"/>
              <a:t>There are 2 types of economies under economic globalization; </a:t>
            </a:r>
          </a:p>
          <a:p>
            <a:pPr marL="0" indent="0" algn="just">
              <a:buNone/>
            </a:pPr>
            <a:r>
              <a:rPr lang="en-US" sz="4000" dirty="0" smtClean="0">
                <a:solidFill>
                  <a:schemeClr val="accent1">
                    <a:lumMod val="50000"/>
                  </a:schemeClr>
                </a:solidFill>
              </a:rPr>
              <a:t>Protectionism</a:t>
            </a:r>
            <a:r>
              <a:rPr lang="en-US" sz="4000" dirty="0" smtClean="0"/>
              <a:t> is a policy of systematic government intervention in foreign trade with the objective of encouraging domestic production. This encouragement involves giving preferential treatment to domestic producers and discriminating against foreign competitors which comes in the form of tariffs and quota (trade barriers).</a:t>
            </a:r>
          </a:p>
        </p:txBody>
      </p:sp>
    </p:spTree>
    <p:extLst>
      <p:ext uri="{BB962C8B-B14F-4D97-AF65-F5344CB8AC3E}">
        <p14:creationId xmlns:p14="http://schemas.microsoft.com/office/powerpoint/2010/main" val="25134406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744101"/>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smtClean="0"/>
              <a:t>There are 2 types of economies under economic globalization; </a:t>
            </a:r>
          </a:p>
          <a:p>
            <a:pPr marL="0" indent="0" algn="just">
              <a:buNone/>
            </a:pPr>
            <a:r>
              <a:rPr lang="en-US" sz="4000" dirty="0" smtClean="0">
                <a:solidFill>
                  <a:schemeClr val="accent1">
                    <a:lumMod val="50000"/>
                  </a:schemeClr>
                </a:solidFill>
              </a:rPr>
              <a:t>Trade Liberalization </a:t>
            </a:r>
            <a:r>
              <a:rPr lang="en-US" sz="4000" dirty="0" smtClean="0"/>
              <a:t>is characterized by free trade, countries sign free trade agreements, transportation and communication advancements facilitate movement of goods and services around the world.</a:t>
            </a:r>
          </a:p>
        </p:txBody>
      </p:sp>
    </p:spTree>
    <p:extLst>
      <p:ext uri="{BB962C8B-B14F-4D97-AF65-F5344CB8AC3E}">
        <p14:creationId xmlns:p14="http://schemas.microsoft.com/office/powerpoint/2010/main" val="28526756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Market integration</a:t>
            </a:r>
            <a:endParaRPr lang="en-US" dirty="0"/>
          </a:p>
        </p:txBody>
      </p:sp>
      <p:sp>
        <p:nvSpPr>
          <p:cNvPr id="3" name="Subtitle 2"/>
          <p:cNvSpPr>
            <a:spLocks noGrp="1"/>
          </p:cNvSpPr>
          <p:nvPr>
            <p:ph type="subTitle" idx="1"/>
          </p:nvPr>
        </p:nvSpPr>
        <p:spPr/>
        <p:txBody>
          <a:bodyPr/>
          <a:lstStyle/>
          <a:p>
            <a:r>
              <a:rPr lang="en-US" dirty="0" smtClean="0"/>
              <a:t>The Contemporary world</a:t>
            </a:r>
            <a:endParaRPr lang="en-US" dirty="0"/>
          </a:p>
        </p:txBody>
      </p:sp>
    </p:spTree>
    <p:extLst>
      <p:ext uri="{BB962C8B-B14F-4D97-AF65-F5344CB8AC3E}">
        <p14:creationId xmlns:p14="http://schemas.microsoft.com/office/powerpoint/2010/main" val="35401569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992459"/>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smtClean="0"/>
              <a:t>Market Integration refers to the process of creating a </a:t>
            </a:r>
            <a:r>
              <a:rPr lang="en-US" sz="4000" dirty="0" smtClean="0">
                <a:solidFill>
                  <a:schemeClr val="accent1">
                    <a:lumMod val="50000"/>
                  </a:schemeClr>
                </a:solidFill>
              </a:rPr>
              <a:t>unified</a:t>
            </a:r>
            <a:r>
              <a:rPr lang="en-US" sz="4000" dirty="0" smtClean="0"/>
              <a:t> </a:t>
            </a:r>
            <a:r>
              <a:rPr lang="en-US" sz="4000" dirty="0" smtClean="0">
                <a:solidFill>
                  <a:schemeClr val="accent1">
                    <a:lumMod val="50000"/>
                  </a:schemeClr>
                </a:solidFill>
              </a:rPr>
              <a:t>marketplace</a:t>
            </a:r>
            <a:r>
              <a:rPr lang="en-US" sz="4000" dirty="0" smtClean="0"/>
              <a:t> where goods, services, and capital can flow freely between countries or regions.</a:t>
            </a:r>
          </a:p>
        </p:txBody>
      </p:sp>
    </p:spTree>
    <p:extLst>
      <p:ext uri="{BB962C8B-B14F-4D97-AF65-F5344CB8AC3E}">
        <p14:creationId xmlns:p14="http://schemas.microsoft.com/office/powerpoint/2010/main" val="231503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992459"/>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smtClean="0"/>
              <a:t>Market integration is a central aspect of economic globalization which refers to the increasing </a:t>
            </a:r>
            <a:r>
              <a:rPr lang="en-US" sz="4000" dirty="0" smtClean="0">
                <a:solidFill>
                  <a:schemeClr val="accent1">
                    <a:lumMod val="50000"/>
                  </a:schemeClr>
                </a:solidFill>
              </a:rPr>
              <a:t>interconnectedness</a:t>
            </a:r>
            <a:r>
              <a:rPr lang="en-US" sz="4000" dirty="0" smtClean="0"/>
              <a:t> of </a:t>
            </a:r>
            <a:r>
              <a:rPr lang="en-US" sz="4000" dirty="0" smtClean="0">
                <a:solidFill>
                  <a:schemeClr val="accent1">
                    <a:lumMod val="50000"/>
                  </a:schemeClr>
                </a:solidFill>
              </a:rPr>
              <a:t>economies</a:t>
            </a:r>
            <a:r>
              <a:rPr lang="en-US" sz="4000" dirty="0" smtClean="0"/>
              <a:t> and </a:t>
            </a:r>
            <a:r>
              <a:rPr lang="en-US" sz="4000" dirty="0" smtClean="0">
                <a:solidFill>
                  <a:schemeClr val="accent1">
                    <a:lumMod val="50000"/>
                  </a:schemeClr>
                </a:solidFill>
              </a:rPr>
              <a:t>societies</a:t>
            </a:r>
            <a:r>
              <a:rPr lang="en-US" sz="4000" dirty="0" smtClean="0"/>
              <a:t> around the world.</a:t>
            </a:r>
          </a:p>
        </p:txBody>
      </p:sp>
    </p:spTree>
    <p:extLst>
      <p:ext uri="{BB962C8B-B14F-4D97-AF65-F5344CB8AC3E}">
        <p14:creationId xmlns:p14="http://schemas.microsoft.com/office/powerpoint/2010/main" val="26955784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992459"/>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smtClean="0"/>
              <a:t>Market integration can take many </a:t>
            </a:r>
            <a:r>
              <a:rPr lang="en-US" sz="4000" dirty="0" smtClean="0">
                <a:solidFill>
                  <a:schemeClr val="accent1">
                    <a:lumMod val="50000"/>
                  </a:schemeClr>
                </a:solidFill>
              </a:rPr>
              <a:t>forms</a:t>
            </a:r>
            <a:r>
              <a:rPr lang="en-US" sz="4000" dirty="0" smtClean="0"/>
              <a:t> including the </a:t>
            </a:r>
            <a:r>
              <a:rPr lang="en-US" sz="4000" dirty="0" smtClean="0">
                <a:solidFill>
                  <a:schemeClr val="accent1">
                    <a:lumMod val="50000"/>
                  </a:schemeClr>
                </a:solidFill>
              </a:rPr>
              <a:t>reduction </a:t>
            </a:r>
            <a:r>
              <a:rPr lang="en-US" sz="4000" dirty="0" smtClean="0"/>
              <a:t>of trade barriers such as </a:t>
            </a:r>
            <a:r>
              <a:rPr lang="en-US" sz="4000" dirty="0" smtClean="0">
                <a:solidFill>
                  <a:schemeClr val="accent1">
                    <a:lumMod val="50000"/>
                  </a:schemeClr>
                </a:solidFill>
              </a:rPr>
              <a:t>tariffs</a:t>
            </a:r>
            <a:r>
              <a:rPr lang="en-US" sz="4000" dirty="0" smtClean="0"/>
              <a:t>, the </a:t>
            </a:r>
            <a:r>
              <a:rPr lang="en-US" sz="4000" dirty="0" smtClean="0">
                <a:solidFill>
                  <a:schemeClr val="accent1">
                    <a:lumMod val="50000"/>
                  </a:schemeClr>
                </a:solidFill>
              </a:rPr>
              <a:t>adoption</a:t>
            </a:r>
            <a:r>
              <a:rPr lang="en-US" sz="4000" dirty="0" smtClean="0"/>
              <a:t> of a </a:t>
            </a:r>
            <a:r>
              <a:rPr lang="en-US" sz="4000" dirty="0" smtClean="0">
                <a:solidFill>
                  <a:schemeClr val="accent1">
                    <a:lumMod val="50000"/>
                  </a:schemeClr>
                </a:solidFill>
              </a:rPr>
              <a:t>common currency</a:t>
            </a:r>
            <a:r>
              <a:rPr lang="en-US" sz="4000" dirty="0" smtClean="0"/>
              <a:t>, the </a:t>
            </a:r>
            <a:r>
              <a:rPr lang="en-US" sz="4000" dirty="0" smtClean="0">
                <a:solidFill>
                  <a:schemeClr val="accent1">
                    <a:lumMod val="50000"/>
                  </a:schemeClr>
                </a:solidFill>
              </a:rPr>
              <a:t>harmonization</a:t>
            </a:r>
            <a:r>
              <a:rPr lang="en-US" sz="4000" dirty="0" smtClean="0"/>
              <a:t> of regulatory standards, and the </a:t>
            </a:r>
            <a:r>
              <a:rPr lang="en-US" sz="4000" dirty="0" smtClean="0">
                <a:solidFill>
                  <a:schemeClr val="accent1">
                    <a:lumMod val="50000"/>
                  </a:schemeClr>
                </a:solidFill>
              </a:rPr>
              <a:t>development of infrastructure </a:t>
            </a:r>
            <a:r>
              <a:rPr lang="en-US" sz="4000" dirty="0" smtClean="0"/>
              <a:t>to facilitate transportation and communication.</a:t>
            </a:r>
          </a:p>
        </p:txBody>
      </p:sp>
    </p:spTree>
    <p:extLst>
      <p:ext uri="{BB962C8B-B14F-4D97-AF65-F5344CB8AC3E}">
        <p14:creationId xmlns:p14="http://schemas.microsoft.com/office/powerpoint/2010/main" val="36829698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992459"/>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smtClean="0"/>
              <a:t>When these measures are implanted, they can help to </a:t>
            </a:r>
            <a:r>
              <a:rPr lang="en-US" sz="4000" dirty="0" smtClean="0">
                <a:solidFill>
                  <a:schemeClr val="accent1">
                    <a:lumMod val="50000"/>
                  </a:schemeClr>
                </a:solidFill>
              </a:rPr>
              <a:t>increase the efficiency </a:t>
            </a:r>
            <a:r>
              <a:rPr lang="en-US" sz="4000" dirty="0" smtClean="0"/>
              <a:t>of the </a:t>
            </a:r>
            <a:r>
              <a:rPr lang="en-US" sz="4000" dirty="0" smtClean="0">
                <a:solidFill>
                  <a:schemeClr val="accent1">
                    <a:lumMod val="50000"/>
                  </a:schemeClr>
                </a:solidFill>
              </a:rPr>
              <a:t>market</a:t>
            </a:r>
            <a:r>
              <a:rPr lang="en-US" sz="4000" dirty="0" smtClean="0"/>
              <a:t> by allowing for greater specialization, </a:t>
            </a:r>
            <a:r>
              <a:rPr lang="en-US" sz="4000" dirty="0" smtClean="0">
                <a:solidFill>
                  <a:schemeClr val="accent1">
                    <a:lumMod val="50000"/>
                  </a:schemeClr>
                </a:solidFill>
              </a:rPr>
              <a:t>economies</a:t>
            </a:r>
            <a:r>
              <a:rPr lang="en-US" sz="4000" dirty="0" smtClean="0"/>
              <a:t> of scale, and increased competition. </a:t>
            </a:r>
          </a:p>
        </p:txBody>
      </p:sp>
    </p:spTree>
    <p:extLst>
      <p:ext uri="{BB962C8B-B14F-4D97-AF65-F5344CB8AC3E}">
        <p14:creationId xmlns:p14="http://schemas.microsoft.com/office/powerpoint/2010/main" val="14267537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992459"/>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a:t>One of the benefits of </a:t>
            </a:r>
            <a:r>
              <a:rPr lang="en-US" sz="4000" dirty="0">
                <a:solidFill>
                  <a:schemeClr val="accent1">
                    <a:lumMod val="50000"/>
                  </a:schemeClr>
                </a:solidFill>
              </a:rPr>
              <a:t>market integration </a:t>
            </a:r>
            <a:r>
              <a:rPr lang="en-US" sz="4000" dirty="0"/>
              <a:t>is that it allows firms to access a larger pool of </a:t>
            </a:r>
            <a:r>
              <a:rPr lang="en-US" sz="4000" dirty="0">
                <a:solidFill>
                  <a:schemeClr val="accent1">
                    <a:lumMod val="50000"/>
                  </a:schemeClr>
                </a:solidFill>
              </a:rPr>
              <a:t>customers</a:t>
            </a:r>
            <a:r>
              <a:rPr lang="en-US" sz="4000" dirty="0"/>
              <a:t> and </a:t>
            </a:r>
            <a:r>
              <a:rPr lang="en-US" sz="4000" dirty="0" smtClean="0"/>
              <a:t>suppliers, which can increase their profits and lead to higher </a:t>
            </a:r>
            <a:r>
              <a:rPr lang="en-US" sz="4000" dirty="0" smtClean="0">
                <a:solidFill>
                  <a:schemeClr val="accent1">
                    <a:lumMod val="50000"/>
                  </a:schemeClr>
                </a:solidFill>
              </a:rPr>
              <a:t>levels</a:t>
            </a:r>
            <a:r>
              <a:rPr lang="en-US" sz="4000" dirty="0" smtClean="0"/>
              <a:t> of economic </a:t>
            </a:r>
            <a:r>
              <a:rPr lang="en-US" sz="4000" dirty="0" smtClean="0">
                <a:solidFill>
                  <a:schemeClr val="accent1">
                    <a:lumMod val="50000"/>
                  </a:schemeClr>
                </a:solidFill>
              </a:rPr>
              <a:t>growth</a:t>
            </a:r>
            <a:r>
              <a:rPr lang="en-US" sz="4000" dirty="0" smtClean="0"/>
              <a:t>.</a:t>
            </a:r>
            <a:endParaRPr lang="en-US" sz="4000" dirty="0"/>
          </a:p>
        </p:txBody>
      </p:sp>
    </p:spTree>
    <p:extLst>
      <p:ext uri="{BB962C8B-B14F-4D97-AF65-F5344CB8AC3E}">
        <p14:creationId xmlns:p14="http://schemas.microsoft.com/office/powerpoint/2010/main" val="8275520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992459"/>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smtClean="0"/>
              <a:t>Market integration can create winners and </a:t>
            </a:r>
            <a:r>
              <a:rPr lang="en-US" sz="4000" dirty="0" smtClean="0">
                <a:solidFill>
                  <a:schemeClr val="accent1">
                    <a:lumMod val="50000"/>
                  </a:schemeClr>
                </a:solidFill>
              </a:rPr>
              <a:t>losers</a:t>
            </a:r>
            <a:r>
              <a:rPr lang="en-US" sz="4000" dirty="0" smtClean="0"/>
              <a:t>, with some </a:t>
            </a:r>
            <a:r>
              <a:rPr lang="en-US" sz="4000" dirty="0" smtClean="0">
                <a:solidFill>
                  <a:schemeClr val="accent1">
                    <a:lumMod val="50000"/>
                  </a:schemeClr>
                </a:solidFill>
              </a:rPr>
              <a:t>industries</a:t>
            </a:r>
            <a:r>
              <a:rPr lang="en-US" sz="4000" dirty="0" smtClean="0"/>
              <a:t> and </a:t>
            </a:r>
            <a:r>
              <a:rPr lang="en-US" sz="4000" dirty="0" smtClean="0">
                <a:solidFill>
                  <a:schemeClr val="accent1">
                    <a:lumMod val="50000"/>
                  </a:schemeClr>
                </a:solidFill>
              </a:rPr>
              <a:t>regions</a:t>
            </a:r>
            <a:r>
              <a:rPr lang="en-US" sz="4000" dirty="0" smtClean="0"/>
              <a:t> benefiting more than others. For example firms and </a:t>
            </a:r>
            <a:r>
              <a:rPr lang="en-US" sz="4000" dirty="0" smtClean="0">
                <a:solidFill>
                  <a:schemeClr val="accent1">
                    <a:lumMod val="50000"/>
                  </a:schemeClr>
                </a:solidFill>
              </a:rPr>
              <a:t>industries</a:t>
            </a:r>
            <a:r>
              <a:rPr lang="en-US" sz="4000" dirty="0" smtClean="0"/>
              <a:t> that can compete internationally may thrive in a more integrated </a:t>
            </a:r>
            <a:r>
              <a:rPr lang="en-US" sz="4000" dirty="0" smtClean="0">
                <a:solidFill>
                  <a:schemeClr val="accent1">
                    <a:lumMod val="50000"/>
                  </a:schemeClr>
                </a:solidFill>
              </a:rPr>
              <a:t>market</a:t>
            </a:r>
            <a:r>
              <a:rPr lang="en-US" sz="4000" dirty="0" smtClean="0"/>
              <a:t>.</a:t>
            </a:r>
            <a:endParaRPr lang="en-US" sz="4000" dirty="0"/>
          </a:p>
        </p:txBody>
      </p:sp>
    </p:spTree>
    <p:extLst>
      <p:ext uri="{BB962C8B-B14F-4D97-AF65-F5344CB8AC3E}">
        <p14:creationId xmlns:p14="http://schemas.microsoft.com/office/powerpoint/2010/main" val="32584752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992459"/>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smtClean="0"/>
              <a:t>Market integration can create winners and </a:t>
            </a:r>
            <a:r>
              <a:rPr lang="en-US" sz="4000" dirty="0" smtClean="0">
                <a:solidFill>
                  <a:schemeClr val="accent1">
                    <a:lumMod val="50000"/>
                  </a:schemeClr>
                </a:solidFill>
              </a:rPr>
              <a:t>losers</a:t>
            </a:r>
            <a:r>
              <a:rPr lang="en-US" sz="4000" dirty="0" smtClean="0"/>
              <a:t>, with some </a:t>
            </a:r>
            <a:r>
              <a:rPr lang="en-US" sz="4000" dirty="0" smtClean="0">
                <a:solidFill>
                  <a:schemeClr val="accent1">
                    <a:lumMod val="50000"/>
                  </a:schemeClr>
                </a:solidFill>
              </a:rPr>
              <a:t>industries</a:t>
            </a:r>
            <a:r>
              <a:rPr lang="en-US" sz="4000" dirty="0" smtClean="0"/>
              <a:t> and </a:t>
            </a:r>
            <a:r>
              <a:rPr lang="en-US" sz="4000" dirty="0" smtClean="0">
                <a:solidFill>
                  <a:schemeClr val="accent1">
                    <a:lumMod val="50000"/>
                  </a:schemeClr>
                </a:solidFill>
              </a:rPr>
              <a:t>regions</a:t>
            </a:r>
            <a:r>
              <a:rPr lang="en-US" sz="4000" dirty="0" smtClean="0"/>
              <a:t> benefiting more than others. For example firms and </a:t>
            </a:r>
            <a:r>
              <a:rPr lang="en-US" sz="4000" dirty="0" smtClean="0">
                <a:solidFill>
                  <a:schemeClr val="accent1">
                    <a:lumMod val="50000"/>
                  </a:schemeClr>
                </a:solidFill>
              </a:rPr>
              <a:t>industries</a:t>
            </a:r>
            <a:r>
              <a:rPr lang="en-US" sz="4000" dirty="0" smtClean="0"/>
              <a:t> that can compete internationally may thrive in a more integrated </a:t>
            </a:r>
            <a:r>
              <a:rPr lang="en-US" sz="4000" dirty="0" smtClean="0">
                <a:solidFill>
                  <a:schemeClr val="accent1">
                    <a:lumMod val="50000"/>
                  </a:schemeClr>
                </a:solidFill>
              </a:rPr>
              <a:t>market</a:t>
            </a:r>
            <a:r>
              <a:rPr lang="en-US" sz="4000" dirty="0" smtClean="0"/>
              <a:t>, while firms and industries that are not globally competitive may suffer. </a:t>
            </a:r>
            <a:endParaRPr lang="en-US" sz="4000" dirty="0"/>
          </a:p>
        </p:txBody>
      </p:sp>
    </p:spTree>
    <p:extLst>
      <p:ext uri="{BB962C8B-B14F-4D97-AF65-F5344CB8AC3E}">
        <p14:creationId xmlns:p14="http://schemas.microsoft.com/office/powerpoint/2010/main" val="35593355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992459"/>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smtClean="0"/>
              <a:t>Overall, market integration is an important aspect of economic globalization, as it can help increase economic </a:t>
            </a:r>
            <a:r>
              <a:rPr lang="en-US" sz="4000" dirty="0" smtClean="0">
                <a:solidFill>
                  <a:schemeClr val="accent1">
                    <a:lumMod val="50000"/>
                  </a:schemeClr>
                </a:solidFill>
              </a:rPr>
              <a:t>efficiency </a:t>
            </a:r>
            <a:r>
              <a:rPr lang="en-US" sz="4000" dirty="0" smtClean="0"/>
              <a:t>and promote </a:t>
            </a:r>
            <a:r>
              <a:rPr lang="en-US" sz="4000" dirty="0" smtClean="0">
                <a:solidFill>
                  <a:schemeClr val="accent1">
                    <a:lumMod val="50000"/>
                  </a:schemeClr>
                </a:solidFill>
              </a:rPr>
              <a:t>growth</a:t>
            </a:r>
            <a:r>
              <a:rPr lang="en-US" sz="4000" dirty="0" smtClean="0"/>
              <a:t>. However, it is important to ensure that the </a:t>
            </a:r>
            <a:r>
              <a:rPr lang="en-US" sz="4000" dirty="0" smtClean="0">
                <a:solidFill>
                  <a:schemeClr val="accent1">
                    <a:lumMod val="50000"/>
                  </a:schemeClr>
                </a:solidFill>
              </a:rPr>
              <a:t>benefits</a:t>
            </a:r>
            <a:r>
              <a:rPr lang="en-US" sz="4000" dirty="0" smtClean="0"/>
              <a:t> of </a:t>
            </a:r>
            <a:r>
              <a:rPr lang="en-US" sz="4000" dirty="0" smtClean="0">
                <a:solidFill>
                  <a:schemeClr val="accent1">
                    <a:lumMod val="50000"/>
                  </a:schemeClr>
                </a:solidFill>
              </a:rPr>
              <a:t>integration</a:t>
            </a:r>
            <a:r>
              <a:rPr lang="en-US" sz="4000" dirty="0" smtClean="0"/>
              <a:t> are shared fairly.</a:t>
            </a:r>
            <a:endParaRPr lang="en-US" sz="4000" dirty="0">
              <a:solidFill>
                <a:schemeClr val="accent1">
                  <a:lumMod val="50000"/>
                </a:schemeClr>
              </a:solidFill>
            </a:endParaRPr>
          </a:p>
        </p:txBody>
      </p:sp>
    </p:spTree>
    <p:extLst>
      <p:ext uri="{BB962C8B-B14F-4D97-AF65-F5344CB8AC3E}">
        <p14:creationId xmlns:p14="http://schemas.microsoft.com/office/powerpoint/2010/main" val="14924942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24128" y="501807"/>
            <a:ext cx="9720073" cy="531690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buNone/>
            </a:pPr>
            <a:r>
              <a:rPr lang="en-US" sz="4000" dirty="0" smtClean="0"/>
              <a:t>Answer the following questions in not more than 3 sentences.</a:t>
            </a:r>
          </a:p>
          <a:p>
            <a:pPr marL="0" indent="0" algn="just">
              <a:buNone/>
            </a:pPr>
            <a:r>
              <a:rPr lang="en-US" sz="4000" dirty="0" smtClean="0"/>
              <a:t>1. Why is global economy important?</a:t>
            </a:r>
          </a:p>
          <a:p>
            <a:pPr marL="0" indent="0" algn="just">
              <a:buNone/>
            </a:pPr>
            <a:r>
              <a:rPr lang="en-US" sz="4000" dirty="0" smtClean="0"/>
              <a:t>____________________________________________________________________.</a:t>
            </a:r>
          </a:p>
          <a:p>
            <a:pPr marL="0" indent="0" algn="just">
              <a:buNone/>
            </a:pPr>
            <a:r>
              <a:rPr lang="en-US" sz="4000" dirty="0" smtClean="0"/>
              <a:t>2. How does market integration affect the lives of an ordinary man?</a:t>
            </a:r>
          </a:p>
          <a:p>
            <a:pPr marL="0" indent="0" algn="just">
              <a:buNone/>
            </a:pPr>
            <a:r>
              <a:rPr lang="en-US" sz="4000" dirty="0" smtClean="0"/>
              <a:t>_____________________________________________________________________.</a:t>
            </a:r>
          </a:p>
        </p:txBody>
      </p:sp>
    </p:spTree>
    <p:extLst>
      <p:ext uri="{BB962C8B-B14F-4D97-AF65-F5344CB8AC3E}">
        <p14:creationId xmlns:p14="http://schemas.microsoft.com/office/powerpoint/2010/main" val="267581543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1018</TotalTime>
  <Words>567</Words>
  <Application>Microsoft Office PowerPoint</Application>
  <PresentationFormat>Widescreen</PresentationFormat>
  <Paragraphs>43</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Tw Cen MT</vt:lpstr>
      <vt:lpstr>Tw Cen MT Condensed</vt:lpstr>
      <vt:lpstr>Wingdings 3</vt:lpstr>
      <vt:lpstr>Integral</vt:lpstr>
      <vt:lpstr>Global economy</vt:lpstr>
      <vt:lpstr>PowerPoint Presentation</vt:lpstr>
      <vt:lpstr>PowerPoint Presentation</vt:lpstr>
      <vt:lpstr>PowerPoint Presentation</vt:lpstr>
      <vt:lpstr>PowerPoint Presentation</vt:lpstr>
      <vt:lpstr>Market integration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integration</dc:title>
  <dc:creator>HP</dc:creator>
  <cp:lastModifiedBy>HP</cp:lastModifiedBy>
  <cp:revision>19</cp:revision>
  <dcterms:created xsi:type="dcterms:W3CDTF">2024-09-09T02:03:16Z</dcterms:created>
  <dcterms:modified xsi:type="dcterms:W3CDTF">2024-09-11T03:04:16Z</dcterms:modified>
</cp:coreProperties>
</file>