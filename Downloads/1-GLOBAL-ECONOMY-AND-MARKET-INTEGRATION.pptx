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86" d="100"/>
          <a:sy n="86" d="100"/>
        </p:scale>
        <p:origin x="73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5C08EC-238A-4133-BFD8-92F4173A869C}" type="datetimeFigureOut">
              <a:rPr lang="en-US" smtClean="0"/>
              <a:t>9/3/2024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4C101E-E5E4-4F97-B3F8-4889139BD91A}" type="slidenum">
              <a:rPr lang="en-US" smtClean="0"/>
              <a:t>‹#›</a:t>
            </a:fld>
            <a:endParaRPr lang="en-US"/>
          </a:p>
        </p:txBody>
      </p:sp>
    </p:spTree>
    <p:extLst>
      <p:ext uri="{BB962C8B-B14F-4D97-AF65-F5344CB8AC3E}">
        <p14:creationId xmlns:p14="http://schemas.microsoft.com/office/powerpoint/2010/main" val="303313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1870-1924 Also known as the</a:t>
            </a:r>
            <a:r>
              <a:rPr lang="en-US" baseline="0" dirty="0" smtClean="0"/>
              <a:t> First globalization or the laissez-faire period, the peak of 19</a:t>
            </a:r>
            <a:r>
              <a:rPr lang="en-US" baseline="30000" dirty="0" smtClean="0"/>
              <a:t>th</a:t>
            </a:r>
            <a:r>
              <a:rPr lang="en-US" baseline="0" dirty="0" smtClean="0"/>
              <a:t> century globalization which ends with the collapse of international trade when WW1 started (1914-1918)</a:t>
            </a:r>
          </a:p>
          <a:p>
            <a:r>
              <a:rPr lang="en-US" baseline="0" dirty="0" smtClean="0"/>
              <a:t>First globalization (1870-1914) is a phrase used by economist to describe the worlds first major period of globalization of trade and finance. </a:t>
            </a:r>
          </a:p>
          <a:p>
            <a:r>
              <a:rPr lang="en-US" baseline="0" dirty="0" smtClean="0"/>
              <a:t>Second globalization (1944-1971) Third globalization (1989 – present)</a:t>
            </a:r>
          </a:p>
          <a:p>
            <a:r>
              <a:rPr lang="en-US" baseline="0" dirty="0" smtClean="0"/>
              <a:t>Human innovations: </a:t>
            </a:r>
          </a:p>
          <a:p>
            <a:r>
              <a:rPr lang="en-US" baseline="0" dirty="0" smtClean="0"/>
              <a:t>Scientific revolution (emergence of modern science) – microscope, barometer, telescope</a:t>
            </a:r>
          </a:p>
          <a:p>
            <a:r>
              <a:rPr lang="en-US" baseline="0" dirty="0" smtClean="0"/>
              <a:t>Industrial revolution (widespread, efficient and stable manufacturing processes) – steam engine (steamboats, steamships, machine in factories), electric generators and electric motors, incandescent lamp (light bulb), telegraph and telephone, internal-combustion engine and automotive. </a:t>
            </a:r>
          </a:p>
          <a:p>
            <a:r>
              <a:rPr lang="en-US" baseline="0" dirty="0" smtClean="0"/>
              <a:t>Technological progress – railways, telegraph, steamboats  </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2</a:t>
            </a:fld>
            <a:endParaRPr lang="en-US"/>
          </a:p>
        </p:txBody>
      </p:sp>
    </p:spTree>
    <p:extLst>
      <p:ext uri="{BB962C8B-B14F-4D97-AF65-F5344CB8AC3E}">
        <p14:creationId xmlns:p14="http://schemas.microsoft.com/office/powerpoint/2010/main" val="13521267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High Frequency Trading – is a trading method that uses powerful computer</a:t>
            </a:r>
            <a:r>
              <a:rPr lang="en-US" baseline="0" dirty="0" smtClean="0"/>
              <a:t> programs to transact a large number of orders in fraction of seconds. (Cryptocurrency Market)</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3</a:t>
            </a:fld>
            <a:endParaRPr lang="en-US"/>
          </a:p>
        </p:txBody>
      </p:sp>
    </p:spTree>
    <p:extLst>
      <p:ext uri="{BB962C8B-B14F-4D97-AF65-F5344CB8AC3E}">
        <p14:creationId xmlns:p14="http://schemas.microsoft.com/office/powerpoint/2010/main" val="267612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Global economic</a:t>
            </a:r>
            <a:r>
              <a:rPr lang="en-US" baseline="0" dirty="0" smtClean="0"/>
              <a:t> integration is an arrangement between different countries/regions that often includes the reduction or elimination of trade barriers, and the coordination of monetary and fiscal policies.</a:t>
            </a:r>
            <a:endParaRPr lang="en-US" dirty="0" smtClean="0"/>
          </a:p>
          <a:p>
            <a:r>
              <a:rPr lang="en-US" dirty="0" smtClean="0"/>
              <a:t>Economic integration can increase trade, benefiting both producers</a:t>
            </a:r>
            <a:r>
              <a:rPr lang="en-US" baseline="0" dirty="0" smtClean="0"/>
              <a:t> and consumers, and involved countries. For instance, with the elimination of trade barriers, a firm may be able to produce and sell more products, earning more revenue, and increasing their home country’s GDP. – the most common measure for the size of an economy, and it measures the value of the total final output of goods and services produced in a certain period of time.</a:t>
            </a:r>
          </a:p>
          <a:p>
            <a:r>
              <a:rPr lang="en-US" baseline="0" dirty="0" smtClean="0"/>
              <a:t>Why Trade barriers? (Quotas, Subsidies, Dumping practices, Embargoes, Voluntary export restraints, Trade agreements, Labeling/marking requirements, Customs Regulations, Tariffs, Licenses etc.) – the government imposes trade barriers so that their domestic trade can flourish without any foreign impact</a:t>
            </a:r>
          </a:p>
          <a:p>
            <a:r>
              <a:rPr lang="en-US" baseline="0" dirty="0" smtClean="0"/>
              <a:t>.</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4</a:t>
            </a:fld>
            <a:endParaRPr lang="en-US"/>
          </a:p>
        </p:txBody>
      </p:sp>
    </p:spTree>
    <p:extLst>
      <p:ext uri="{BB962C8B-B14F-4D97-AF65-F5344CB8AC3E}">
        <p14:creationId xmlns:p14="http://schemas.microsoft.com/office/powerpoint/2010/main" val="19750539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*subjugated-bring under domination or control.</a:t>
            </a:r>
          </a:p>
          <a:p>
            <a:r>
              <a:rPr lang="en-US" dirty="0" smtClean="0"/>
              <a:t>Big countries</a:t>
            </a:r>
            <a:r>
              <a:rPr lang="en-US" baseline="0" dirty="0" smtClean="0"/>
              <a:t> get raw materials for less money. They can pay lower wages to workers. </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5</a:t>
            </a:fld>
            <a:endParaRPr lang="en-US"/>
          </a:p>
        </p:txBody>
      </p:sp>
    </p:spTree>
    <p:extLst>
      <p:ext uri="{BB962C8B-B14F-4D97-AF65-F5344CB8AC3E}">
        <p14:creationId xmlns:p14="http://schemas.microsoft.com/office/powerpoint/2010/main" val="2812084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Balance</a:t>
            </a:r>
            <a:r>
              <a:rPr lang="en-US" baseline="0" dirty="0" smtClean="0"/>
              <a:t> of trade is the difference between the monetary value of a nation’s exports and imports over a certain time period. Trade balance’s effects upon a nations GDP is that a trade surplus is a positive net balance and a trade deficit is a negative net balance of trade. A trade surplus can create employment and economic growth, but may also lead to higher prices and interest rates within an economy, as well as a more expensive currency. Surplus funds can be use to pay off debt or fund new investment. </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6</a:t>
            </a:fld>
            <a:endParaRPr lang="en-US"/>
          </a:p>
        </p:txBody>
      </p:sp>
    </p:spTree>
    <p:extLst>
      <p:ext uri="{BB962C8B-B14F-4D97-AF65-F5344CB8AC3E}">
        <p14:creationId xmlns:p14="http://schemas.microsoft.com/office/powerpoint/2010/main" val="1430776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non-state actor is an individual or organization that has significant political influence but is</a:t>
            </a:r>
            <a:r>
              <a:rPr lang="en-US" baseline="0" dirty="0" smtClean="0"/>
              <a:t> not allied to any particular country or state. </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7</a:t>
            </a:fld>
            <a:endParaRPr lang="en-US"/>
          </a:p>
        </p:txBody>
      </p:sp>
    </p:spTree>
    <p:extLst>
      <p:ext uri="{BB962C8B-B14F-4D97-AF65-F5344CB8AC3E}">
        <p14:creationId xmlns:p14="http://schemas.microsoft.com/office/powerpoint/2010/main" val="256710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IMF</a:t>
            </a:r>
            <a:r>
              <a:rPr lang="en-US" baseline="0" dirty="0" smtClean="0"/>
              <a:t> helps in p</a:t>
            </a:r>
            <a:r>
              <a:rPr lang="en-US" dirty="0" smtClean="0"/>
              <a:t>romoting economic cooperation</a:t>
            </a:r>
            <a:r>
              <a:rPr lang="en-US" baseline="0" dirty="0" smtClean="0"/>
              <a:t> and development among member states, to pr</a:t>
            </a:r>
            <a:r>
              <a:rPr lang="en-US" dirty="0" smtClean="0"/>
              <a:t>otect and promote the economic and business interest of members, and to stimulate the socio economic and cultural development among members.</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8</a:t>
            </a:fld>
            <a:endParaRPr lang="en-US"/>
          </a:p>
        </p:txBody>
      </p:sp>
    </p:spTree>
    <p:extLst>
      <p:ext uri="{BB962C8B-B14F-4D97-AF65-F5344CB8AC3E}">
        <p14:creationId xmlns:p14="http://schemas.microsoft.com/office/powerpoint/2010/main" val="3615937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RO’s</a:t>
            </a:r>
            <a:r>
              <a:rPr lang="en-US" baseline="0" dirty="0" smtClean="0"/>
              <a:t> are, in a sense, international organizations (IO’s), as they incorporate international membership and encompasses geopolitical entities that operationally transcend a single nation. They help enabling nations to collaborate and address economic challenges.</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9</a:t>
            </a:fld>
            <a:endParaRPr lang="en-US"/>
          </a:p>
        </p:txBody>
      </p:sp>
    </p:spTree>
    <p:extLst>
      <p:ext uri="{BB962C8B-B14F-4D97-AF65-F5344CB8AC3E}">
        <p14:creationId xmlns:p14="http://schemas.microsoft.com/office/powerpoint/2010/main" val="2617034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MN</a:t>
            </a:r>
            <a:r>
              <a:rPr lang="en-US" baseline="0" dirty="0" smtClean="0"/>
              <a:t>C is a corporate organization that owns and controls the production of goods or services in at least one country other than its home country. They are engage in exporting their products and services to various countries while also importing goods and services from different nations. It aids in boosting a country’s economy by increased trades.</a:t>
            </a:r>
          </a:p>
          <a:p>
            <a:r>
              <a:rPr lang="en-US" baseline="0" dirty="0" smtClean="0"/>
              <a:t>Central banks carry out a nation’s monetary policy and control its money supply. The main objective of a central bank is to maintain price stability. (controlling inflation, interest rates, or exchange rates)</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10</a:t>
            </a:fld>
            <a:endParaRPr lang="en-US"/>
          </a:p>
        </p:txBody>
      </p:sp>
    </p:spTree>
    <p:extLst>
      <p:ext uri="{BB962C8B-B14F-4D97-AF65-F5344CB8AC3E}">
        <p14:creationId xmlns:p14="http://schemas.microsoft.com/office/powerpoint/2010/main" val="1228931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GCS helps promote democratic values such as freedom of expression, transparency</a:t>
            </a:r>
            <a:r>
              <a:rPr lang="en-US" baseline="0" dirty="0" smtClean="0"/>
              <a:t>, and accountability; Offers social change which provides a new approach to change the existing global order through development rather than confrontation.</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11</a:t>
            </a:fld>
            <a:endParaRPr lang="en-US"/>
          </a:p>
        </p:txBody>
      </p:sp>
    </p:spTree>
    <p:extLst>
      <p:ext uri="{BB962C8B-B14F-4D97-AF65-F5344CB8AC3E}">
        <p14:creationId xmlns:p14="http://schemas.microsoft.com/office/powerpoint/2010/main" val="28896599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World system theory is a</a:t>
            </a:r>
            <a:r>
              <a:rPr lang="en-US" baseline="0" dirty="0" smtClean="0"/>
              <a:t> multidisciplinary approach to world history and social change which emphasizes the world system as the primary unit of social analysis. </a:t>
            </a:r>
          </a:p>
        </p:txBody>
      </p:sp>
      <p:sp>
        <p:nvSpPr>
          <p:cNvPr id="4" name="Slide Number Placeholder 3"/>
          <p:cNvSpPr>
            <a:spLocks noGrp="1"/>
          </p:cNvSpPr>
          <p:nvPr>
            <p:ph type="sldNum" sz="quarter" idx="10"/>
          </p:nvPr>
        </p:nvSpPr>
        <p:spPr/>
        <p:txBody>
          <a:bodyPr/>
          <a:lstStyle/>
          <a:p>
            <a:fld id="{904C101E-E5E4-4F97-B3F8-4889139BD91A}" type="slidenum">
              <a:rPr lang="en-US" smtClean="0"/>
              <a:t>12</a:t>
            </a:fld>
            <a:endParaRPr lang="en-US"/>
          </a:p>
        </p:txBody>
      </p:sp>
    </p:spTree>
    <p:extLst>
      <p:ext uri="{BB962C8B-B14F-4D97-AF65-F5344CB8AC3E}">
        <p14:creationId xmlns:p14="http://schemas.microsoft.com/office/powerpoint/2010/main" val="9476924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13</a:t>
            </a:fld>
            <a:endParaRPr lang="en-US"/>
          </a:p>
        </p:txBody>
      </p:sp>
    </p:spTree>
    <p:extLst>
      <p:ext uri="{BB962C8B-B14F-4D97-AF65-F5344CB8AC3E}">
        <p14:creationId xmlns:p14="http://schemas.microsoft.com/office/powerpoint/2010/main" val="12711709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It suggests that while the world economy is ever changing, there are three basic hierarchies of countries; core, periphery, and semi-periphery.</a:t>
            </a:r>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14</a:t>
            </a:fld>
            <a:endParaRPr lang="en-US"/>
          </a:p>
        </p:txBody>
      </p:sp>
    </p:spTree>
    <p:extLst>
      <p:ext uri="{BB962C8B-B14F-4D97-AF65-F5344CB8AC3E}">
        <p14:creationId xmlns:p14="http://schemas.microsoft.com/office/powerpoint/2010/main" val="42814020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17</a:t>
            </a:fld>
            <a:endParaRPr lang="en-US"/>
          </a:p>
        </p:txBody>
      </p:sp>
    </p:spTree>
    <p:extLst>
      <p:ext uri="{BB962C8B-B14F-4D97-AF65-F5344CB8AC3E}">
        <p14:creationId xmlns:p14="http://schemas.microsoft.com/office/powerpoint/2010/main" val="21303426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18</a:t>
            </a:fld>
            <a:endParaRPr lang="en-US"/>
          </a:p>
        </p:txBody>
      </p:sp>
    </p:spTree>
    <p:extLst>
      <p:ext uri="{BB962C8B-B14F-4D97-AF65-F5344CB8AC3E}">
        <p14:creationId xmlns:p14="http://schemas.microsoft.com/office/powerpoint/2010/main" val="34566726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19</a:t>
            </a:fld>
            <a:endParaRPr lang="en-US"/>
          </a:p>
        </p:txBody>
      </p:sp>
    </p:spTree>
    <p:extLst>
      <p:ext uri="{BB962C8B-B14F-4D97-AF65-F5344CB8AC3E}">
        <p14:creationId xmlns:p14="http://schemas.microsoft.com/office/powerpoint/2010/main" val="22184212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04C101E-E5E4-4F97-B3F8-4889139BD91A}" type="slidenum">
              <a:rPr lang="en-US" smtClean="0"/>
              <a:t>20</a:t>
            </a:fld>
            <a:endParaRPr lang="en-US"/>
          </a:p>
        </p:txBody>
      </p:sp>
    </p:spTree>
    <p:extLst>
      <p:ext uri="{BB962C8B-B14F-4D97-AF65-F5344CB8AC3E}">
        <p14:creationId xmlns:p14="http://schemas.microsoft.com/office/powerpoint/2010/main" val="35260106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dirty="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13" name="Rectangle 12"/>
          <p:cNvSpPr/>
          <p:nvPr/>
        </p:nvSpPr>
        <p:spPr>
          <a:xfrm>
            <a:off x="0" y="-1"/>
            <a:ext cx="12192000" cy="4572001"/>
          </a:xfrm>
          <a:prstGeom prst="rect">
            <a:avLst/>
          </a:prstGeom>
          <a:blipFill dpi="0" rotWithShape="1">
            <a:blip r:embed="rId2">
              <a:duotone>
                <a:schemeClr val="accent1">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dirty="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A61015F-7CC6-4D0A-9D87-873EA4C304CC}" type="datetimeFigureOut">
              <a:rPr lang="en-US" dirty="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
        <p:nvSpPr>
          <p:cNvPr id="10" name="Rectangle 9"/>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dirty="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dirty="0"/>
              <a:t>9/3/2024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dirty="0"/>
              <a:t>9/3/2024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dirty="0"/>
              <a:t>9/3/2024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5C68B11-C5A8-448C-8CE9-B1A273C79CFC}" type="datetimeFigureOut">
              <a:rPr lang="en-US" dirty="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7616CA0-919D-4A49-9C8A-62FDFB3A5183}" type="datetimeFigureOut">
              <a:rPr lang="en-US" dirty="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dirty="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dirty="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dirty="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dirty="0"/>
              <a:pPr/>
              <a:t>9/3/2024</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dirty="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8" r:id="rId10"/>
    <p:sldLayoutId id="2147483659"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The structure of globalization</a:t>
            </a:r>
            <a:endParaRPr lang="en-US" dirty="0"/>
          </a:p>
        </p:txBody>
      </p:sp>
      <p:sp>
        <p:nvSpPr>
          <p:cNvPr id="3" name="Subtitle 2"/>
          <p:cNvSpPr>
            <a:spLocks noGrp="1"/>
          </p:cNvSpPr>
          <p:nvPr>
            <p:ph type="subTitle" idx="1"/>
          </p:nvPr>
        </p:nvSpPr>
        <p:spPr/>
        <p:txBody>
          <a:bodyPr/>
          <a:lstStyle/>
          <a:p>
            <a:r>
              <a:rPr lang="en-US" dirty="0" smtClean="0"/>
              <a:t>Economy</a:t>
            </a:r>
            <a:endParaRPr lang="en-US" dirty="0"/>
          </a:p>
        </p:txBody>
      </p:sp>
    </p:spTree>
    <p:extLst>
      <p:ext uri="{BB962C8B-B14F-4D97-AF65-F5344CB8AC3E}">
        <p14:creationId xmlns:p14="http://schemas.microsoft.com/office/powerpoint/2010/main" val="20682503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2084832"/>
            <a:ext cx="9720073" cy="4224528"/>
          </a:xfrm>
        </p:spPr>
        <p:txBody>
          <a:bodyPr>
            <a:noAutofit/>
          </a:bodyPr>
          <a:lstStyle/>
          <a:p>
            <a:r>
              <a:rPr lang="en-PH" sz="2800" b="1" dirty="0" smtClean="0"/>
              <a:t>A. Economic </a:t>
            </a:r>
            <a:r>
              <a:rPr lang="en-PH" sz="2800" b="1" dirty="0"/>
              <a:t>Globalization</a:t>
            </a:r>
            <a:endParaRPr lang="en-US" sz="2800" dirty="0"/>
          </a:p>
          <a:p>
            <a:pPr lvl="0"/>
            <a:r>
              <a:rPr lang="en-PH" sz="2800" dirty="0"/>
              <a:t>Economic Globalization is a historical process representing the result of human innovation and technological progress.</a:t>
            </a:r>
            <a:endParaRPr lang="en-US" sz="2800" dirty="0"/>
          </a:p>
          <a:p>
            <a:pPr lvl="0"/>
            <a:r>
              <a:rPr lang="en-PH" sz="2800" b="1" dirty="0"/>
              <a:t>Historical Process – </a:t>
            </a:r>
            <a:r>
              <a:rPr lang="en-PH" sz="2800" dirty="0"/>
              <a:t>It had its beginnings in 1896 and reached its peak in 1914.</a:t>
            </a:r>
            <a:endParaRPr lang="en-US" sz="2800" dirty="0"/>
          </a:p>
          <a:p>
            <a:pPr lvl="0"/>
            <a:r>
              <a:rPr lang="en-PH" sz="2800" b="1" dirty="0"/>
              <a:t>Human Innovation –</a:t>
            </a:r>
            <a:r>
              <a:rPr lang="en-PH" sz="2800" dirty="0"/>
              <a:t> Scientific Revolution and Industrial Revolution</a:t>
            </a:r>
            <a:endParaRPr lang="en-US" sz="2800" dirty="0"/>
          </a:p>
          <a:p>
            <a:pPr lvl="0"/>
            <a:r>
              <a:rPr lang="en-PH" sz="2800" b="1" dirty="0"/>
              <a:t>Technological Progress –</a:t>
            </a:r>
            <a:r>
              <a:rPr lang="en-PH" sz="2800" dirty="0"/>
              <a:t> Transportation, Communication, Capital</a:t>
            </a:r>
            <a:endParaRPr lang="en-US" sz="2800" dirty="0"/>
          </a:p>
          <a:p>
            <a:endParaRPr lang="en-US" sz="2800" dirty="0"/>
          </a:p>
        </p:txBody>
      </p:sp>
    </p:spTree>
    <p:extLst>
      <p:ext uri="{BB962C8B-B14F-4D97-AF65-F5344CB8AC3E}">
        <p14:creationId xmlns:p14="http://schemas.microsoft.com/office/powerpoint/2010/main" val="28734829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p:txBody>
          <a:bodyPr>
            <a:noAutofit/>
          </a:bodyPr>
          <a:lstStyle/>
          <a:p>
            <a:r>
              <a:rPr lang="en-PH" sz="3200" b="1" dirty="0" smtClean="0"/>
              <a:t>A. Economic </a:t>
            </a:r>
            <a:r>
              <a:rPr lang="en-PH" sz="3200" b="1" dirty="0"/>
              <a:t>Globalization</a:t>
            </a:r>
            <a:endParaRPr lang="en-US" sz="3200" dirty="0"/>
          </a:p>
          <a:p>
            <a:pPr lvl="0"/>
            <a:r>
              <a:rPr lang="en-PH" sz="3200" dirty="0"/>
              <a:t>It is characterized by the increasing integration of economies around the world through the movement of goods, services, and capital across borders. </a:t>
            </a:r>
            <a:endParaRPr lang="en-US" sz="3200" dirty="0"/>
          </a:p>
          <a:p>
            <a:pPr lvl="0"/>
            <a:r>
              <a:rPr lang="en-PH" sz="3200" b="1" dirty="0"/>
              <a:t>Increasing Integration – </a:t>
            </a:r>
            <a:r>
              <a:rPr lang="en-PH" sz="3200" dirty="0"/>
              <a:t>Increased Trade, Supercomputers </a:t>
            </a:r>
            <a:endParaRPr lang="en-US" sz="3200" dirty="0"/>
          </a:p>
          <a:p>
            <a:pPr lvl="0"/>
            <a:r>
              <a:rPr lang="en-PH" sz="3200" b="1" dirty="0"/>
              <a:t>High – Frequency Trading – </a:t>
            </a:r>
            <a:r>
              <a:rPr lang="en-PH" sz="3200" dirty="0"/>
              <a:t>millions of stocks purchases and sales between different cities in a matter of seconds.</a:t>
            </a:r>
            <a:endParaRPr lang="en-US" sz="3200" dirty="0"/>
          </a:p>
          <a:p>
            <a:endParaRPr lang="en-US" sz="3200" dirty="0"/>
          </a:p>
        </p:txBody>
      </p:sp>
    </p:spTree>
    <p:extLst>
      <p:ext uri="{BB962C8B-B14F-4D97-AF65-F5344CB8AC3E}">
        <p14:creationId xmlns:p14="http://schemas.microsoft.com/office/powerpoint/2010/main" val="41165520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smtClean="0"/>
              <a:t>A. Economic </a:t>
            </a:r>
            <a:r>
              <a:rPr lang="en-PH" sz="3200" b="1" dirty="0"/>
              <a:t>Globalization</a:t>
            </a:r>
            <a:endParaRPr lang="en-US" sz="3200" dirty="0"/>
          </a:p>
          <a:p>
            <a:pPr lvl="0"/>
            <a:r>
              <a:rPr lang="en-PH" sz="2800" dirty="0"/>
              <a:t>These changes are the products of people, organizations, institutions, and technologies. </a:t>
            </a:r>
            <a:endParaRPr lang="en-US" sz="2800" dirty="0"/>
          </a:p>
          <a:p>
            <a:r>
              <a:rPr lang="en-US" sz="2800" dirty="0"/>
              <a:t>Critical to economic globalization is </a:t>
            </a:r>
            <a:r>
              <a:rPr lang="en-US" sz="2800" b="1" i="1" dirty="0"/>
              <a:t>global economic integration. </a:t>
            </a:r>
            <a:r>
              <a:rPr lang="en-US" sz="2800" dirty="0"/>
              <a:t>Economic Integration means that separate production operations are functionally related to each other and form a unified product or service. This requires efficient management of economic operations from different parts of the world. In current times, this is made possible by innovations in transport logistics, modernization of communication and transport systems, policies supporting integration of different process along the globe, among others. </a:t>
            </a:r>
            <a:endParaRPr lang="en-US" sz="4000" dirty="0"/>
          </a:p>
        </p:txBody>
      </p:sp>
    </p:spTree>
    <p:extLst>
      <p:ext uri="{BB962C8B-B14F-4D97-AF65-F5344CB8AC3E}">
        <p14:creationId xmlns:p14="http://schemas.microsoft.com/office/powerpoint/2010/main" val="21546185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smtClean="0"/>
              <a:t>B. Problems </a:t>
            </a:r>
            <a:r>
              <a:rPr lang="en-PH" sz="3200" b="1" dirty="0"/>
              <a:t>arising due to Economic Development</a:t>
            </a:r>
            <a:r>
              <a:rPr lang="en-PH" sz="3200" b="1" dirty="0" smtClean="0"/>
              <a:t>:</a:t>
            </a:r>
            <a:endParaRPr lang="en-US" sz="3200" dirty="0"/>
          </a:p>
          <a:p>
            <a:pPr lvl="0"/>
            <a:r>
              <a:rPr lang="en-PH" sz="2800" dirty="0"/>
              <a:t>Poor nations and the people who inhabit them were and are subjugated by the operations of the global economy;</a:t>
            </a:r>
            <a:endParaRPr lang="en-US" sz="2800" dirty="0"/>
          </a:p>
          <a:p>
            <a:pPr lvl="0"/>
            <a:r>
              <a:rPr lang="en-PH" sz="2800" dirty="0"/>
              <a:t>Not all parts of the world gain(</a:t>
            </a:r>
            <a:r>
              <a:rPr lang="en-PH" sz="2800" dirty="0" err="1"/>
              <a:t>ed</a:t>
            </a:r>
            <a:r>
              <a:rPr lang="en-PH" sz="2800" dirty="0"/>
              <a:t>) equally from the growth of the global economy;</a:t>
            </a:r>
            <a:endParaRPr lang="en-US" sz="2800" dirty="0"/>
          </a:p>
          <a:p>
            <a:pPr lvl="0"/>
            <a:r>
              <a:rPr lang="en-PH" sz="2800" dirty="0"/>
              <a:t>Within nations, the poor tends or tended to suffer most when those nations, are forced to repay their debts to other, more developed nations. </a:t>
            </a:r>
            <a:endParaRPr lang="en-US" sz="2800" dirty="0"/>
          </a:p>
          <a:p>
            <a:pPr lvl="0"/>
            <a:r>
              <a:rPr lang="en-PH" sz="2800" dirty="0"/>
              <a:t>Global economy “was not equally good for everyone and was bad for many (</a:t>
            </a:r>
            <a:r>
              <a:rPr lang="en-PH" sz="2800" dirty="0" err="1"/>
              <a:t>Friedenm</a:t>
            </a:r>
            <a:r>
              <a:rPr lang="en-PH" sz="2800" dirty="0"/>
              <a:t> 2006)</a:t>
            </a:r>
            <a:endParaRPr lang="en-US" sz="2800" dirty="0"/>
          </a:p>
        </p:txBody>
      </p:sp>
    </p:spTree>
    <p:extLst>
      <p:ext uri="{BB962C8B-B14F-4D97-AF65-F5344CB8AC3E}">
        <p14:creationId xmlns:p14="http://schemas.microsoft.com/office/powerpoint/2010/main" val="143468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128" y="551762"/>
            <a:ext cx="9720072" cy="1499616"/>
          </a:xfrm>
        </p:spPr>
        <p:txBody>
          <a:bodyPr/>
          <a:lstStyle/>
          <a:p>
            <a:r>
              <a:rPr lang="en-US" dirty="0" smtClean="0"/>
              <a:t>The global economy</a:t>
            </a:r>
            <a:endParaRPr lang="en-US" dirty="0"/>
          </a:p>
        </p:txBody>
      </p:sp>
      <p:sp>
        <p:nvSpPr>
          <p:cNvPr id="3" name="Content Placeholder 2"/>
          <p:cNvSpPr>
            <a:spLocks noGrp="1"/>
          </p:cNvSpPr>
          <p:nvPr>
            <p:ph idx="1"/>
          </p:nvPr>
        </p:nvSpPr>
        <p:spPr>
          <a:xfrm>
            <a:off x="1024128" y="2013757"/>
            <a:ext cx="10579293" cy="4023360"/>
          </a:xfrm>
        </p:spPr>
        <p:txBody>
          <a:bodyPr>
            <a:noAutofit/>
          </a:bodyPr>
          <a:lstStyle/>
          <a:p>
            <a:pPr lvl="0"/>
            <a:r>
              <a:rPr lang="en-PH" sz="3200" b="1" dirty="0" smtClean="0"/>
              <a:t>C. Global Economic Structures</a:t>
            </a:r>
            <a:r>
              <a:rPr lang="en-US" sz="3200" dirty="0" smtClean="0"/>
              <a:t> </a:t>
            </a:r>
          </a:p>
          <a:p>
            <a:pPr lvl="0"/>
            <a:r>
              <a:rPr lang="en-PH" sz="3200" b="1" dirty="0" smtClean="0"/>
              <a:t>Surplus and Deficits</a:t>
            </a:r>
            <a:endParaRPr lang="en-US" sz="3200" dirty="0" smtClean="0"/>
          </a:p>
          <a:p>
            <a:pPr lvl="0"/>
            <a:r>
              <a:rPr lang="en-PH" sz="2800" dirty="0"/>
              <a:t>A good place to get a quick snapshot of global trade as well as net economic flows in and out of a nation-state is by looking at its trade surpluses and deficits. </a:t>
            </a:r>
            <a:endParaRPr lang="en-US" sz="2800" dirty="0"/>
          </a:p>
          <a:p>
            <a:pPr lvl="0"/>
            <a:r>
              <a:rPr lang="en-PH" sz="2800" dirty="0"/>
              <a:t>A </a:t>
            </a:r>
            <a:r>
              <a:rPr lang="en-PH" sz="2800" b="1" i="1" dirty="0"/>
              <a:t>trade surplus </a:t>
            </a:r>
            <a:r>
              <a:rPr lang="en-PH" sz="2800" dirty="0"/>
              <a:t>(a surplus in the balance of trade) occurs when the value of a country's exports exceeds that of its imports. </a:t>
            </a:r>
            <a:endParaRPr lang="en-US" sz="2800" dirty="0"/>
          </a:p>
          <a:p>
            <a:pPr lvl="0"/>
            <a:r>
              <a:rPr lang="en-PH" sz="2800" dirty="0"/>
              <a:t>A</a:t>
            </a:r>
            <a:r>
              <a:rPr lang="en-PH" sz="2800" b="1" dirty="0"/>
              <a:t> </a:t>
            </a:r>
            <a:r>
              <a:rPr lang="en-PH" sz="2800" b="1" i="1" dirty="0"/>
              <a:t>trade deficit </a:t>
            </a:r>
            <a:r>
              <a:rPr lang="en-PH" sz="2800" dirty="0"/>
              <a:t>(also called a trade gap) occurs when imports exceed exports</a:t>
            </a:r>
            <a:r>
              <a:rPr lang="en-PH" sz="2800" dirty="0" smtClean="0"/>
              <a:t>.</a:t>
            </a:r>
            <a:endParaRPr lang="en-US" sz="2800" dirty="0"/>
          </a:p>
        </p:txBody>
      </p:sp>
    </p:spTree>
    <p:extLst>
      <p:ext uri="{BB962C8B-B14F-4D97-AF65-F5344CB8AC3E}">
        <p14:creationId xmlns:p14="http://schemas.microsoft.com/office/powerpoint/2010/main" val="1722230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a:t>D</a:t>
            </a:r>
            <a:r>
              <a:rPr lang="en-PH" sz="3200" b="1" dirty="0" smtClean="0"/>
              <a:t>. </a:t>
            </a:r>
            <a:r>
              <a:rPr lang="en-PH" sz="3200" b="1" dirty="0"/>
              <a:t>Who are the actors </a:t>
            </a:r>
            <a:r>
              <a:rPr lang="en-PH" sz="3200" b="1" dirty="0" smtClean="0"/>
              <a:t>that </a:t>
            </a:r>
            <a:r>
              <a:rPr lang="en-PH" sz="3200" b="1" dirty="0"/>
              <a:t>Facilitate Economic Globalization</a:t>
            </a:r>
            <a:r>
              <a:rPr lang="en-PH" sz="3200" b="1" dirty="0" smtClean="0"/>
              <a:t>?</a:t>
            </a:r>
            <a:endParaRPr lang="en-US" sz="3200" dirty="0" smtClean="0"/>
          </a:p>
          <a:p>
            <a:pPr lvl="0"/>
            <a:r>
              <a:rPr lang="en-PH" sz="3200" dirty="0"/>
              <a:t>Globalization has opened the doors for other non-state authority and actors in driving economic globalization. </a:t>
            </a:r>
            <a:r>
              <a:rPr lang="en-PH" sz="3200" b="1" i="1" dirty="0"/>
              <a:t>Non-State</a:t>
            </a:r>
            <a:r>
              <a:rPr lang="en-PH" sz="3200" dirty="0"/>
              <a:t> actors include international economic organizations, private sector led by multinational companies, central banks and civil society. </a:t>
            </a:r>
            <a:endParaRPr lang="en-US" sz="3200" dirty="0"/>
          </a:p>
        </p:txBody>
      </p:sp>
    </p:spTree>
    <p:extLst>
      <p:ext uri="{BB962C8B-B14F-4D97-AF65-F5344CB8AC3E}">
        <p14:creationId xmlns:p14="http://schemas.microsoft.com/office/powerpoint/2010/main" val="3172558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a:t>D</a:t>
            </a:r>
            <a:r>
              <a:rPr lang="en-PH" sz="3200" b="1" dirty="0" smtClean="0"/>
              <a:t>. </a:t>
            </a:r>
            <a:r>
              <a:rPr lang="en-PH" sz="3200" b="1" dirty="0"/>
              <a:t>Who are the actors the Facilitate Economic Globalization</a:t>
            </a:r>
            <a:r>
              <a:rPr lang="en-PH" sz="3200" b="1" dirty="0" smtClean="0"/>
              <a:t>?</a:t>
            </a:r>
            <a:endParaRPr lang="en-US" sz="3200" dirty="0" smtClean="0"/>
          </a:p>
          <a:p>
            <a:pPr lvl="0"/>
            <a:r>
              <a:rPr lang="en-PH" sz="3200" b="1" dirty="0" smtClean="0"/>
              <a:t>1. International </a:t>
            </a:r>
            <a:r>
              <a:rPr lang="en-PH" sz="3200" b="1" dirty="0"/>
              <a:t>Economic Organizations (International Monetary Fund (IMF), World Bank, and Organization for Economic Cooperation and Development (OECD) – </a:t>
            </a:r>
            <a:r>
              <a:rPr lang="en-PH" sz="3200" dirty="0"/>
              <a:t>These organizations are critical in developing and pushing for neoliberal policies among different countries. They also help facilitate trade and development discussions among various states.</a:t>
            </a:r>
            <a:endParaRPr lang="en-US" sz="3200" dirty="0"/>
          </a:p>
        </p:txBody>
      </p:sp>
    </p:spTree>
    <p:extLst>
      <p:ext uri="{BB962C8B-B14F-4D97-AF65-F5344CB8AC3E}">
        <p14:creationId xmlns:p14="http://schemas.microsoft.com/office/powerpoint/2010/main" val="3842374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a:t>D</a:t>
            </a:r>
            <a:r>
              <a:rPr lang="en-PH" sz="3200" b="1" dirty="0" smtClean="0"/>
              <a:t>. </a:t>
            </a:r>
            <a:r>
              <a:rPr lang="en-PH" sz="3200" b="1" dirty="0"/>
              <a:t>Who are the actors the Facilitate Economic Globalization</a:t>
            </a:r>
            <a:r>
              <a:rPr lang="en-PH" sz="3200" b="1" dirty="0" smtClean="0"/>
              <a:t>?</a:t>
            </a:r>
            <a:endParaRPr lang="en-US" sz="3200" dirty="0" smtClean="0"/>
          </a:p>
          <a:p>
            <a:pPr lvl="0"/>
            <a:r>
              <a:rPr lang="en-PH" sz="3200" b="1" dirty="0"/>
              <a:t>2</a:t>
            </a:r>
            <a:r>
              <a:rPr lang="en-PH" sz="3200" b="1" dirty="0" smtClean="0"/>
              <a:t>. </a:t>
            </a:r>
            <a:r>
              <a:rPr lang="en-PH" sz="3200" b="1" dirty="0"/>
              <a:t>Regional Organizations (Association of Southeast Asian Nations (ASEAN) and North American Free Trade Agreement (NAFTA)).</a:t>
            </a:r>
            <a:r>
              <a:rPr lang="en-PH" sz="3200" dirty="0"/>
              <a:t> These organizations promote regional agreements and standards that facilitate better trade and exchange of knowledge, human resources, and regional cooperation. </a:t>
            </a:r>
            <a:endParaRPr lang="en-US" sz="3200" dirty="0"/>
          </a:p>
        </p:txBody>
      </p:sp>
    </p:spTree>
    <p:extLst>
      <p:ext uri="{BB962C8B-B14F-4D97-AF65-F5344CB8AC3E}">
        <p14:creationId xmlns:p14="http://schemas.microsoft.com/office/powerpoint/2010/main" val="987526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a:t>D</a:t>
            </a:r>
            <a:r>
              <a:rPr lang="en-PH" sz="3200" b="1" dirty="0" smtClean="0"/>
              <a:t>. </a:t>
            </a:r>
            <a:r>
              <a:rPr lang="en-PH" sz="3200" b="1" dirty="0"/>
              <a:t>Who are the actors the Facilitate Economic Globalization</a:t>
            </a:r>
            <a:r>
              <a:rPr lang="en-PH" sz="3200" b="1" dirty="0" smtClean="0"/>
              <a:t>?</a:t>
            </a:r>
            <a:endParaRPr lang="en-US" sz="3200" dirty="0" smtClean="0"/>
          </a:p>
          <a:p>
            <a:pPr lvl="0"/>
            <a:r>
              <a:rPr lang="en-PH" sz="3200" b="1" dirty="0" smtClean="0"/>
              <a:t>3. </a:t>
            </a:r>
            <a:r>
              <a:rPr lang="en-PH" sz="3200" b="1" dirty="0"/>
              <a:t>Multinational Companies (MNCs) –</a:t>
            </a:r>
            <a:r>
              <a:rPr lang="en-PH" sz="3200" dirty="0"/>
              <a:t> they are considered to be the main carriers of economic globalization.</a:t>
            </a:r>
            <a:endParaRPr lang="en-US" sz="3200" dirty="0"/>
          </a:p>
          <a:p>
            <a:pPr lvl="0"/>
            <a:r>
              <a:rPr lang="en-PH" sz="3200" b="1" dirty="0" smtClean="0"/>
              <a:t>4. Central </a:t>
            </a:r>
            <a:r>
              <a:rPr lang="en-PH" sz="3200" b="1" dirty="0"/>
              <a:t>Banks –</a:t>
            </a:r>
            <a:r>
              <a:rPr lang="en-PH" sz="3200" dirty="0"/>
              <a:t> they are considered as one of the most powerful institutions in the world economy since they can lead economic development.</a:t>
            </a:r>
            <a:endParaRPr lang="en-US" sz="3200" dirty="0"/>
          </a:p>
        </p:txBody>
      </p:sp>
    </p:spTree>
    <p:extLst>
      <p:ext uri="{BB962C8B-B14F-4D97-AF65-F5344CB8AC3E}">
        <p14:creationId xmlns:p14="http://schemas.microsoft.com/office/powerpoint/2010/main" val="835437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a:t>D</a:t>
            </a:r>
            <a:r>
              <a:rPr lang="en-PH" sz="3200" b="1" dirty="0" smtClean="0"/>
              <a:t>. </a:t>
            </a:r>
            <a:r>
              <a:rPr lang="en-PH" sz="3200" b="1" dirty="0"/>
              <a:t>Who are the actors the Facilitate Economic Globalization</a:t>
            </a:r>
            <a:r>
              <a:rPr lang="en-PH" sz="3200" b="1" dirty="0" smtClean="0"/>
              <a:t>?</a:t>
            </a:r>
            <a:endParaRPr lang="en-US" sz="3200" dirty="0" smtClean="0"/>
          </a:p>
          <a:p>
            <a:pPr lvl="0"/>
            <a:r>
              <a:rPr lang="en-PH" sz="3200" b="1" dirty="0"/>
              <a:t>5</a:t>
            </a:r>
            <a:r>
              <a:rPr lang="en-PH" sz="3200" b="1" dirty="0" smtClean="0"/>
              <a:t>. </a:t>
            </a:r>
            <a:r>
              <a:rPr lang="en-PH" sz="3200" b="1" dirty="0"/>
              <a:t>Global Civil Society –</a:t>
            </a:r>
            <a:r>
              <a:rPr lang="en-PH" sz="3200" dirty="0"/>
              <a:t> as major driver of economic globalization. The Global civil society has made its mark in global development arena particularly during the UN Conference on Environment and Development in 1992. Global Civil Society seen as either composed of individuals or groups of individuals disadvantaged by the effects of the globalization of the world economy, they protest and seek alternatives while on the other hand, global social movement constituting a basis for an alternative to a new world order. </a:t>
            </a:r>
            <a:endParaRPr lang="en-US" sz="3200" dirty="0"/>
          </a:p>
        </p:txBody>
      </p:sp>
    </p:spTree>
    <p:extLst>
      <p:ext uri="{BB962C8B-B14F-4D97-AF65-F5344CB8AC3E}">
        <p14:creationId xmlns:p14="http://schemas.microsoft.com/office/powerpoint/2010/main" val="1188184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a:t>E</a:t>
            </a:r>
            <a:r>
              <a:rPr lang="en-PH" sz="3200" b="1" dirty="0" smtClean="0"/>
              <a:t>. </a:t>
            </a:r>
            <a:r>
              <a:rPr lang="en-US" sz="3200" b="1" dirty="0" err="1"/>
              <a:t>Wallerstein’s</a:t>
            </a:r>
            <a:r>
              <a:rPr lang="en-US" sz="3200" b="1" dirty="0"/>
              <a:t> </a:t>
            </a:r>
            <a:r>
              <a:rPr lang="en-PH" sz="3200" b="1" dirty="0"/>
              <a:t>Modern World </a:t>
            </a:r>
            <a:r>
              <a:rPr lang="en-PH" sz="3200" b="1" dirty="0" smtClean="0"/>
              <a:t>System</a:t>
            </a:r>
            <a:r>
              <a:rPr lang="en-PH" b="1" dirty="0"/>
              <a:t> </a:t>
            </a:r>
            <a:r>
              <a:rPr lang="en-PH" sz="3200" b="1" dirty="0" smtClean="0"/>
              <a:t>Theory</a:t>
            </a:r>
            <a:endParaRPr lang="en-US" dirty="0"/>
          </a:p>
          <a:p>
            <a:pPr lvl="0"/>
            <a:r>
              <a:rPr lang="en-US" sz="2800" dirty="0"/>
              <a:t>The world system is the result of the increasing interdependence of cultures and ecosystems that were once relatively isolated by distance and boundaries.</a:t>
            </a:r>
          </a:p>
          <a:p>
            <a:pPr lvl="0"/>
            <a:r>
              <a:rPr lang="en-PH" sz="2800" dirty="0"/>
              <a:t>The </a:t>
            </a:r>
            <a:r>
              <a:rPr lang="en-PH" sz="2800" b="1" i="1" dirty="0"/>
              <a:t>World system </a:t>
            </a:r>
            <a:r>
              <a:rPr lang="en-PH" sz="2800" dirty="0"/>
              <a:t>is a largely self-contained system with a set of boundaries and a definable life span; --- </a:t>
            </a:r>
            <a:r>
              <a:rPr lang="en-PH" sz="2800" b="1" dirty="0"/>
              <a:t>it does not last </a:t>
            </a:r>
            <a:r>
              <a:rPr lang="en-PH" sz="2800" b="1" i="1" dirty="0"/>
              <a:t>FOREVER</a:t>
            </a:r>
            <a:r>
              <a:rPr lang="en-PH" sz="2800" b="1" dirty="0"/>
              <a:t>.</a:t>
            </a:r>
            <a:endParaRPr lang="en-US" sz="2800" dirty="0"/>
          </a:p>
          <a:p>
            <a:pPr lvl="0"/>
            <a:r>
              <a:rPr lang="en-PH" sz="2800" dirty="0"/>
              <a:t>The world systems have existed before and </a:t>
            </a:r>
            <a:r>
              <a:rPr lang="en-PH" sz="2800" b="1" i="1" dirty="0"/>
              <a:t>not </a:t>
            </a:r>
            <a:r>
              <a:rPr lang="en-PH" sz="2800" dirty="0"/>
              <a:t>a unique feature of the contemporary world. </a:t>
            </a:r>
            <a:endParaRPr lang="en-US" sz="2800" dirty="0"/>
          </a:p>
        </p:txBody>
      </p:sp>
    </p:spTree>
    <p:extLst>
      <p:ext uri="{BB962C8B-B14F-4D97-AF65-F5344CB8AC3E}">
        <p14:creationId xmlns:p14="http://schemas.microsoft.com/office/powerpoint/2010/main" val="300309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1024128" y="1813035"/>
            <a:ext cx="10579293" cy="4023360"/>
          </a:xfrm>
        </p:spPr>
        <p:txBody>
          <a:bodyPr>
            <a:noAutofit/>
          </a:bodyPr>
          <a:lstStyle/>
          <a:p>
            <a:r>
              <a:rPr lang="en-PH" sz="3200" b="1" dirty="0"/>
              <a:t>E</a:t>
            </a:r>
            <a:r>
              <a:rPr lang="en-PH" sz="3200" b="1" dirty="0" smtClean="0"/>
              <a:t>. </a:t>
            </a:r>
            <a:r>
              <a:rPr lang="en-US" sz="3200" b="1" dirty="0" err="1"/>
              <a:t>Wallerstein’s</a:t>
            </a:r>
            <a:r>
              <a:rPr lang="en-US" sz="3200" b="1" dirty="0"/>
              <a:t> </a:t>
            </a:r>
            <a:r>
              <a:rPr lang="en-PH" sz="3200" b="1" dirty="0"/>
              <a:t>Modern World </a:t>
            </a:r>
            <a:r>
              <a:rPr lang="en-PH" sz="3200" b="1" dirty="0" smtClean="0"/>
              <a:t>System</a:t>
            </a:r>
            <a:r>
              <a:rPr lang="en-PH" b="1" dirty="0"/>
              <a:t> </a:t>
            </a:r>
            <a:endParaRPr lang="en-US" dirty="0"/>
          </a:p>
          <a:p>
            <a:pPr lvl="0"/>
            <a:r>
              <a:rPr lang="en-PH" sz="3200" dirty="0"/>
              <a:t>In the past, the system that binds the world together was based on </a:t>
            </a:r>
            <a:r>
              <a:rPr lang="en-PH" sz="3200" b="1" i="1" dirty="0"/>
              <a:t>political and military domination</a:t>
            </a:r>
            <a:r>
              <a:rPr lang="en-PH" sz="3200" dirty="0"/>
              <a:t>.</a:t>
            </a:r>
            <a:endParaRPr lang="en-US" sz="3200" dirty="0"/>
          </a:p>
          <a:p>
            <a:pPr lvl="0"/>
            <a:r>
              <a:rPr lang="en-PH" sz="3200" dirty="0"/>
              <a:t>The Modern World system is also known as the </a:t>
            </a:r>
            <a:r>
              <a:rPr lang="en-PH" sz="3200" b="1" i="1" dirty="0"/>
              <a:t>Modern Capitalist World-Economy</a:t>
            </a:r>
            <a:r>
              <a:rPr lang="en-PH" sz="3200" dirty="0"/>
              <a:t>. It is a system which relies on </a:t>
            </a:r>
            <a:r>
              <a:rPr lang="en-PH" sz="3200" b="1" i="1" dirty="0"/>
              <a:t>economic domination</a:t>
            </a:r>
            <a:r>
              <a:rPr lang="en-PH" sz="3200" dirty="0"/>
              <a:t>. Countries around the world is divided according to their economic power in the global arena.</a:t>
            </a:r>
            <a:endParaRPr lang="en-US" sz="3200" dirty="0"/>
          </a:p>
        </p:txBody>
      </p:sp>
    </p:spTree>
    <p:extLst>
      <p:ext uri="{BB962C8B-B14F-4D97-AF65-F5344CB8AC3E}">
        <p14:creationId xmlns:p14="http://schemas.microsoft.com/office/powerpoint/2010/main" val="2109406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global economy</a:t>
            </a:r>
            <a:endParaRPr lang="en-US" dirty="0"/>
          </a:p>
        </p:txBody>
      </p:sp>
      <p:sp>
        <p:nvSpPr>
          <p:cNvPr id="3" name="Content Placeholder 2"/>
          <p:cNvSpPr>
            <a:spLocks noGrp="1"/>
          </p:cNvSpPr>
          <p:nvPr>
            <p:ph idx="1"/>
          </p:nvPr>
        </p:nvSpPr>
        <p:spPr>
          <a:xfrm>
            <a:off x="893379" y="1844568"/>
            <a:ext cx="11140965" cy="4023360"/>
          </a:xfrm>
        </p:spPr>
        <p:txBody>
          <a:bodyPr>
            <a:noAutofit/>
          </a:bodyPr>
          <a:lstStyle/>
          <a:p>
            <a:pPr>
              <a:lnSpc>
                <a:spcPct val="100000"/>
              </a:lnSpc>
            </a:pPr>
            <a:r>
              <a:rPr lang="en-PH" sz="2800" b="1" dirty="0"/>
              <a:t>E</a:t>
            </a:r>
            <a:r>
              <a:rPr lang="en-PH" sz="2800" b="1" dirty="0" smtClean="0"/>
              <a:t>. </a:t>
            </a:r>
            <a:r>
              <a:rPr lang="en-US" sz="2800" b="1" dirty="0" err="1"/>
              <a:t>Wallerstein’s</a:t>
            </a:r>
            <a:r>
              <a:rPr lang="en-US" sz="2800" b="1" dirty="0"/>
              <a:t> </a:t>
            </a:r>
            <a:r>
              <a:rPr lang="en-PH" sz="2800" b="1" dirty="0"/>
              <a:t>Modern World </a:t>
            </a:r>
            <a:r>
              <a:rPr lang="en-PH" sz="2800" b="1" dirty="0" smtClean="0"/>
              <a:t>System</a:t>
            </a:r>
            <a:r>
              <a:rPr lang="en-PH" sz="2000" b="1" dirty="0"/>
              <a:t> </a:t>
            </a:r>
            <a:endParaRPr lang="en-US" sz="2000" dirty="0"/>
          </a:p>
          <a:p>
            <a:pPr lvl="0">
              <a:lnSpc>
                <a:spcPct val="100000"/>
              </a:lnSpc>
            </a:pPr>
            <a:r>
              <a:rPr lang="en-PH" sz="2000" dirty="0"/>
              <a:t>The world system is arranged according to influence: </a:t>
            </a:r>
            <a:r>
              <a:rPr lang="en-PH" sz="2000" b="1" i="1" dirty="0"/>
              <a:t>core</a:t>
            </a:r>
            <a:r>
              <a:rPr lang="en-PH" sz="2000" dirty="0"/>
              <a:t> (most dominant), to </a:t>
            </a:r>
            <a:r>
              <a:rPr lang="en-PH" sz="2000" b="1" i="1" dirty="0"/>
              <a:t>semi-periphery,</a:t>
            </a:r>
            <a:r>
              <a:rPr lang="en-PH" sz="2000" dirty="0"/>
              <a:t> to </a:t>
            </a:r>
            <a:r>
              <a:rPr lang="en-PH" sz="2000" b="1" i="1" dirty="0"/>
              <a:t>periphery</a:t>
            </a:r>
            <a:r>
              <a:rPr lang="en-PH" sz="2000" dirty="0"/>
              <a:t> (least dominant).</a:t>
            </a:r>
            <a:endParaRPr lang="en-US" sz="2000" dirty="0"/>
          </a:p>
          <a:p>
            <a:pPr lvl="0">
              <a:lnSpc>
                <a:spcPct val="100000"/>
              </a:lnSpc>
            </a:pPr>
            <a:r>
              <a:rPr lang="en-PH" sz="2000" dirty="0"/>
              <a:t>Three – Level Hierarchy</a:t>
            </a:r>
            <a:endParaRPr lang="en-US" sz="2000" dirty="0"/>
          </a:p>
          <a:p>
            <a:pPr lvl="0">
              <a:lnSpc>
                <a:spcPct val="100000"/>
              </a:lnSpc>
            </a:pPr>
            <a:r>
              <a:rPr lang="en-US" sz="2000" dirty="0" smtClean="0"/>
              <a:t>1. The </a:t>
            </a:r>
            <a:r>
              <a:rPr lang="en-US" sz="2000" b="1" i="1" dirty="0"/>
              <a:t>core</a:t>
            </a:r>
            <a:r>
              <a:rPr lang="en-US" sz="2000" dirty="0"/>
              <a:t> consists of the strongest and most powerful nations in which technologically advanced, capital-intensive products are produced and exported to the semi-periphery and the periphery.</a:t>
            </a:r>
          </a:p>
          <a:p>
            <a:pPr lvl="0">
              <a:lnSpc>
                <a:spcPct val="100000"/>
              </a:lnSpc>
            </a:pPr>
            <a:r>
              <a:rPr lang="en-US" sz="2000" b="1" i="1" dirty="0" smtClean="0"/>
              <a:t>2. Semi-periphery</a:t>
            </a:r>
            <a:r>
              <a:rPr lang="en-US" sz="2000" b="1" dirty="0" smtClean="0"/>
              <a:t> </a:t>
            </a:r>
            <a:r>
              <a:rPr lang="en-US" sz="2000" dirty="0"/>
              <a:t>consists of industrialized Third World nations that lack the power and economic dominance of the core nations somewhere exploiting and exploited. --- (Brazil and India).</a:t>
            </a:r>
          </a:p>
          <a:p>
            <a:pPr lvl="0">
              <a:lnSpc>
                <a:spcPct val="100000"/>
              </a:lnSpc>
            </a:pPr>
            <a:r>
              <a:rPr lang="en-US" sz="2000" dirty="0" smtClean="0"/>
              <a:t>3. The </a:t>
            </a:r>
            <a:r>
              <a:rPr lang="en-US" sz="2000" b="1" i="1" dirty="0"/>
              <a:t>periphery</a:t>
            </a:r>
            <a:r>
              <a:rPr lang="en-US" sz="2000" dirty="0"/>
              <a:t> consists of nations whose economic activities are less mechanized and are primarily concerned with exporting raw materials and agricultural goods to the core and semi-periphery. (African Region)</a:t>
            </a:r>
          </a:p>
        </p:txBody>
      </p:sp>
    </p:spTree>
    <p:extLst>
      <p:ext uri="{BB962C8B-B14F-4D97-AF65-F5344CB8AC3E}">
        <p14:creationId xmlns:p14="http://schemas.microsoft.com/office/powerpoint/2010/main" val="3929231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MARKET </a:t>
            </a:r>
            <a:r>
              <a:rPr lang="en-PH" b="1" dirty="0" smtClean="0"/>
              <a:t>INTEGRATION</a:t>
            </a:r>
            <a:endParaRPr lang="en-US" dirty="0"/>
          </a:p>
        </p:txBody>
      </p:sp>
      <p:sp>
        <p:nvSpPr>
          <p:cNvPr id="3" name="Content Placeholder 2"/>
          <p:cNvSpPr>
            <a:spLocks noGrp="1"/>
          </p:cNvSpPr>
          <p:nvPr>
            <p:ph idx="1"/>
          </p:nvPr>
        </p:nvSpPr>
        <p:spPr/>
        <p:txBody>
          <a:bodyPr>
            <a:normAutofit fontScale="92500"/>
          </a:bodyPr>
          <a:lstStyle/>
          <a:p>
            <a:r>
              <a:rPr lang="en-PH" b="1" dirty="0" smtClean="0"/>
              <a:t>A. BRETTON </a:t>
            </a:r>
            <a:r>
              <a:rPr lang="en-PH" b="1" dirty="0"/>
              <a:t>WOODS SYSTEM</a:t>
            </a:r>
            <a:endParaRPr lang="en-US" dirty="0"/>
          </a:p>
          <a:p>
            <a:pPr lvl="0"/>
            <a:r>
              <a:rPr lang="en-PH" dirty="0"/>
              <a:t>After the two world wars, world leaders sought to create a global economic system that would ensure a longer – lasting global peace.</a:t>
            </a:r>
            <a:endParaRPr lang="en-US" dirty="0"/>
          </a:p>
          <a:p>
            <a:pPr lvl="0"/>
            <a:r>
              <a:rPr lang="en-PH" dirty="0"/>
              <a:t>They believe that one of the ways to achieve this goal is to set up a network of global financial institutions that would promote economic interdependence and prosperity</a:t>
            </a:r>
            <a:r>
              <a:rPr lang="en-PH" dirty="0" smtClean="0"/>
              <a:t>.	</a:t>
            </a:r>
            <a:endParaRPr lang="en-US" dirty="0"/>
          </a:p>
          <a:p>
            <a:pPr lvl="0"/>
            <a:r>
              <a:rPr lang="en-PH" dirty="0"/>
              <a:t>Thus, Bretton Woods System was inaugurated in July 1944 at the Mount Washington Hotel in Bretton Woods, New Hampshire. </a:t>
            </a:r>
            <a:endParaRPr lang="en-US" dirty="0"/>
          </a:p>
          <a:p>
            <a:pPr lvl="0"/>
            <a:r>
              <a:rPr lang="en-PH" dirty="0"/>
              <a:t>A key factor in the depression was thought to be lack of cooperation among nation – states.</a:t>
            </a:r>
            <a:endParaRPr lang="en-US" dirty="0"/>
          </a:p>
          <a:p>
            <a:pPr lvl="0"/>
            <a:r>
              <a:rPr lang="en-PH" dirty="0"/>
              <a:t>The Bretton Woods system was largely influenced by the ideas of John Maynard Keynes. </a:t>
            </a:r>
            <a:endParaRPr lang="en-US" dirty="0"/>
          </a:p>
        </p:txBody>
      </p:sp>
    </p:spTree>
    <p:extLst>
      <p:ext uri="{BB962C8B-B14F-4D97-AF65-F5344CB8AC3E}">
        <p14:creationId xmlns:p14="http://schemas.microsoft.com/office/powerpoint/2010/main" val="2596419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MARKET </a:t>
            </a:r>
            <a:r>
              <a:rPr lang="en-PH" b="1" dirty="0" smtClean="0"/>
              <a:t>INTEGRATION</a:t>
            </a:r>
            <a:endParaRPr lang="en-US" dirty="0"/>
          </a:p>
        </p:txBody>
      </p:sp>
      <p:sp>
        <p:nvSpPr>
          <p:cNvPr id="3" name="Content Placeholder 2"/>
          <p:cNvSpPr>
            <a:spLocks noGrp="1"/>
          </p:cNvSpPr>
          <p:nvPr>
            <p:ph idx="1"/>
          </p:nvPr>
        </p:nvSpPr>
        <p:spPr/>
        <p:txBody>
          <a:bodyPr>
            <a:normAutofit/>
          </a:bodyPr>
          <a:lstStyle/>
          <a:p>
            <a:pPr lvl="0"/>
            <a:r>
              <a:rPr lang="en-PH" b="1" dirty="0" smtClean="0"/>
              <a:t>B. FOCUS </a:t>
            </a:r>
            <a:r>
              <a:rPr lang="en-PH" b="1" dirty="0"/>
              <a:t>OF THE BRETTON WOODS </a:t>
            </a:r>
            <a:r>
              <a:rPr lang="en-PH" b="1" dirty="0" smtClean="0"/>
              <a:t>SYSTEM</a:t>
            </a:r>
          </a:p>
          <a:p>
            <a:pPr lvl="0"/>
            <a:r>
              <a:rPr lang="en-PH" dirty="0"/>
              <a:t>Reducing trade barriers and on creating conditions necessary for the free flow of money and investment;</a:t>
            </a:r>
            <a:endParaRPr lang="en-US" dirty="0"/>
          </a:p>
          <a:p>
            <a:pPr lvl="0"/>
            <a:r>
              <a:rPr lang="en-PH" b="1" i="1" dirty="0"/>
              <a:t>Free Trade</a:t>
            </a:r>
            <a:r>
              <a:rPr lang="en-PH" dirty="0"/>
              <a:t> happens when trade barriers such as tariffs and quotas are lifted, eliminated or reduced. </a:t>
            </a:r>
            <a:endParaRPr lang="en-US" dirty="0"/>
          </a:p>
          <a:p>
            <a:pPr lvl="0"/>
            <a:r>
              <a:rPr lang="en-PH" dirty="0"/>
              <a:t>Creation of conditions needed for financial stability around the globe. </a:t>
            </a:r>
            <a:endParaRPr lang="en-US" dirty="0"/>
          </a:p>
          <a:p>
            <a:pPr lvl="0"/>
            <a:endParaRPr lang="en-US" dirty="0"/>
          </a:p>
        </p:txBody>
      </p:sp>
    </p:spTree>
    <p:extLst>
      <p:ext uri="{BB962C8B-B14F-4D97-AF65-F5344CB8AC3E}">
        <p14:creationId xmlns:p14="http://schemas.microsoft.com/office/powerpoint/2010/main" val="4168454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MARKET </a:t>
            </a:r>
            <a:r>
              <a:rPr lang="en-PH" b="1" dirty="0" smtClean="0"/>
              <a:t>INTEGRATION</a:t>
            </a:r>
            <a:endParaRPr lang="en-US" dirty="0"/>
          </a:p>
        </p:txBody>
      </p:sp>
      <p:sp>
        <p:nvSpPr>
          <p:cNvPr id="3" name="Content Placeholder 2"/>
          <p:cNvSpPr>
            <a:spLocks noGrp="1"/>
          </p:cNvSpPr>
          <p:nvPr>
            <p:ph idx="1"/>
          </p:nvPr>
        </p:nvSpPr>
        <p:spPr/>
        <p:txBody>
          <a:bodyPr>
            <a:normAutofit/>
          </a:bodyPr>
          <a:lstStyle/>
          <a:p>
            <a:pPr lvl="0"/>
            <a:r>
              <a:rPr lang="en-PH" b="1" dirty="0" smtClean="0"/>
              <a:t>C. John </a:t>
            </a:r>
            <a:r>
              <a:rPr lang="en-PH" b="1" dirty="0"/>
              <a:t>Maynard Keynes Economic Ideas</a:t>
            </a:r>
            <a:endParaRPr lang="en-US" dirty="0"/>
          </a:p>
          <a:p>
            <a:pPr lvl="0"/>
            <a:r>
              <a:rPr lang="en-PH" dirty="0"/>
              <a:t>Economic Crisis occur not when a country does not have enough money, but when money is not being spent and, thereby not moving.</a:t>
            </a:r>
            <a:endParaRPr lang="en-US" dirty="0"/>
          </a:p>
          <a:p>
            <a:pPr lvl="0"/>
            <a:r>
              <a:rPr lang="en-PH" dirty="0"/>
              <a:t>When economies slow down, governments have to reinvigorate markets with infusions of capitals.</a:t>
            </a:r>
            <a:endParaRPr lang="en-US" dirty="0"/>
          </a:p>
        </p:txBody>
      </p:sp>
    </p:spTree>
    <p:extLst>
      <p:ext uri="{BB962C8B-B14F-4D97-AF65-F5344CB8AC3E}">
        <p14:creationId xmlns:p14="http://schemas.microsoft.com/office/powerpoint/2010/main" val="3985789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MARKET </a:t>
            </a:r>
            <a:r>
              <a:rPr lang="en-PH" b="1" dirty="0" smtClean="0"/>
              <a:t>INTEGRATION</a:t>
            </a:r>
            <a:endParaRPr lang="en-US" dirty="0"/>
          </a:p>
        </p:txBody>
      </p:sp>
      <p:sp>
        <p:nvSpPr>
          <p:cNvPr id="3" name="Content Placeholder 2"/>
          <p:cNvSpPr>
            <a:spLocks noGrp="1"/>
          </p:cNvSpPr>
          <p:nvPr>
            <p:ph idx="1"/>
          </p:nvPr>
        </p:nvSpPr>
        <p:spPr/>
        <p:txBody>
          <a:bodyPr>
            <a:normAutofit fontScale="92500" lnSpcReduction="10000"/>
          </a:bodyPr>
          <a:lstStyle/>
          <a:p>
            <a:pPr lvl="0"/>
            <a:r>
              <a:rPr lang="en-PH" b="1" dirty="0" smtClean="0"/>
              <a:t>D. FIVE </a:t>
            </a:r>
            <a:r>
              <a:rPr lang="en-PH" b="1" dirty="0"/>
              <a:t>KEY ELEMENTS OF THE BRETTON WOODS SYSTEM</a:t>
            </a:r>
            <a:endParaRPr lang="en-US" dirty="0"/>
          </a:p>
          <a:p>
            <a:pPr lvl="0"/>
            <a:r>
              <a:rPr lang="en-US" dirty="0"/>
              <a:t>Each participating state would establish a “par value” for its currency expressed in term of gold or (equivalently) in terms of gold value of the US Dollar as of July 1944.</a:t>
            </a:r>
          </a:p>
          <a:p>
            <a:pPr lvl="0"/>
            <a:r>
              <a:rPr lang="en-US" dirty="0"/>
              <a:t>The official monetary authority in each country (a central bank or its equivalent) would agree to exchange its own currency for those of other countries at the establish exchange rate. </a:t>
            </a:r>
          </a:p>
          <a:p>
            <a:pPr lvl="0"/>
            <a:r>
              <a:rPr lang="en-US" dirty="0"/>
              <a:t>International Monetary Fund was created to establish, stabilized and oversee exchange rates. If a country is destabilized, the IMF can lend member states the money needed to stabilize their currency.</a:t>
            </a:r>
          </a:p>
          <a:p>
            <a:pPr lvl="0"/>
            <a:r>
              <a:rPr lang="en-US" dirty="0"/>
              <a:t>The member states agreed to eliminate, at least eventually, “all restrictions on the use of its currency for international trade”.</a:t>
            </a:r>
          </a:p>
          <a:p>
            <a:pPr lvl="0"/>
            <a:r>
              <a:rPr lang="en-US" dirty="0"/>
              <a:t>The entire system was based on the US dollar. The US agreed to make dollar convertible to other currencies at the fixed par value. The dollar became the global currency. </a:t>
            </a:r>
          </a:p>
        </p:txBody>
      </p:sp>
    </p:spTree>
    <p:extLst>
      <p:ext uri="{BB962C8B-B14F-4D97-AF65-F5344CB8AC3E}">
        <p14:creationId xmlns:p14="http://schemas.microsoft.com/office/powerpoint/2010/main" val="3269593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MARKET </a:t>
            </a:r>
            <a:r>
              <a:rPr lang="en-PH" b="1" dirty="0" smtClean="0"/>
              <a:t>INTEGRATION</a:t>
            </a:r>
            <a:endParaRPr lang="en-US" dirty="0"/>
          </a:p>
        </p:txBody>
      </p:sp>
      <p:sp>
        <p:nvSpPr>
          <p:cNvPr id="3" name="Content Placeholder 2"/>
          <p:cNvSpPr>
            <a:spLocks noGrp="1"/>
          </p:cNvSpPr>
          <p:nvPr>
            <p:ph idx="1"/>
          </p:nvPr>
        </p:nvSpPr>
        <p:spPr/>
        <p:txBody>
          <a:bodyPr>
            <a:normAutofit/>
          </a:bodyPr>
          <a:lstStyle/>
          <a:p>
            <a:pPr lvl="0"/>
            <a:r>
              <a:rPr lang="en-PH" b="1" dirty="0" smtClean="0"/>
              <a:t>E. ECONOMIC </a:t>
            </a:r>
            <a:r>
              <a:rPr lang="en-PH" b="1" dirty="0"/>
              <a:t>ORGANIZATIONS</a:t>
            </a:r>
            <a:endParaRPr lang="en-US" dirty="0"/>
          </a:p>
          <a:p>
            <a:pPr lvl="0"/>
            <a:r>
              <a:rPr lang="en-PH" b="1" dirty="0" smtClean="0"/>
              <a:t>1. General </a:t>
            </a:r>
            <a:r>
              <a:rPr lang="en-PH" b="1" dirty="0"/>
              <a:t>Agreements on Tariffs and Trade (GATT) – </a:t>
            </a:r>
            <a:r>
              <a:rPr lang="en-PH" dirty="0"/>
              <a:t>It was a system for liberalization of trade that grew out of Bretton Woods and came into existence in 1947 until 1995.</a:t>
            </a:r>
            <a:endParaRPr lang="en-US" dirty="0"/>
          </a:p>
          <a:p>
            <a:pPr lvl="0"/>
            <a:r>
              <a:rPr lang="en-PH" b="1" dirty="0" smtClean="0"/>
              <a:t>2. World </a:t>
            </a:r>
            <a:r>
              <a:rPr lang="en-PH" b="1" dirty="0"/>
              <a:t>Trade Organization (WTO) – </a:t>
            </a:r>
            <a:r>
              <a:rPr lang="en-PH" dirty="0"/>
              <a:t>It is a multilateral organization found in Geneva, Switzerland with 152 member nations as of 2008. Its focus on trade places it at the heart of economic globalization. WTO operations are premised on the neoliberal idea that all nation benefit from free and open trade and it is dedicated and eliminating barriers to trade</a:t>
            </a:r>
            <a:r>
              <a:rPr lang="en-PH" dirty="0" smtClean="0"/>
              <a:t>.</a:t>
            </a:r>
            <a:endParaRPr lang="en-US" dirty="0"/>
          </a:p>
        </p:txBody>
      </p:sp>
    </p:spTree>
    <p:extLst>
      <p:ext uri="{BB962C8B-B14F-4D97-AF65-F5344CB8AC3E}">
        <p14:creationId xmlns:p14="http://schemas.microsoft.com/office/powerpoint/2010/main" val="3953903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MARKET </a:t>
            </a:r>
            <a:r>
              <a:rPr lang="en-PH" b="1" dirty="0" smtClean="0"/>
              <a:t>INTEGRATION</a:t>
            </a:r>
            <a:endParaRPr lang="en-US" dirty="0"/>
          </a:p>
        </p:txBody>
      </p:sp>
      <p:sp>
        <p:nvSpPr>
          <p:cNvPr id="3" name="Content Placeholder 2"/>
          <p:cNvSpPr>
            <a:spLocks noGrp="1"/>
          </p:cNvSpPr>
          <p:nvPr>
            <p:ph idx="1"/>
          </p:nvPr>
        </p:nvSpPr>
        <p:spPr/>
        <p:txBody>
          <a:bodyPr>
            <a:normAutofit/>
          </a:bodyPr>
          <a:lstStyle/>
          <a:p>
            <a:r>
              <a:rPr lang="en-US" b="1" dirty="0" smtClean="0"/>
              <a:t>3. International </a:t>
            </a:r>
            <a:r>
              <a:rPr lang="en-US" b="1" dirty="0"/>
              <a:t>Monetary Fund (IMF) - </a:t>
            </a:r>
            <a:r>
              <a:rPr lang="en-US" dirty="0"/>
              <a:t>The goal of the IMF is macroeconomic stability for both member nations and global economy. Specifically, it deals with exchange rates, balances of payments, international capital flows and the monitoring of member states ad their macroeconomic policies.</a:t>
            </a:r>
          </a:p>
          <a:p>
            <a:pPr lvl="0"/>
            <a:r>
              <a:rPr lang="en-PH" b="1" dirty="0" smtClean="0"/>
              <a:t>4. World Bank (WB) - </a:t>
            </a:r>
            <a:r>
              <a:rPr lang="en-PH" dirty="0" smtClean="0"/>
              <a:t>International Bank for Reconstruction and Development (IBRD) is the most important element of World Bank Group. It was established in 1944 and began operating in 1946.  It was originally responsible for funding post-war reconstruction projects. It was a critical institution at a time when many of the world’s cities had been destroyed by the war. At present, it now deals with a broad range of issues related to economic development including “population, education, health, social security, environment, culture, aspect of macroeconomic policy and poverty alleviation.”</a:t>
            </a:r>
            <a:endParaRPr lang="en-US" dirty="0"/>
          </a:p>
        </p:txBody>
      </p:sp>
    </p:spTree>
    <p:extLst>
      <p:ext uri="{BB962C8B-B14F-4D97-AF65-F5344CB8AC3E}">
        <p14:creationId xmlns:p14="http://schemas.microsoft.com/office/powerpoint/2010/main" val="24466851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A41AC481-B287-49C8-90EF-C669597D2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348</TotalTime>
  <Words>2429</Words>
  <Application>Microsoft Office PowerPoint</Application>
  <PresentationFormat>Widescreen</PresentationFormat>
  <Paragraphs>131</Paragraphs>
  <Slides>20</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Tw Cen MT</vt:lpstr>
      <vt:lpstr>Tw Cen MT Condensed</vt:lpstr>
      <vt:lpstr>Wingdings 3</vt:lpstr>
      <vt:lpstr>Integral</vt:lpstr>
      <vt:lpstr>The structure of globalization</vt:lpstr>
      <vt:lpstr>The global economy</vt:lpstr>
      <vt:lpstr>The global economy</vt:lpstr>
      <vt:lpstr>The global economy</vt:lpstr>
      <vt:lpstr>The global economy</vt:lpstr>
      <vt:lpstr>The global economy</vt:lpstr>
      <vt:lpstr>The global economy</vt:lpstr>
      <vt:lpstr>The global economy</vt:lpstr>
      <vt:lpstr>The global economy</vt:lpstr>
      <vt:lpstr>The global economy</vt:lpstr>
      <vt:lpstr>The global economy</vt:lpstr>
      <vt:lpstr>The global economy</vt:lpstr>
      <vt:lpstr>The global economy</vt:lpstr>
      <vt:lpstr>The global economy</vt:lpstr>
      <vt:lpstr>MARKET INTEGRATION</vt:lpstr>
      <vt:lpstr>MARKET INTEGRATION</vt:lpstr>
      <vt:lpstr>MARKET INTEGRATION</vt:lpstr>
      <vt:lpstr>MARKET INTEGRATION</vt:lpstr>
      <vt:lpstr>MARKET INTEGRATION</vt:lpstr>
      <vt:lpstr>MARKET INTEGRATION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structure of globalization</dc:title>
  <dc:creator>HP</dc:creator>
  <cp:lastModifiedBy>HP</cp:lastModifiedBy>
  <cp:revision>35</cp:revision>
  <dcterms:created xsi:type="dcterms:W3CDTF">2024-08-28T00:53:26Z</dcterms:created>
  <dcterms:modified xsi:type="dcterms:W3CDTF">2024-09-03T20:48:29Z</dcterms:modified>
</cp:coreProperties>
</file>