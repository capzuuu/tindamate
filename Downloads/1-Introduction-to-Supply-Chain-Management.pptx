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68" r:id="rId6"/>
    <p:sldId id="269" r:id="rId7"/>
    <p:sldId id="270" r:id="rId8"/>
    <p:sldId id="271" r:id="rId9"/>
    <p:sldId id="272" r:id="rId10"/>
    <p:sldId id="273" r:id="rId11"/>
    <p:sldId id="274" r:id="rId12"/>
    <p:sldId id="275" r:id="rId13"/>
    <p:sldId id="276" r:id="rId14"/>
    <p:sldId id="277" r:id="rId15"/>
    <p:sldId id="278" r:id="rId16"/>
    <p:sldId id="279" r:id="rId17"/>
    <p:sldId id="280" r:id="rId18"/>
    <p:sldId id="281" r:id="rId19"/>
    <p:sldId id="282" r:id="rId20"/>
    <p:sldId id="283" r:id="rId21"/>
    <p:sldId id="284" r:id="rId22"/>
    <p:sldId id="285" r:id="rId23"/>
    <p:sldId id="286" r:id="rId24"/>
    <p:sldId id="287" r:id="rId25"/>
    <p:sldId id="288" r:id="rId26"/>
    <p:sldId id="289" r:id="rId27"/>
    <p:sldId id="290" r:id="rId28"/>
    <p:sldId id="291" r:id="rId29"/>
    <p:sldId id="292" r:id="rId30"/>
    <p:sldId id="293" r:id="rId31"/>
    <p:sldId id="294" r:id="rId32"/>
    <p:sldId id="267" r:id="rId3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85" d="100"/>
          <a:sy n="85" d="100"/>
        </p:scale>
        <p:origin x="562" y="6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3"/>
        <p:cNvGrpSpPr/>
        <p:nvPr/>
      </p:nvGrpSpPr>
      <p:grpSpPr>
        <a:xfrm>
          <a:off x="0" y="0"/>
          <a:ext cx="0" cy="0"/>
          <a:chOff x="0" y="0"/>
          <a:chExt cx="0" cy="0"/>
        </a:xfrm>
      </p:grpSpPr>
      <p:sp>
        <p:nvSpPr>
          <p:cNvPr id="94" name="Google Shape;94;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5" name="Google Shape;95;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3"/>
        <p:cNvGrpSpPr/>
        <p:nvPr/>
      </p:nvGrpSpPr>
      <p:grpSpPr>
        <a:xfrm>
          <a:off x="0" y="0"/>
          <a:ext cx="0" cy="0"/>
          <a:chOff x="0" y="0"/>
          <a:chExt cx="0" cy="0"/>
        </a:xfrm>
      </p:grpSpPr>
      <p:sp>
        <p:nvSpPr>
          <p:cNvPr id="94" name="Google Shape;94;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5" name="Google Shape;95;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3"/>
        <p:cNvGrpSpPr/>
        <p:nvPr/>
      </p:nvGrpSpPr>
      <p:grpSpPr>
        <a:xfrm>
          <a:off x="0" y="0"/>
          <a:ext cx="0" cy="0"/>
          <a:chOff x="0" y="0"/>
          <a:chExt cx="0" cy="0"/>
        </a:xfrm>
      </p:grpSpPr>
      <p:sp>
        <p:nvSpPr>
          <p:cNvPr id="94" name="Google Shape;94;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5" name="Google Shape;95;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3"/>
        <p:cNvGrpSpPr/>
        <p:nvPr/>
      </p:nvGrpSpPr>
      <p:grpSpPr>
        <a:xfrm>
          <a:off x="0" y="0"/>
          <a:ext cx="0" cy="0"/>
          <a:chOff x="0" y="0"/>
          <a:chExt cx="0" cy="0"/>
        </a:xfrm>
      </p:grpSpPr>
      <p:sp>
        <p:nvSpPr>
          <p:cNvPr id="94" name="Google Shape;94;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5" name="Google Shape;95;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3"/>
        <p:cNvGrpSpPr/>
        <p:nvPr/>
      </p:nvGrpSpPr>
      <p:grpSpPr>
        <a:xfrm>
          <a:off x="0" y="0"/>
          <a:ext cx="0" cy="0"/>
          <a:chOff x="0" y="0"/>
          <a:chExt cx="0" cy="0"/>
        </a:xfrm>
      </p:grpSpPr>
      <p:sp>
        <p:nvSpPr>
          <p:cNvPr id="94" name="Google Shape;94;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200" b="1" i="0" u="none" strike="noStrike" cap="none" dirty="0" smtClean="0">
                <a:solidFill>
                  <a:schemeClr val="dk1"/>
                </a:solidFill>
                <a:effectLst/>
                <a:latin typeface="Calibri" panose="020F0502020204030204"/>
                <a:ea typeface="Calibri" panose="020F0502020204030204"/>
                <a:cs typeface="Calibri" panose="020F0502020204030204"/>
                <a:sym typeface="Calibri" panose="020F0502020204030204"/>
              </a:rPr>
              <a:t>Direct costs </a:t>
            </a:r>
            <a:r>
              <a:rPr lang="en-US" sz="1200" b="0" i="0" u="none" strike="noStrike" cap="none" dirty="0" smtClean="0">
                <a:solidFill>
                  <a:schemeClr val="dk1"/>
                </a:solidFill>
                <a:effectLst/>
                <a:latin typeface="Calibri" panose="020F0502020204030204"/>
                <a:ea typeface="Calibri" panose="020F0502020204030204"/>
                <a:cs typeface="Calibri" panose="020F0502020204030204"/>
                <a:sym typeface="Calibri" panose="020F0502020204030204"/>
              </a:rPr>
              <a:t>are expenses that a company can easily connect to a specific “cost object,” which may be a product, department or project. </a:t>
            </a:r>
            <a:endParaRPr lang="en-US" sz="1200" b="0" i="0" u="none" strike="noStrike" cap="none" dirty="0" smtClean="0">
              <a:solidFill>
                <a:schemeClr val="dk1"/>
              </a:solidFill>
              <a:effectLst/>
              <a:latin typeface="Calibri" panose="020F0502020204030204"/>
              <a:ea typeface="Calibri" panose="020F0502020204030204"/>
              <a:cs typeface="Calibri" panose="020F0502020204030204"/>
              <a:sym typeface="Calibri" panose="020F0502020204030204"/>
            </a:endParaRPr>
          </a:p>
          <a:p>
            <a:pPr marL="0" lvl="0" indent="0" algn="l" rtl="0">
              <a:lnSpc>
                <a:spcPct val="100000"/>
              </a:lnSpc>
              <a:spcBef>
                <a:spcPts val="0"/>
              </a:spcBef>
              <a:spcAft>
                <a:spcPts val="0"/>
              </a:spcAft>
              <a:buSzPts val="1400"/>
              <a:buNone/>
            </a:pPr>
            <a:endParaRPr lang="en-US" sz="1200" b="0" i="0" u="none" strike="noStrike" cap="none" dirty="0" smtClean="0">
              <a:solidFill>
                <a:schemeClr val="dk1"/>
              </a:solidFill>
              <a:effectLst/>
              <a:latin typeface="Calibri" panose="020F0502020204030204"/>
              <a:ea typeface="Calibri" panose="020F0502020204030204"/>
              <a:cs typeface="Calibri" panose="020F0502020204030204"/>
              <a:sym typeface="Calibri" panose="020F0502020204030204"/>
            </a:endParaRPr>
          </a:p>
          <a:p>
            <a:pPr marL="0" lvl="0" indent="0" algn="l" rtl="0">
              <a:lnSpc>
                <a:spcPct val="100000"/>
              </a:lnSpc>
              <a:spcBef>
                <a:spcPts val="0"/>
              </a:spcBef>
              <a:spcAft>
                <a:spcPts val="0"/>
              </a:spcAft>
              <a:buSzPts val="1400"/>
              <a:buNone/>
            </a:pPr>
            <a:r>
              <a:rPr lang="en-US" sz="1200" b="0" i="0" u="none" strike="noStrike" cap="none" dirty="0" smtClean="0">
                <a:solidFill>
                  <a:schemeClr val="dk1"/>
                </a:solidFill>
                <a:effectLst/>
                <a:latin typeface="Calibri" panose="020F0502020204030204"/>
                <a:ea typeface="Calibri" panose="020F0502020204030204"/>
                <a:cs typeface="Calibri" panose="020F0502020204030204"/>
                <a:sym typeface="Calibri" panose="020F0502020204030204"/>
              </a:rPr>
              <a:t>For example, if an employee is hired to work on a project, either exclusively or for an assigned number of hours, their labor on that project is a direct cost. If your company develops software and needs specific assets, such as purchased frameworks or development</a:t>
            </a:r>
            <a:endParaRPr lang="en-US" sz="1200" b="0" i="0" u="none" strike="noStrike" cap="none" dirty="0" smtClean="0">
              <a:solidFill>
                <a:schemeClr val="dk1"/>
              </a:solidFill>
              <a:effectLst/>
              <a:latin typeface="Calibri" panose="020F0502020204030204"/>
              <a:ea typeface="Calibri" panose="020F0502020204030204"/>
              <a:cs typeface="Calibri" panose="020F0502020204030204"/>
              <a:sym typeface="Calibri" panose="020F0502020204030204"/>
            </a:endParaRPr>
          </a:p>
          <a:p>
            <a:pPr marL="0" lvl="0" indent="0" algn="l" rtl="0">
              <a:lnSpc>
                <a:spcPct val="100000"/>
              </a:lnSpc>
              <a:spcBef>
                <a:spcPts val="0"/>
              </a:spcBef>
              <a:spcAft>
                <a:spcPts val="0"/>
              </a:spcAft>
              <a:buSzPts val="1400"/>
              <a:buNone/>
            </a:pPr>
            <a:endParaRPr lang="en-US" sz="1200" b="0" i="0" u="none" strike="noStrike" cap="none" dirty="0" smtClean="0">
              <a:solidFill>
                <a:schemeClr val="dk1"/>
              </a:solidFill>
              <a:effectLst/>
              <a:latin typeface="Calibri" panose="020F0502020204030204"/>
              <a:cs typeface="Calibri" panose="020F0502020204030204"/>
              <a:sym typeface="Calibri" panose="020F0502020204030204"/>
            </a:endParaRPr>
          </a:p>
          <a:p>
            <a:pPr marL="0" lvl="0" indent="0" algn="l" rtl="0">
              <a:lnSpc>
                <a:spcPct val="100000"/>
              </a:lnSpc>
              <a:spcBef>
                <a:spcPts val="0"/>
              </a:spcBef>
              <a:spcAft>
                <a:spcPts val="0"/>
              </a:spcAft>
              <a:buSzPts val="1400"/>
              <a:buNone/>
            </a:pPr>
            <a:r>
              <a:rPr lang="en-US" sz="1200" b="0" i="0" u="none" strike="noStrike" cap="none" dirty="0" smtClean="0">
                <a:solidFill>
                  <a:schemeClr val="dk1"/>
                </a:solidFill>
                <a:effectLst/>
                <a:latin typeface="Calibri" panose="020F0502020204030204"/>
                <a:ea typeface="Calibri" panose="020F0502020204030204"/>
                <a:cs typeface="Calibri" panose="020F0502020204030204"/>
                <a:sym typeface="Calibri" panose="020F0502020204030204"/>
              </a:rPr>
              <a:t>Indirect costs extend beyond the expenses you incur when creating a product; they include the costs involved with maintaining and running a company. These overhead costs are the ones left over after direct costs have been computed.</a:t>
            </a:r>
            <a:endParaRPr lang="en-US" sz="1200" b="0" i="0" u="none" strike="noStrike" cap="none" dirty="0" smtClean="0">
              <a:solidFill>
                <a:schemeClr val="dk1"/>
              </a:solidFill>
              <a:effectLst/>
              <a:latin typeface="Calibri" panose="020F0502020204030204"/>
              <a:ea typeface="Calibri" panose="020F0502020204030204"/>
              <a:cs typeface="Calibri" panose="020F0502020204030204"/>
              <a:sym typeface="Calibri" panose="020F0502020204030204"/>
            </a:endParaRPr>
          </a:p>
          <a:p>
            <a:pPr marL="0" lvl="0" indent="0" algn="l" rtl="0">
              <a:lnSpc>
                <a:spcPct val="100000"/>
              </a:lnSpc>
              <a:spcBef>
                <a:spcPts val="0"/>
              </a:spcBef>
              <a:spcAft>
                <a:spcPts val="0"/>
              </a:spcAft>
              <a:buSzPts val="1400"/>
              <a:buNone/>
            </a:pPr>
            <a:endParaRPr lang="en-US" sz="1200" b="0" i="0" u="none" strike="noStrike" cap="none" dirty="0" smtClean="0">
              <a:solidFill>
                <a:schemeClr val="dk1"/>
              </a:solidFill>
              <a:effectLst/>
              <a:latin typeface="Calibri" panose="020F0502020204030204"/>
              <a:cs typeface="Calibri" panose="020F0502020204030204"/>
              <a:sym typeface="Calibri" panose="020F0502020204030204"/>
            </a:endParaRPr>
          </a:p>
          <a:p>
            <a:pPr marL="0" lvl="0" indent="0" algn="l" rtl="0">
              <a:lnSpc>
                <a:spcPct val="100000"/>
              </a:lnSpc>
              <a:spcBef>
                <a:spcPts val="0"/>
              </a:spcBef>
              <a:spcAft>
                <a:spcPts val="0"/>
              </a:spcAft>
              <a:buSzPts val="1400"/>
              <a:buNone/>
            </a:pPr>
            <a:r>
              <a:rPr lang="en-US" sz="1200" b="0" i="0" u="none" strike="noStrike" cap="none" dirty="0" smtClean="0">
                <a:solidFill>
                  <a:schemeClr val="dk1"/>
                </a:solidFill>
                <a:effectLst/>
                <a:latin typeface="Calibri" panose="020F0502020204030204"/>
                <a:ea typeface="Calibri" panose="020F0502020204030204"/>
                <a:cs typeface="Calibri" panose="020F0502020204030204"/>
                <a:sym typeface="Calibri" panose="020F0502020204030204"/>
              </a:rPr>
              <a:t>The materials and supplies needed for a company’s day-to-day operations – such as computers, electricity and rent – are examples of indirect costs. While these items contribute to the company as a whole, they are not assigned to the creation of any one service.</a:t>
            </a:r>
            <a:endParaRPr dirty="0"/>
          </a:p>
        </p:txBody>
      </p:sp>
      <p:sp>
        <p:nvSpPr>
          <p:cNvPr id="95" name="Google Shape;95;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3"/>
        <p:cNvGrpSpPr/>
        <p:nvPr/>
      </p:nvGrpSpPr>
      <p:grpSpPr>
        <a:xfrm>
          <a:off x="0" y="0"/>
          <a:ext cx="0" cy="0"/>
          <a:chOff x="0" y="0"/>
          <a:chExt cx="0" cy="0"/>
        </a:xfrm>
      </p:grpSpPr>
      <p:sp>
        <p:nvSpPr>
          <p:cNvPr id="94" name="Google Shape;94;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5" name="Google Shape;95;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3"/>
        <p:cNvGrpSpPr/>
        <p:nvPr/>
      </p:nvGrpSpPr>
      <p:grpSpPr>
        <a:xfrm>
          <a:off x="0" y="0"/>
          <a:ext cx="0" cy="0"/>
          <a:chOff x="0" y="0"/>
          <a:chExt cx="0" cy="0"/>
        </a:xfrm>
      </p:grpSpPr>
      <p:sp>
        <p:nvSpPr>
          <p:cNvPr id="94" name="Google Shape;94;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5" name="Google Shape;95;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3"/>
        <p:cNvGrpSpPr/>
        <p:nvPr/>
      </p:nvGrpSpPr>
      <p:grpSpPr>
        <a:xfrm>
          <a:off x="0" y="0"/>
          <a:ext cx="0" cy="0"/>
          <a:chOff x="0" y="0"/>
          <a:chExt cx="0" cy="0"/>
        </a:xfrm>
      </p:grpSpPr>
      <p:sp>
        <p:nvSpPr>
          <p:cNvPr id="94" name="Google Shape;94;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5" name="Google Shape;95;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3"/>
        <p:cNvGrpSpPr/>
        <p:nvPr/>
      </p:nvGrpSpPr>
      <p:grpSpPr>
        <a:xfrm>
          <a:off x="0" y="0"/>
          <a:ext cx="0" cy="0"/>
          <a:chOff x="0" y="0"/>
          <a:chExt cx="0" cy="0"/>
        </a:xfrm>
      </p:grpSpPr>
      <p:sp>
        <p:nvSpPr>
          <p:cNvPr id="94" name="Google Shape;94;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5" name="Google Shape;95;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3"/>
        <p:cNvGrpSpPr/>
        <p:nvPr/>
      </p:nvGrpSpPr>
      <p:grpSpPr>
        <a:xfrm>
          <a:off x="0" y="0"/>
          <a:ext cx="0" cy="0"/>
          <a:chOff x="0" y="0"/>
          <a:chExt cx="0" cy="0"/>
        </a:xfrm>
      </p:grpSpPr>
      <p:sp>
        <p:nvSpPr>
          <p:cNvPr id="94" name="Google Shape;94;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5" name="Google Shape;95;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3"/>
        <p:cNvGrpSpPr/>
        <p:nvPr/>
      </p:nvGrpSpPr>
      <p:grpSpPr>
        <a:xfrm>
          <a:off x="0" y="0"/>
          <a:ext cx="0" cy="0"/>
          <a:chOff x="0" y="0"/>
          <a:chExt cx="0" cy="0"/>
        </a:xfrm>
      </p:grpSpPr>
      <p:sp>
        <p:nvSpPr>
          <p:cNvPr id="94" name="Google Shape;94;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5" name="Google Shape;95;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3"/>
        <p:cNvGrpSpPr/>
        <p:nvPr/>
      </p:nvGrpSpPr>
      <p:grpSpPr>
        <a:xfrm>
          <a:off x="0" y="0"/>
          <a:ext cx="0" cy="0"/>
          <a:chOff x="0" y="0"/>
          <a:chExt cx="0" cy="0"/>
        </a:xfrm>
      </p:grpSpPr>
      <p:sp>
        <p:nvSpPr>
          <p:cNvPr id="94" name="Google Shape;94;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5" name="Google Shape;95;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3"/>
        <p:cNvGrpSpPr/>
        <p:nvPr/>
      </p:nvGrpSpPr>
      <p:grpSpPr>
        <a:xfrm>
          <a:off x="0" y="0"/>
          <a:ext cx="0" cy="0"/>
          <a:chOff x="0" y="0"/>
          <a:chExt cx="0" cy="0"/>
        </a:xfrm>
      </p:grpSpPr>
      <p:sp>
        <p:nvSpPr>
          <p:cNvPr id="94" name="Google Shape;94;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5" name="Google Shape;95;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3"/>
        <p:cNvGrpSpPr/>
        <p:nvPr/>
      </p:nvGrpSpPr>
      <p:grpSpPr>
        <a:xfrm>
          <a:off x="0" y="0"/>
          <a:ext cx="0" cy="0"/>
          <a:chOff x="0" y="0"/>
          <a:chExt cx="0" cy="0"/>
        </a:xfrm>
      </p:grpSpPr>
      <p:sp>
        <p:nvSpPr>
          <p:cNvPr id="94" name="Google Shape;94;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5" name="Google Shape;95;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3"/>
        <p:cNvGrpSpPr/>
        <p:nvPr/>
      </p:nvGrpSpPr>
      <p:grpSpPr>
        <a:xfrm>
          <a:off x="0" y="0"/>
          <a:ext cx="0" cy="0"/>
          <a:chOff x="0" y="0"/>
          <a:chExt cx="0" cy="0"/>
        </a:xfrm>
      </p:grpSpPr>
      <p:sp>
        <p:nvSpPr>
          <p:cNvPr id="94" name="Google Shape;94;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smtClean="0"/>
              <a:t>3PL - 3</a:t>
            </a:r>
            <a:r>
              <a:rPr lang="en-US" baseline="30000" dirty="0" smtClean="0"/>
              <a:t>rd</a:t>
            </a:r>
            <a:r>
              <a:rPr lang="en-US" dirty="0" smtClean="0"/>
              <a:t> Party Logistics</a:t>
            </a:r>
            <a:endParaRPr dirty="0"/>
          </a:p>
        </p:txBody>
      </p:sp>
      <p:sp>
        <p:nvSpPr>
          <p:cNvPr id="95" name="Google Shape;95;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3"/>
        <p:cNvGrpSpPr/>
        <p:nvPr/>
      </p:nvGrpSpPr>
      <p:grpSpPr>
        <a:xfrm>
          <a:off x="0" y="0"/>
          <a:ext cx="0" cy="0"/>
          <a:chOff x="0" y="0"/>
          <a:chExt cx="0" cy="0"/>
        </a:xfrm>
      </p:grpSpPr>
      <p:sp>
        <p:nvSpPr>
          <p:cNvPr id="94" name="Google Shape;94;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5" name="Google Shape;95;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3"/>
        <p:cNvGrpSpPr/>
        <p:nvPr/>
      </p:nvGrpSpPr>
      <p:grpSpPr>
        <a:xfrm>
          <a:off x="0" y="0"/>
          <a:ext cx="0" cy="0"/>
          <a:chOff x="0" y="0"/>
          <a:chExt cx="0" cy="0"/>
        </a:xfrm>
      </p:grpSpPr>
      <p:sp>
        <p:nvSpPr>
          <p:cNvPr id="94" name="Google Shape;94;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5" name="Google Shape;95;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3"/>
        <p:cNvGrpSpPr/>
        <p:nvPr/>
      </p:nvGrpSpPr>
      <p:grpSpPr>
        <a:xfrm>
          <a:off x="0" y="0"/>
          <a:ext cx="0" cy="0"/>
          <a:chOff x="0" y="0"/>
          <a:chExt cx="0" cy="0"/>
        </a:xfrm>
      </p:grpSpPr>
      <p:sp>
        <p:nvSpPr>
          <p:cNvPr id="94" name="Google Shape;94;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5" name="Google Shape;95;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3"/>
        <p:cNvGrpSpPr/>
        <p:nvPr/>
      </p:nvGrpSpPr>
      <p:grpSpPr>
        <a:xfrm>
          <a:off x="0" y="0"/>
          <a:ext cx="0" cy="0"/>
          <a:chOff x="0" y="0"/>
          <a:chExt cx="0" cy="0"/>
        </a:xfrm>
      </p:grpSpPr>
      <p:sp>
        <p:nvSpPr>
          <p:cNvPr id="94" name="Google Shape;94;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5" name="Google Shape;95;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3"/>
        <p:cNvGrpSpPr/>
        <p:nvPr/>
      </p:nvGrpSpPr>
      <p:grpSpPr>
        <a:xfrm>
          <a:off x="0" y="0"/>
          <a:ext cx="0" cy="0"/>
          <a:chOff x="0" y="0"/>
          <a:chExt cx="0" cy="0"/>
        </a:xfrm>
      </p:grpSpPr>
      <p:sp>
        <p:nvSpPr>
          <p:cNvPr id="94" name="Google Shape;94;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5" name="Google Shape;95;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3"/>
        <p:cNvGrpSpPr/>
        <p:nvPr/>
      </p:nvGrpSpPr>
      <p:grpSpPr>
        <a:xfrm>
          <a:off x="0" y="0"/>
          <a:ext cx="0" cy="0"/>
          <a:chOff x="0" y="0"/>
          <a:chExt cx="0" cy="0"/>
        </a:xfrm>
      </p:grpSpPr>
      <p:sp>
        <p:nvSpPr>
          <p:cNvPr id="94" name="Google Shape;94;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5" name="Google Shape;95;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3"/>
        <p:cNvGrpSpPr/>
        <p:nvPr/>
      </p:nvGrpSpPr>
      <p:grpSpPr>
        <a:xfrm>
          <a:off x="0" y="0"/>
          <a:ext cx="0" cy="0"/>
          <a:chOff x="0" y="0"/>
          <a:chExt cx="0" cy="0"/>
        </a:xfrm>
      </p:grpSpPr>
      <p:sp>
        <p:nvSpPr>
          <p:cNvPr id="94" name="Google Shape;94;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5" name="Google Shape;95;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3"/>
        <p:cNvGrpSpPr/>
        <p:nvPr/>
      </p:nvGrpSpPr>
      <p:grpSpPr>
        <a:xfrm>
          <a:off x="0" y="0"/>
          <a:ext cx="0" cy="0"/>
          <a:chOff x="0" y="0"/>
          <a:chExt cx="0" cy="0"/>
        </a:xfrm>
      </p:grpSpPr>
      <p:sp>
        <p:nvSpPr>
          <p:cNvPr id="94" name="Google Shape;94;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5" name="Google Shape;95;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3"/>
        <p:cNvGrpSpPr/>
        <p:nvPr/>
      </p:nvGrpSpPr>
      <p:grpSpPr>
        <a:xfrm>
          <a:off x="0" y="0"/>
          <a:ext cx="0" cy="0"/>
          <a:chOff x="0" y="0"/>
          <a:chExt cx="0" cy="0"/>
        </a:xfrm>
      </p:grpSpPr>
      <p:sp>
        <p:nvSpPr>
          <p:cNvPr id="94" name="Google Shape;94;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5" name="Google Shape;95;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3"/>
        <p:cNvGrpSpPr/>
        <p:nvPr/>
      </p:nvGrpSpPr>
      <p:grpSpPr>
        <a:xfrm>
          <a:off x="0" y="0"/>
          <a:ext cx="0" cy="0"/>
          <a:chOff x="0" y="0"/>
          <a:chExt cx="0" cy="0"/>
        </a:xfrm>
      </p:grpSpPr>
      <p:sp>
        <p:nvSpPr>
          <p:cNvPr id="94" name="Google Shape;94;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5" name="Google Shape;95;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3"/>
        <p:cNvGrpSpPr/>
        <p:nvPr/>
      </p:nvGrpSpPr>
      <p:grpSpPr>
        <a:xfrm>
          <a:off x="0" y="0"/>
          <a:ext cx="0" cy="0"/>
          <a:chOff x="0" y="0"/>
          <a:chExt cx="0" cy="0"/>
        </a:xfrm>
      </p:grpSpPr>
      <p:sp>
        <p:nvSpPr>
          <p:cNvPr id="94" name="Google Shape;94;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5" name="Google Shape;95;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3"/>
        <p:cNvGrpSpPr/>
        <p:nvPr/>
      </p:nvGrpSpPr>
      <p:grpSpPr>
        <a:xfrm>
          <a:off x="0" y="0"/>
          <a:ext cx="0" cy="0"/>
          <a:chOff x="0" y="0"/>
          <a:chExt cx="0" cy="0"/>
        </a:xfrm>
      </p:grpSpPr>
      <p:sp>
        <p:nvSpPr>
          <p:cNvPr id="94" name="Google Shape;94;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5" name="Google Shape;95;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3"/>
        <p:cNvGrpSpPr/>
        <p:nvPr/>
      </p:nvGrpSpPr>
      <p:grpSpPr>
        <a:xfrm>
          <a:off x="0" y="0"/>
          <a:ext cx="0" cy="0"/>
          <a:chOff x="0" y="0"/>
          <a:chExt cx="0" cy="0"/>
        </a:xfrm>
      </p:grpSpPr>
      <p:sp>
        <p:nvSpPr>
          <p:cNvPr id="94" name="Google Shape;94;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5" name="Google Shape;95;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9"/>
        <p:cNvGrpSpPr/>
        <p:nvPr/>
      </p:nvGrpSpPr>
      <p:grpSpPr>
        <a:xfrm>
          <a:off x="0" y="0"/>
          <a:ext cx="0" cy="0"/>
          <a:chOff x="0" y="0"/>
          <a:chExt cx="0" cy="0"/>
        </a:xfrm>
      </p:grpSpPr>
      <p:sp>
        <p:nvSpPr>
          <p:cNvPr id="180" name="Google Shape;180;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81" name="Google Shape;181;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5"/>
        <p:cNvGrpSpPr/>
        <p:nvPr/>
      </p:nvGrpSpPr>
      <p:grpSpPr>
        <a:xfrm>
          <a:off x="0" y="0"/>
          <a:ext cx="0" cy="0"/>
          <a:chOff x="0" y="0"/>
          <a:chExt cx="0" cy="0"/>
        </a:xfrm>
      </p:grpSpPr>
      <p:sp>
        <p:nvSpPr>
          <p:cNvPr id="16" name="Google Shape;16;p2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21"/>
        <p:cNvGrpSpPr/>
        <p:nvPr/>
      </p:nvGrpSpPr>
      <p:grpSpPr>
        <a:xfrm>
          <a:off x="0" y="0"/>
          <a:ext cx="0" cy="0"/>
          <a:chOff x="0" y="0"/>
          <a:chExt cx="0" cy="0"/>
        </a:xfrm>
      </p:grpSpPr>
      <p:sp>
        <p:nvSpPr>
          <p:cNvPr id="22" name="Google Shape;22;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4" name="Google Shape;24;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7"/>
        <p:cNvGrpSpPr/>
        <p:nvPr/>
      </p:nvGrpSpPr>
      <p:grpSpPr>
        <a:xfrm>
          <a:off x="0" y="0"/>
          <a:ext cx="0" cy="0"/>
          <a:chOff x="0" y="0"/>
          <a:chExt cx="0" cy="0"/>
        </a:xfrm>
      </p:grpSpPr>
      <p:sp>
        <p:nvSpPr>
          <p:cNvPr id="28" name="Google Shape;28;p2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3"/>
        <p:cNvGrpSpPr/>
        <p:nvPr/>
      </p:nvGrpSpPr>
      <p:grpSpPr>
        <a:xfrm>
          <a:off x="0" y="0"/>
          <a:ext cx="0" cy="0"/>
          <a:chOff x="0" y="0"/>
          <a:chExt cx="0" cy="0"/>
        </a:xfrm>
      </p:grpSpPr>
      <p:sp>
        <p:nvSpPr>
          <p:cNvPr id="34" name="Google Shape;34;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6" name="Google Shape;36;p2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7" name="Google Shape;37;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40"/>
        <p:cNvGrpSpPr/>
        <p:nvPr/>
      </p:nvGrpSpPr>
      <p:grpSpPr>
        <a:xfrm>
          <a:off x="0" y="0"/>
          <a:ext cx="0" cy="0"/>
          <a:chOff x="0" y="0"/>
          <a:chExt cx="0" cy="0"/>
        </a:xfrm>
      </p:grpSpPr>
      <p:sp>
        <p:nvSpPr>
          <p:cNvPr id="41" name="Google Shape;41;p2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3" name="Google Shape;43;p2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4" name="Google Shape;44;p2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5" name="Google Shape;45;p2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6" name="Google Shape;46;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9"/>
        <p:cNvGrpSpPr/>
        <p:nvPr/>
      </p:nvGrpSpPr>
      <p:grpSpPr>
        <a:xfrm>
          <a:off x="0" y="0"/>
          <a:ext cx="0" cy="0"/>
          <a:chOff x="0" y="0"/>
          <a:chExt cx="0" cy="0"/>
        </a:xfrm>
      </p:grpSpPr>
      <p:sp>
        <p:nvSpPr>
          <p:cNvPr id="50" name="Google Shape;50;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4"/>
        <p:cNvGrpSpPr/>
        <p:nvPr/>
      </p:nvGrpSpPr>
      <p:grpSpPr>
        <a:xfrm>
          <a:off x="0" y="0"/>
          <a:ext cx="0" cy="0"/>
          <a:chOff x="0" y="0"/>
          <a:chExt cx="0" cy="0"/>
        </a:xfrm>
      </p:grpSpPr>
      <p:sp>
        <p:nvSpPr>
          <p:cNvPr id="55" name="Google Shape;55;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8"/>
        <p:cNvGrpSpPr/>
        <p:nvPr/>
      </p:nvGrpSpPr>
      <p:grpSpPr>
        <a:xfrm>
          <a:off x="0" y="0"/>
          <a:ext cx="0" cy="0"/>
          <a:chOff x="0" y="0"/>
          <a:chExt cx="0" cy="0"/>
        </a:xfrm>
      </p:grpSpPr>
      <p:sp>
        <p:nvSpPr>
          <p:cNvPr id="59" name="Google Shape;59;p2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1" name="Google Shape;61;p2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2" name="Google Shape;62;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5"/>
        <p:cNvGrpSpPr/>
        <p:nvPr/>
      </p:nvGrpSpPr>
      <p:grpSpPr>
        <a:xfrm>
          <a:off x="0" y="0"/>
          <a:ext cx="0" cy="0"/>
          <a:chOff x="0" y="0"/>
          <a:chExt cx="0" cy="0"/>
        </a:xfrm>
      </p:grpSpPr>
      <p:sp>
        <p:nvSpPr>
          <p:cNvPr id="66" name="Google Shape;66;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9"/>
          <p:cNvSpPr>
            <a:spLocks noGrp="1"/>
          </p:cNvSpPr>
          <p:nvPr>
            <p:ph type="pic" idx="2"/>
          </p:nvPr>
        </p:nvSpPr>
        <p:spPr>
          <a:xfrm>
            <a:off x="5183188" y="987425"/>
            <a:ext cx="6172200" cy="4873625"/>
          </a:xfrm>
          <a:prstGeom prst="rect">
            <a:avLst/>
          </a:prstGeom>
          <a:noFill/>
          <a:ln>
            <a:noFill/>
          </a:ln>
        </p:spPr>
      </p:sp>
      <p:sp>
        <p:nvSpPr>
          <p:cNvPr id="68" name="Google Shape;68;p2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9" name="Google Shape;69;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2"/>
        <p:cNvGrpSpPr/>
        <p:nvPr/>
      </p:nvGrpSpPr>
      <p:grpSpPr>
        <a:xfrm>
          <a:off x="0" y="0"/>
          <a:ext cx="0" cy="0"/>
          <a:chOff x="0" y="0"/>
          <a:chExt cx="0" cy="0"/>
        </a:xfrm>
      </p:grpSpPr>
      <p:sp>
        <p:nvSpPr>
          <p:cNvPr id="73" name="Google Shape;73;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5" name="Google Shape;7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8"/>
        <p:cNvGrpSpPr/>
        <p:nvPr/>
      </p:nvGrpSpPr>
      <p:grpSpPr>
        <a:xfrm>
          <a:off x="0" y="0"/>
          <a:ext cx="0" cy="0"/>
          <a:chOff x="0" y="0"/>
          <a:chExt cx="0" cy="0"/>
        </a:xfrm>
      </p:grpSpPr>
      <p:sp>
        <p:nvSpPr>
          <p:cNvPr id="79" name="Google Shape;79;p3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1" name="Google Shape;8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2.xml"/><Relationship Id="rId2" Type="http://schemas.openxmlformats.org/officeDocument/2006/relationships/image" Target="../media/image6.jpeg"/><Relationship Id="rId1" Type="http://schemas.openxmlformats.org/officeDocument/2006/relationships/image" Target="../media/image2.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2.jpe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2.xml"/><Relationship Id="rId2" Type="http://schemas.openxmlformats.org/officeDocument/2006/relationships/image" Target="../media/image8.jpeg"/><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panose="020F0502020204030204"/>
              <a:buNone/>
            </a:pPr>
          </a:p>
        </p:txBody>
      </p:sp>
      <p:sp>
        <p:nvSpPr>
          <p:cNvPr id="89" name="Google Shape;89;p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p>
        </p:txBody>
      </p:sp>
      <p:pic>
        <p:nvPicPr>
          <p:cNvPr id="90" name="Google Shape;90;p1"/>
          <p:cNvPicPr preferRelativeResize="0"/>
          <p:nvPr/>
        </p:nvPicPr>
        <p:blipFill rotWithShape="1">
          <a:blip r:embed="rId1"/>
          <a:srcRect/>
          <a:stretch>
            <a:fillRect/>
          </a:stretch>
        </p:blipFill>
        <p:spPr>
          <a:xfrm>
            <a:off x="1" y="0"/>
            <a:ext cx="12192000" cy="6858000"/>
          </a:xfrm>
          <a:prstGeom prst="rect">
            <a:avLst/>
          </a:prstGeom>
          <a:noFill/>
          <a:ln>
            <a:noFill/>
          </a:ln>
        </p:spPr>
      </p:pic>
      <p:sp>
        <p:nvSpPr>
          <p:cNvPr id="91" name="Google Shape;91;p1"/>
          <p:cNvSpPr txBox="1"/>
          <p:nvPr/>
        </p:nvSpPr>
        <p:spPr>
          <a:xfrm>
            <a:off x="766010" y="2684761"/>
            <a:ext cx="10659969" cy="1938952"/>
          </a:xfrm>
          <a:prstGeom prst="rect">
            <a:avLst/>
          </a:prstGeom>
          <a:noFill/>
          <a:ln>
            <a:noFill/>
          </a:ln>
        </p:spPr>
        <p:txBody>
          <a:bodyPr spcFirstLastPara="1" wrap="square" lIns="91425" tIns="45700" rIns="91425" bIns="45700" anchor="t" anchorCtr="0">
            <a:spAutoFit/>
          </a:bodyPr>
          <a:lstStyle/>
          <a:p>
            <a:pPr lvl="0" algn="ctr">
              <a:buSzPts val="7200"/>
            </a:pPr>
            <a:r>
              <a:rPr lang="en-US" sz="6000" b="1" dirty="0" smtClean="0">
                <a:solidFill>
                  <a:srgbClr val="FF0000"/>
                </a:solidFill>
                <a:latin typeface="Calibri" panose="020F0502020204030204"/>
                <a:ea typeface="Calibri" panose="020F0502020204030204"/>
                <a:cs typeface="Calibri" panose="020F0502020204030204"/>
                <a:sym typeface="Calibri" panose="020F0502020204030204"/>
              </a:rPr>
              <a:t>Introduction </a:t>
            </a:r>
            <a:r>
              <a:rPr lang="en-US" sz="6000" b="1" dirty="0">
                <a:solidFill>
                  <a:srgbClr val="FF0000"/>
                </a:solidFill>
                <a:latin typeface="Calibri" panose="020F0502020204030204"/>
                <a:ea typeface="Calibri" panose="020F0502020204030204"/>
                <a:cs typeface="Calibri" panose="020F0502020204030204"/>
                <a:sym typeface="Calibri" panose="020F0502020204030204"/>
              </a:rPr>
              <a:t>to </a:t>
            </a:r>
            <a:endParaRPr lang="en-US" sz="6000" b="1" dirty="0" smtClean="0">
              <a:solidFill>
                <a:srgbClr val="FF0000"/>
              </a:solidFill>
              <a:latin typeface="Calibri" panose="020F0502020204030204"/>
              <a:ea typeface="Calibri" panose="020F0502020204030204"/>
              <a:cs typeface="Calibri" panose="020F0502020204030204"/>
              <a:sym typeface="Calibri" panose="020F0502020204030204"/>
            </a:endParaRPr>
          </a:p>
          <a:p>
            <a:pPr lvl="0" algn="ctr">
              <a:buSzPts val="7200"/>
            </a:pPr>
            <a:r>
              <a:rPr lang="en-US" sz="6000" b="1" dirty="0" smtClean="0">
                <a:solidFill>
                  <a:srgbClr val="FF0000"/>
                </a:solidFill>
                <a:latin typeface="Calibri" panose="020F0502020204030204"/>
                <a:ea typeface="Calibri" panose="020F0502020204030204"/>
                <a:cs typeface="Calibri" panose="020F0502020204030204"/>
                <a:sym typeface="Calibri" panose="020F0502020204030204"/>
              </a:rPr>
              <a:t>SUPPLY </a:t>
            </a:r>
            <a:r>
              <a:rPr lang="en-US" sz="6000" b="1" dirty="0">
                <a:solidFill>
                  <a:srgbClr val="FF0000"/>
                </a:solidFill>
                <a:latin typeface="Calibri" panose="020F0502020204030204"/>
                <a:ea typeface="Calibri" panose="020F0502020204030204"/>
                <a:cs typeface="Calibri" panose="020F0502020204030204"/>
                <a:sym typeface="Calibri" panose="020F0502020204030204"/>
              </a:rPr>
              <a:t>CHAIN </a:t>
            </a:r>
            <a:r>
              <a:rPr lang="en-US" sz="6000" b="1" dirty="0" smtClean="0">
                <a:solidFill>
                  <a:srgbClr val="FF0000"/>
                </a:solidFill>
                <a:latin typeface="Calibri" panose="020F0502020204030204"/>
                <a:ea typeface="Calibri" panose="020F0502020204030204"/>
                <a:cs typeface="Calibri" panose="020F0502020204030204"/>
                <a:sym typeface="Calibri" panose="020F0502020204030204"/>
              </a:rPr>
              <a:t>MANAGEMENT</a:t>
            </a:r>
            <a:endParaRPr sz="6000" b="1" i="0" u="none" strike="noStrike" cap="none" dirty="0">
              <a:solidFill>
                <a:srgbClr val="000000"/>
              </a:solidFill>
              <a:sym typeface="Arial" panose="020B0604020202020204"/>
            </a:endParaRPr>
          </a:p>
        </p:txBody>
      </p:sp>
      <p:sp>
        <p:nvSpPr>
          <p:cNvPr id="92" name="Google Shape;92;p1"/>
          <p:cNvSpPr txBox="1"/>
          <p:nvPr/>
        </p:nvSpPr>
        <p:spPr>
          <a:xfrm>
            <a:off x="3893758" y="5523070"/>
            <a:ext cx="4404475" cy="55399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000"/>
              <a:buFont typeface="Arial" panose="020B0604020202020204"/>
              <a:buNone/>
            </a:pPr>
            <a:r>
              <a:rPr lang="en-US" sz="3000" b="1" i="0" u="none" strike="noStrike" cap="none" dirty="0">
                <a:solidFill>
                  <a:schemeClr val="dk1"/>
                </a:solidFill>
                <a:latin typeface="Calibri" panose="020F0502020204030204"/>
                <a:ea typeface="Calibri" panose="020F0502020204030204"/>
                <a:cs typeface="Calibri" panose="020F0502020204030204"/>
                <a:sym typeface="Calibri" panose="020F0502020204030204"/>
              </a:rPr>
              <a:t>HAROLD B. LLAGONO, MIT</a:t>
            </a:r>
            <a:endParaRPr sz="3000" b="1"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panose="020F0502020204030204"/>
              <a:buNone/>
            </a:pPr>
          </a:p>
        </p:txBody>
      </p:sp>
      <p:pic>
        <p:nvPicPr>
          <p:cNvPr id="98" name="Google Shape;98;p32"/>
          <p:cNvPicPr preferRelativeResize="0">
            <a:picLocks noGrp="1"/>
          </p:cNvPicPr>
          <p:nvPr>
            <p:ph type="body" idx="1"/>
          </p:nvPr>
        </p:nvPicPr>
        <p:blipFill rotWithShape="1">
          <a:blip r:embed="rId1"/>
          <a:srcRect/>
          <a:stretch>
            <a:fillRect/>
          </a:stretch>
        </p:blipFill>
        <p:spPr>
          <a:xfrm>
            <a:off x="0" y="0"/>
            <a:ext cx="12192000" cy="6858000"/>
          </a:xfrm>
          <a:prstGeom prst="rect">
            <a:avLst/>
          </a:prstGeom>
          <a:noFill/>
          <a:ln>
            <a:noFill/>
          </a:ln>
        </p:spPr>
      </p:pic>
      <p:sp>
        <p:nvSpPr>
          <p:cNvPr id="99" name="Google Shape;99;p32"/>
          <p:cNvSpPr txBox="1"/>
          <p:nvPr/>
        </p:nvSpPr>
        <p:spPr>
          <a:xfrm>
            <a:off x="159025" y="251792"/>
            <a:ext cx="11736801" cy="83095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4800" b="1" dirty="0" smtClean="0"/>
              <a:t>What is Supply Chain Management? </a:t>
            </a:r>
            <a:endParaRPr sz="4800" b="0" i="0" u="none" strike="noStrike" cap="none" dirty="0">
              <a:solidFill>
                <a:srgbClr val="000000"/>
              </a:solidFill>
              <a:sym typeface="Arial" panose="020B0604020202020204"/>
            </a:endParaRPr>
          </a:p>
        </p:txBody>
      </p:sp>
      <p:sp>
        <p:nvSpPr>
          <p:cNvPr id="100" name="Google Shape;100;p32"/>
          <p:cNvSpPr/>
          <p:nvPr/>
        </p:nvSpPr>
        <p:spPr>
          <a:xfrm>
            <a:off x="381593" y="1804021"/>
            <a:ext cx="11428814" cy="3046948"/>
          </a:xfrm>
          <a:prstGeom prst="rect">
            <a:avLst/>
          </a:prstGeom>
          <a:noFill/>
          <a:ln>
            <a:noFill/>
          </a:ln>
        </p:spPr>
        <p:txBody>
          <a:bodyPr spcFirstLastPara="1" wrap="square" lIns="91425" tIns="45700" rIns="91425" bIns="45700" anchor="t" anchorCtr="0">
            <a:spAutoFit/>
          </a:bodyPr>
          <a:lstStyle/>
          <a:p>
            <a:pPr marL="457200" indent="-457200">
              <a:buFontTx/>
              <a:buChar char="-"/>
            </a:pPr>
            <a:r>
              <a:rPr lang="en-US" sz="3200" dirty="0" smtClean="0"/>
              <a:t>can be defined as the </a:t>
            </a:r>
            <a:r>
              <a:rPr lang="en-US" sz="3200" dirty="0" smtClean="0">
                <a:highlight>
                  <a:srgbClr val="FFFF00"/>
                </a:highlight>
              </a:rPr>
              <a:t>management of</a:t>
            </a:r>
            <a:r>
              <a:rPr lang="en-US" sz="3200" dirty="0" smtClean="0">
                <a:highlight>
                  <a:srgbClr val="FFFF00"/>
                </a:highlight>
              </a:rPr>
              <a:t> flow of products</a:t>
            </a:r>
            <a:r>
              <a:rPr lang="en-US" sz="3200" dirty="0" smtClean="0"/>
              <a:t> and services, which begins from the origin of products and ends at the product’s consumption. </a:t>
            </a:r>
            <a:endParaRPr lang="en-US" sz="3200" dirty="0" smtClean="0"/>
          </a:p>
          <a:p>
            <a:pPr marL="457200" indent="-457200">
              <a:buFontTx/>
              <a:buChar char="-"/>
            </a:pPr>
            <a:r>
              <a:rPr lang="en-US" sz="3200" dirty="0" smtClean="0"/>
              <a:t>It comprises movement and storage of raw materials that are involved in work in progress, inventory and fully furnished goods.</a:t>
            </a:r>
            <a:endParaRPr lang="en-US" sz="3200"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
                                            <p:txEl>
                                              <p:pRg st="0" end="0"/>
                                            </p:txEl>
                                          </p:spTgt>
                                        </p:tgtEl>
                                        <p:attrNameLst>
                                          <p:attrName>style.visibility</p:attrName>
                                        </p:attrNameLst>
                                      </p:cBhvr>
                                      <p:to>
                                        <p:strVal val="visible"/>
                                      </p:to>
                                    </p:set>
                                    <p:animEffect transition="in" filter="fade">
                                      <p:cBhvr>
                                        <p:cTn id="7" dur="500"/>
                                        <p:tgtEl>
                                          <p:spTgt spid="10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0">
                                            <p:txEl>
                                              <p:pRg st="1" end="1"/>
                                            </p:txEl>
                                          </p:spTgt>
                                        </p:tgtEl>
                                        <p:attrNameLst>
                                          <p:attrName>style.visibility</p:attrName>
                                        </p:attrNameLst>
                                      </p:cBhvr>
                                      <p:to>
                                        <p:strVal val="visible"/>
                                      </p:to>
                                    </p:set>
                                    <p:animEffect transition="in" filter="fade">
                                      <p:cBhvr>
                                        <p:cTn id="12" dur="500"/>
                                        <p:tgtEl>
                                          <p:spTgt spid="10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panose="020F0502020204030204"/>
              <a:buNone/>
            </a:pPr>
          </a:p>
        </p:txBody>
      </p:sp>
      <p:pic>
        <p:nvPicPr>
          <p:cNvPr id="98" name="Google Shape;98;p32"/>
          <p:cNvPicPr preferRelativeResize="0">
            <a:picLocks noGrp="1"/>
          </p:cNvPicPr>
          <p:nvPr>
            <p:ph type="body" idx="1"/>
          </p:nvPr>
        </p:nvPicPr>
        <p:blipFill rotWithShape="1">
          <a:blip r:embed="rId1"/>
          <a:srcRect/>
          <a:stretch>
            <a:fillRect/>
          </a:stretch>
        </p:blipFill>
        <p:spPr>
          <a:xfrm>
            <a:off x="0" y="0"/>
            <a:ext cx="12192000" cy="6858000"/>
          </a:xfrm>
          <a:prstGeom prst="rect">
            <a:avLst/>
          </a:prstGeom>
          <a:noFill/>
          <a:ln>
            <a:noFill/>
          </a:ln>
        </p:spPr>
      </p:pic>
      <p:sp>
        <p:nvSpPr>
          <p:cNvPr id="99" name="Google Shape;99;p32"/>
          <p:cNvSpPr txBox="1"/>
          <p:nvPr/>
        </p:nvSpPr>
        <p:spPr>
          <a:xfrm>
            <a:off x="159025" y="251792"/>
            <a:ext cx="11736801" cy="83095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4800" b="1" dirty="0" smtClean="0"/>
              <a:t>Objectives of SCM</a:t>
            </a:r>
            <a:endParaRPr sz="4800" b="0" i="0" u="none" strike="noStrike" cap="none" dirty="0">
              <a:solidFill>
                <a:srgbClr val="000000"/>
              </a:solidFill>
              <a:sym typeface="Arial" panose="020B0604020202020204"/>
            </a:endParaRPr>
          </a:p>
        </p:txBody>
      </p:sp>
      <p:sp>
        <p:nvSpPr>
          <p:cNvPr id="100" name="Google Shape;100;p32"/>
          <p:cNvSpPr/>
          <p:nvPr/>
        </p:nvSpPr>
        <p:spPr>
          <a:xfrm>
            <a:off x="159025" y="1196081"/>
            <a:ext cx="11428814" cy="2554505"/>
          </a:xfrm>
          <a:prstGeom prst="rect">
            <a:avLst/>
          </a:prstGeom>
          <a:noFill/>
          <a:ln>
            <a:noFill/>
          </a:ln>
        </p:spPr>
        <p:txBody>
          <a:bodyPr spcFirstLastPara="1" wrap="square" lIns="91425" tIns="45700" rIns="91425" bIns="45700" anchor="t" anchorCtr="0">
            <a:spAutoFit/>
          </a:bodyPr>
          <a:lstStyle/>
          <a:p>
            <a:pPr marL="457200" indent="-457200">
              <a:buFontTx/>
              <a:buChar char="-"/>
            </a:pPr>
            <a:r>
              <a:rPr lang="en-US" sz="3200" dirty="0" smtClean="0"/>
              <a:t>is </a:t>
            </a:r>
            <a:r>
              <a:rPr lang="en-US" sz="3200" dirty="0"/>
              <a:t>to </a:t>
            </a:r>
            <a:r>
              <a:rPr lang="en-US" sz="3200" dirty="0">
                <a:highlight>
                  <a:srgbClr val="FFFF00"/>
                </a:highlight>
              </a:rPr>
              <a:t>monitor and relate production, distribution, and shipment of products and services</a:t>
            </a:r>
            <a:r>
              <a:rPr lang="en-US" sz="3200" dirty="0"/>
              <a:t>. This can be done by companies with a very good and tight hold over internal inventories, production, distribution, internal productions and sales.</a:t>
            </a:r>
            <a:endParaRPr 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
                                            <p:txEl>
                                              <p:pRg st="0" end="0"/>
                                            </p:txEl>
                                          </p:spTgt>
                                        </p:tgtEl>
                                        <p:attrNameLst>
                                          <p:attrName>style.visibility</p:attrName>
                                        </p:attrNameLst>
                                      </p:cBhvr>
                                      <p:to>
                                        <p:strVal val="visible"/>
                                      </p:to>
                                    </p:set>
                                    <p:animEffect transition="in" filter="fade">
                                      <p:cBhvr>
                                        <p:cTn id="7" dur="500"/>
                                        <p:tgtEl>
                                          <p:spTgt spid="10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panose="020F0502020204030204"/>
              <a:buNone/>
            </a:pPr>
          </a:p>
        </p:txBody>
      </p:sp>
      <p:pic>
        <p:nvPicPr>
          <p:cNvPr id="98" name="Google Shape;98;p32"/>
          <p:cNvPicPr preferRelativeResize="0">
            <a:picLocks noGrp="1"/>
          </p:cNvPicPr>
          <p:nvPr>
            <p:ph type="body" idx="1"/>
          </p:nvPr>
        </p:nvPicPr>
        <p:blipFill rotWithShape="1">
          <a:blip r:embed="rId1"/>
          <a:srcRect/>
          <a:stretch>
            <a:fillRect/>
          </a:stretch>
        </p:blipFill>
        <p:spPr>
          <a:xfrm>
            <a:off x="0" y="0"/>
            <a:ext cx="12192000" cy="6858000"/>
          </a:xfrm>
          <a:prstGeom prst="rect">
            <a:avLst/>
          </a:prstGeom>
          <a:noFill/>
          <a:ln>
            <a:noFill/>
          </a:ln>
        </p:spPr>
      </p:pic>
      <p:sp>
        <p:nvSpPr>
          <p:cNvPr id="99" name="Google Shape;99;p32"/>
          <p:cNvSpPr txBox="1"/>
          <p:nvPr/>
        </p:nvSpPr>
        <p:spPr>
          <a:xfrm>
            <a:off x="159025" y="251792"/>
            <a:ext cx="11736801" cy="830956"/>
          </a:xfrm>
          <a:prstGeom prst="rect">
            <a:avLst/>
          </a:prstGeom>
          <a:noFill/>
          <a:ln>
            <a:noFill/>
          </a:ln>
        </p:spPr>
        <p:txBody>
          <a:bodyPr spcFirstLastPara="1" wrap="square" lIns="91425" tIns="45700" rIns="91425" bIns="45700" anchor="t" anchorCtr="0">
            <a:spAutoFit/>
          </a:bodyPr>
          <a:lstStyle/>
          <a:p>
            <a:pPr lvl="0"/>
            <a:r>
              <a:rPr lang="en-US" sz="4800" b="1" dirty="0"/>
              <a:t>Objectives of </a:t>
            </a:r>
            <a:r>
              <a:rPr lang="en-US" sz="4800" b="1" dirty="0" smtClean="0"/>
              <a:t>SCM continue</a:t>
            </a:r>
            <a:endParaRPr lang="en-US" sz="4800" dirty="0"/>
          </a:p>
        </p:txBody>
      </p:sp>
      <p:pic>
        <p:nvPicPr>
          <p:cNvPr id="1026" name="Picture 2" descr="SC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44467" y="1204663"/>
            <a:ext cx="8151359" cy="471420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159025" y="1334540"/>
            <a:ext cx="3448293" cy="5016758"/>
          </a:xfrm>
          <a:prstGeom prst="rect">
            <a:avLst/>
          </a:prstGeom>
          <a:noFill/>
        </p:spPr>
        <p:txBody>
          <a:bodyPr wrap="square" rtlCol="0">
            <a:spAutoFit/>
          </a:bodyPr>
          <a:lstStyle/>
          <a:p>
            <a:pPr lvl="0"/>
            <a:r>
              <a:rPr lang="en-US" sz="2000" dirty="0">
                <a:solidFill>
                  <a:schemeClr val="dk1"/>
                </a:solidFill>
                <a:latin typeface="Calibri" panose="020F0502020204030204"/>
                <a:ea typeface="Calibri" panose="020F0502020204030204"/>
                <a:cs typeface="Calibri" panose="020F0502020204030204"/>
                <a:sym typeface="Calibri" panose="020F0502020204030204"/>
              </a:rPr>
              <a:t>In the figure, we can see the flow of goods, services and </a:t>
            </a:r>
            <a:r>
              <a:rPr lang="en-US" sz="2000" dirty="0" smtClean="0">
                <a:solidFill>
                  <a:schemeClr val="dk1"/>
                </a:solidFill>
                <a:latin typeface="Calibri" panose="020F0502020204030204"/>
                <a:ea typeface="Calibri" panose="020F0502020204030204"/>
                <a:cs typeface="Calibri" panose="020F0502020204030204"/>
                <a:sym typeface="Calibri" panose="020F0502020204030204"/>
              </a:rPr>
              <a:t>information from the producer to the consumer. The picture depicts </a:t>
            </a:r>
            <a:r>
              <a:rPr lang="en-US" sz="2000" dirty="0">
                <a:solidFill>
                  <a:schemeClr val="dk1"/>
                </a:solidFill>
                <a:latin typeface="Calibri" panose="020F0502020204030204"/>
                <a:ea typeface="Calibri" panose="020F0502020204030204"/>
                <a:cs typeface="Calibri" panose="020F0502020204030204"/>
                <a:sym typeface="Calibri" panose="020F0502020204030204"/>
              </a:rPr>
              <a:t>the movement of a product from the producer to the manufacturer, who forwards it to the distributor for shipment. The distributor in turn ships it to the wholesaler or retailer, who further distributes the products to various shops from where the customers can easily get the product.</a:t>
            </a:r>
            <a:endParaRPr lang="en-US" sz="2000" dirty="0"/>
          </a:p>
          <a:p>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panose="020F0502020204030204"/>
              <a:buNone/>
            </a:pPr>
          </a:p>
        </p:txBody>
      </p:sp>
      <p:pic>
        <p:nvPicPr>
          <p:cNvPr id="98" name="Google Shape;98;p32"/>
          <p:cNvPicPr preferRelativeResize="0">
            <a:picLocks noGrp="1"/>
          </p:cNvPicPr>
          <p:nvPr>
            <p:ph type="body" idx="1"/>
          </p:nvPr>
        </p:nvPicPr>
        <p:blipFill rotWithShape="1">
          <a:blip r:embed="rId1"/>
          <a:srcRect/>
          <a:stretch>
            <a:fillRect/>
          </a:stretch>
        </p:blipFill>
        <p:spPr>
          <a:xfrm>
            <a:off x="0" y="0"/>
            <a:ext cx="12192000" cy="6858000"/>
          </a:xfrm>
          <a:prstGeom prst="rect">
            <a:avLst/>
          </a:prstGeom>
          <a:noFill/>
          <a:ln>
            <a:noFill/>
          </a:ln>
        </p:spPr>
      </p:pic>
      <p:sp>
        <p:nvSpPr>
          <p:cNvPr id="99" name="Google Shape;99;p32"/>
          <p:cNvSpPr txBox="1"/>
          <p:nvPr/>
        </p:nvSpPr>
        <p:spPr>
          <a:xfrm>
            <a:off x="159025" y="251792"/>
            <a:ext cx="11736801" cy="830956"/>
          </a:xfrm>
          <a:prstGeom prst="rect">
            <a:avLst/>
          </a:prstGeom>
          <a:noFill/>
          <a:ln>
            <a:noFill/>
          </a:ln>
        </p:spPr>
        <p:txBody>
          <a:bodyPr spcFirstLastPara="1" wrap="square" lIns="91425" tIns="45700" rIns="91425" bIns="45700" anchor="t" anchorCtr="0">
            <a:spAutoFit/>
          </a:bodyPr>
          <a:lstStyle/>
          <a:p>
            <a:pPr lvl="0"/>
            <a:r>
              <a:rPr lang="en-US" sz="4800" b="1" dirty="0"/>
              <a:t>Objectives of SCM </a:t>
            </a:r>
            <a:r>
              <a:rPr lang="en-US" sz="4800" b="1" dirty="0" smtClean="0"/>
              <a:t>continue…</a:t>
            </a:r>
            <a:endParaRPr lang="en-US" sz="4800" dirty="0"/>
          </a:p>
        </p:txBody>
      </p:sp>
      <p:sp>
        <p:nvSpPr>
          <p:cNvPr id="100" name="Google Shape;100;p32"/>
          <p:cNvSpPr/>
          <p:nvPr/>
        </p:nvSpPr>
        <p:spPr>
          <a:xfrm>
            <a:off x="159024" y="1196081"/>
            <a:ext cx="11736801" cy="4524275"/>
          </a:xfrm>
          <a:prstGeom prst="rect">
            <a:avLst/>
          </a:prstGeom>
          <a:noFill/>
          <a:ln>
            <a:noFill/>
          </a:ln>
        </p:spPr>
        <p:txBody>
          <a:bodyPr spcFirstLastPara="1" wrap="square" lIns="91425" tIns="45700" rIns="91425" bIns="45700" anchor="t" anchorCtr="0">
            <a:spAutoFit/>
          </a:bodyPr>
          <a:lstStyle/>
          <a:p>
            <a:r>
              <a:rPr lang="en-US" sz="3200" dirty="0"/>
              <a:t>Supply chain management </a:t>
            </a:r>
            <a:r>
              <a:rPr lang="en-US" sz="3200" dirty="0">
                <a:highlight>
                  <a:srgbClr val="FFFF00"/>
                </a:highlight>
              </a:rPr>
              <a:t>basically merges the supply and demand management</a:t>
            </a:r>
            <a:r>
              <a:rPr lang="en-US" sz="3200" dirty="0"/>
              <a:t>. It uses different strategies and approaches to view the entire chain and work efficiently at each and every step involved in the chain. Every unit that participates in the process must aim to minimize the costs and help the companies to improve their long term performance, while also creating value for its stakeholders and customers. This process can also minimize the rates by eradicating the unnecessary expenses, movements and handling.</a:t>
            </a:r>
            <a:endParaRPr 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fade">
                                      <p:cBhvr>
                                        <p:cTn id="7" dur="5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panose="020F0502020204030204"/>
              <a:buNone/>
            </a:pPr>
          </a:p>
        </p:txBody>
      </p:sp>
      <p:pic>
        <p:nvPicPr>
          <p:cNvPr id="98" name="Google Shape;98;p32"/>
          <p:cNvPicPr preferRelativeResize="0">
            <a:picLocks noGrp="1"/>
          </p:cNvPicPr>
          <p:nvPr>
            <p:ph type="body" idx="1"/>
          </p:nvPr>
        </p:nvPicPr>
        <p:blipFill rotWithShape="1">
          <a:blip r:embed="rId1"/>
          <a:srcRect/>
          <a:stretch>
            <a:fillRect/>
          </a:stretch>
        </p:blipFill>
        <p:spPr>
          <a:xfrm>
            <a:off x="0" y="0"/>
            <a:ext cx="12192000" cy="6858000"/>
          </a:xfrm>
          <a:prstGeom prst="rect">
            <a:avLst/>
          </a:prstGeom>
          <a:noFill/>
          <a:ln>
            <a:noFill/>
          </a:ln>
        </p:spPr>
      </p:pic>
      <p:sp>
        <p:nvSpPr>
          <p:cNvPr id="99" name="Google Shape;99;p32"/>
          <p:cNvSpPr txBox="1"/>
          <p:nvPr/>
        </p:nvSpPr>
        <p:spPr>
          <a:xfrm>
            <a:off x="159025" y="251792"/>
            <a:ext cx="11736801" cy="769401"/>
          </a:xfrm>
          <a:prstGeom prst="rect">
            <a:avLst/>
          </a:prstGeom>
          <a:noFill/>
          <a:ln>
            <a:noFill/>
          </a:ln>
        </p:spPr>
        <p:txBody>
          <a:bodyPr spcFirstLastPara="1" wrap="square" lIns="91425" tIns="45700" rIns="91425" bIns="45700" anchor="t" anchorCtr="0">
            <a:spAutoFit/>
          </a:bodyPr>
          <a:lstStyle/>
          <a:p>
            <a:r>
              <a:rPr lang="en-US" sz="4400" b="1" dirty="0"/>
              <a:t>Supply Chain Management - Advantages</a:t>
            </a:r>
            <a:endParaRPr lang="en-US" sz="4400" b="1" dirty="0"/>
          </a:p>
        </p:txBody>
      </p:sp>
      <p:sp>
        <p:nvSpPr>
          <p:cNvPr id="100" name="Google Shape;100;p32"/>
          <p:cNvSpPr/>
          <p:nvPr/>
        </p:nvSpPr>
        <p:spPr>
          <a:xfrm>
            <a:off x="159024" y="1134526"/>
            <a:ext cx="11736801" cy="5355272"/>
          </a:xfrm>
          <a:prstGeom prst="rect">
            <a:avLst/>
          </a:prstGeom>
          <a:noFill/>
          <a:ln>
            <a:noFill/>
          </a:ln>
        </p:spPr>
        <p:txBody>
          <a:bodyPr spcFirstLastPara="1" wrap="square" lIns="91425" tIns="45700" rIns="91425" bIns="45700" anchor="t" anchorCtr="0">
            <a:spAutoFit/>
          </a:bodyPr>
          <a:lstStyle/>
          <a:p>
            <a:pPr algn="just"/>
            <a:r>
              <a:rPr lang="en-US" sz="1900" dirty="0"/>
              <a:t>In this era of globalization where companies compete to provide the best quality products to the customers and satisfy all their demands, supply chain management plays a very important role. All the companies are highly dependent on effective supply chain process</a:t>
            </a:r>
            <a:r>
              <a:rPr lang="en-US" sz="1900" dirty="0" smtClean="0"/>
              <a:t>.</a:t>
            </a:r>
            <a:endParaRPr lang="en-US" sz="1900" dirty="0" smtClean="0"/>
          </a:p>
          <a:p>
            <a:pPr algn="just"/>
            <a:endParaRPr lang="en-US" sz="1900" dirty="0" smtClean="0"/>
          </a:p>
          <a:p>
            <a:pPr algn="just"/>
            <a:r>
              <a:rPr lang="en-US" sz="1900" dirty="0" smtClean="0"/>
              <a:t>Major </a:t>
            </a:r>
            <a:r>
              <a:rPr lang="en-US" sz="1900" dirty="0"/>
              <a:t>advantages of supply chain. The </a:t>
            </a:r>
            <a:r>
              <a:rPr lang="en-US" sz="1900" b="1" dirty="0"/>
              <a:t>key benefits of supply chain management</a:t>
            </a:r>
            <a:r>
              <a:rPr lang="en-US" sz="1900" dirty="0"/>
              <a:t> are as </a:t>
            </a:r>
            <a:r>
              <a:rPr lang="en-US" sz="1900" dirty="0" smtClean="0"/>
              <a:t>follows:</a:t>
            </a:r>
            <a:endParaRPr lang="en-US" sz="1900" dirty="0" smtClean="0"/>
          </a:p>
          <a:p>
            <a:pPr algn="just"/>
            <a:endParaRPr lang="en-US" sz="1900" dirty="0" smtClean="0"/>
          </a:p>
          <a:p>
            <a:pPr marL="285750" lvl="2" indent="-285750" algn="just">
              <a:buFont typeface="Arial" panose="020B0604020202020204" pitchFamily="34" charset="0"/>
              <a:buChar char="•"/>
            </a:pPr>
            <a:r>
              <a:rPr lang="en-US" sz="1900" dirty="0" smtClean="0">
                <a:highlight>
                  <a:srgbClr val="FFFF00"/>
                </a:highlight>
              </a:rPr>
              <a:t>Develops better customer relationship and service.</a:t>
            </a:r>
            <a:endParaRPr lang="en-US" sz="1900" dirty="0" smtClean="0">
              <a:highlight>
                <a:srgbClr val="FFFF00"/>
              </a:highlight>
            </a:endParaRPr>
          </a:p>
          <a:p>
            <a:pPr marL="285750" lvl="1" indent="-285750" algn="just">
              <a:buFont typeface="Arial" panose="020B0604020202020204" pitchFamily="34" charset="0"/>
              <a:buChar char="•"/>
            </a:pPr>
            <a:r>
              <a:rPr lang="en-US" sz="1900" dirty="0" smtClean="0"/>
              <a:t>Creates better delivery mechanisms for products and services in demand with minimum delay.</a:t>
            </a:r>
            <a:endParaRPr lang="en-US" sz="1900" dirty="0" smtClean="0"/>
          </a:p>
          <a:p>
            <a:pPr marL="285750" lvl="1" indent="-285750" algn="just">
              <a:buFont typeface="Arial" panose="020B0604020202020204" pitchFamily="34" charset="0"/>
              <a:buChar char="•"/>
            </a:pPr>
            <a:r>
              <a:rPr lang="en-US" sz="1900" dirty="0" smtClean="0"/>
              <a:t>Improvises </a:t>
            </a:r>
            <a:r>
              <a:rPr lang="en-US" sz="1900" dirty="0"/>
              <a:t>productivity and business functions.</a:t>
            </a:r>
            <a:endParaRPr lang="en-US" sz="1900" dirty="0"/>
          </a:p>
          <a:p>
            <a:pPr marL="285750" lvl="1" indent="-285750" algn="just">
              <a:buFont typeface="Arial" panose="020B0604020202020204" pitchFamily="34" charset="0"/>
              <a:buChar char="•"/>
            </a:pPr>
            <a:r>
              <a:rPr lang="en-US" sz="1900" dirty="0"/>
              <a:t>Minimizes warehouse and transportation costs.</a:t>
            </a:r>
            <a:endParaRPr lang="en-US" sz="1900" dirty="0"/>
          </a:p>
          <a:p>
            <a:pPr marL="285750" lvl="1" indent="-285750" algn="just">
              <a:buFont typeface="Arial" panose="020B0604020202020204" pitchFamily="34" charset="0"/>
              <a:buChar char="•"/>
            </a:pPr>
            <a:r>
              <a:rPr lang="en-US" sz="1900" dirty="0"/>
              <a:t>Minimizes direct and indirect costs.</a:t>
            </a:r>
            <a:endParaRPr lang="en-US" sz="1900" dirty="0"/>
          </a:p>
          <a:p>
            <a:pPr marL="285750" lvl="1" indent="-285750" algn="just">
              <a:buFont typeface="Arial" panose="020B0604020202020204" pitchFamily="34" charset="0"/>
              <a:buChar char="•"/>
            </a:pPr>
            <a:r>
              <a:rPr lang="en-US" sz="1900" dirty="0"/>
              <a:t>Assists in achieving shipping of right products to the right place at the right time.</a:t>
            </a:r>
            <a:endParaRPr lang="en-US" sz="1900" dirty="0"/>
          </a:p>
          <a:p>
            <a:pPr marL="285750" lvl="1" indent="-285750" algn="just">
              <a:buFont typeface="Arial" panose="020B0604020202020204" pitchFamily="34" charset="0"/>
              <a:buChar char="•"/>
            </a:pPr>
            <a:r>
              <a:rPr lang="en-US" sz="1900" dirty="0"/>
              <a:t>Enhances inventory management, supporting the successful execution of just-in-time stock models.</a:t>
            </a:r>
            <a:endParaRPr lang="en-US" sz="1900" dirty="0"/>
          </a:p>
          <a:p>
            <a:pPr marL="285750" lvl="1" indent="-285750" algn="just">
              <a:buFont typeface="Arial" panose="020B0604020202020204" pitchFamily="34" charset="0"/>
              <a:buChar char="•"/>
            </a:pPr>
            <a:r>
              <a:rPr lang="en-US" sz="1900" dirty="0"/>
              <a:t>Assists companies in adapting to the challenges of globalization, economic upheaval, expanding consumer expectations, and related differences.</a:t>
            </a:r>
            <a:endParaRPr lang="en-US" sz="1900" dirty="0"/>
          </a:p>
          <a:p>
            <a:pPr marL="285750" lvl="1" indent="-285750" algn="just">
              <a:buFont typeface="Arial" panose="020B0604020202020204" pitchFamily="34" charset="0"/>
              <a:buChar char="•"/>
            </a:pPr>
            <a:r>
              <a:rPr lang="en-US" sz="1900" dirty="0"/>
              <a:t>Assists companies in minimizing waste, driving out costs, and achieving efficiencies throughout the supply chain process.</a:t>
            </a:r>
            <a:endParaRPr lang="en-US" sz="1900" dirty="0"/>
          </a:p>
          <a:p>
            <a:pPr algn="just"/>
            <a:endParaRPr lang="en-US" sz="1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
                                            <p:txEl>
                                              <p:pRg st="0" end="0"/>
                                            </p:txEl>
                                          </p:spTgt>
                                        </p:tgtEl>
                                        <p:attrNameLst>
                                          <p:attrName>style.visibility</p:attrName>
                                        </p:attrNameLst>
                                      </p:cBhvr>
                                      <p:to>
                                        <p:strVal val="visible"/>
                                      </p:to>
                                    </p:set>
                                    <p:animEffect transition="in" filter="fade">
                                      <p:cBhvr>
                                        <p:cTn id="7" dur="500"/>
                                        <p:tgtEl>
                                          <p:spTgt spid="10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0">
                                            <p:txEl>
                                              <p:pRg st="2" end="2"/>
                                            </p:txEl>
                                          </p:spTgt>
                                        </p:tgtEl>
                                        <p:attrNameLst>
                                          <p:attrName>style.visibility</p:attrName>
                                        </p:attrNameLst>
                                      </p:cBhvr>
                                      <p:to>
                                        <p:strVal val="visible"/>
                                      </p:to>
                                    </p:set>
                                    <p:animEffect transition="in" filter="fade">
                                      <p:cBhvr>
                                        <p:cTn id="12" dur="500"/>
                                        <p:tgtEl>
                                          <p:spTgt spid="10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0">
                                            <p:txEl>
                                              <p:pRg st="4" end="4"/>
                                            </p:txEl>
                                          </p:spTgt>
                                        </p:tgtEl>
                                        <p:attrNameLst>
                                          <p:attrName>style.visibility</p:attrName>
                                        </p:attrNameLst>
                                      </p:cBhvr>
                                      <p:to>
                                        <p:strVal val="visible"/>
                                      </p:to>
                                    </p:set>
                                    <p:animEffect transition="in" filter="fade">
                                      <p:cBhvr>
                                        <p:cTn id="17" dur="500"/>
                                        <p:tgtEl>
                                          <p:spTgt spid="100">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0">
                                            <p:txEl>
                                              <p:pRg st="5" end="5"/>
                                            </p:txEl>
                                          </p:spTgt>
                                        </p:tgtEl>
                                        <p:attrNameLst>
                                          <p:attrName>style.visibility</p:attrName>
                                        </p:attrNameLst>
                                      </p:cBhvr>
                                      <p:to>
                                        <p:strVal val="visible"/>
                                      </p:to>
                                    </p:set>
                                    <p:animEffect transition="in" filter="fade">
                                      <p:cBhvr>
                                        <p:cTn id="22" dur="500"/>
                                        <p:tgtEl>
                                          <p:spTgt spid="100">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0">
                                            <p:txEl>
                                              <p:pRg st="6" end="6"/>
                                            </p:txEl>
                                          </p:spTgt>
                                        </p:tgtEl>
                                        <p:attrNameLst>
                                          <p:attrName>style.visibility</p:attrName>
                                        </p:attrNameLst>
                                      </p:cBhvr>
                                      <p:to>
                                        <p:strVal val="visible"/>
                                      </p:to>
                                    </p:set>
                                    <p:animEffect transition="in" filter="fade">
                                      <p:cBhvr>
                                        <p:cTn id="27" dur="500"/>
                                        <p:tgtEl>
                                          <p:spTgt spid="100">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0">
                                            <p:txEl>
                                              <p:pRg st="7" end="7"/>
                                            </p:txEl>
                                          </p:spTgt>
                                        </p:tgtEl>
                                        <p:attrNameLst>
                                          <p:attrName>style.visibility</p:attrName>
                                        </p:attrNameLst>
                                      </p:cBhvr>
                                      <p:to>
                                        <p:strVal val="visible"/>
                                      </p:to>
                                    </p:set>
                                    <p:animEffect transition="in" filter="fade">
                                      <p:cBhvr>
                                        <p:cTn id="32" dur="500"/>
                                        <p:tgtEl>
                                          <p:spTgt spid="100">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0">
                                            <p:txEl>
                                              <p:pRg st="8" end="8"/>
                                            </p:txEl>
                                          </p:spTgt>
                                        </p:tgtEl>
                                        <p:attrNameLst>
                                          <p:attrName>style.visibility</p:attrName>
                                        </p:attrNameLst>
                                      </p:cBhvr>
                                      <p:to>
                                        <p:strVal val="visible"/>
                                      </p:to>
                                    </p:set>
                                    <p:animEffect transition="in" filter="fade">
                                      <p:cBhvr>
                                        <p:cTn id="37" dur="500"/>
                                        <p:tgtEl>
                                          <p:spTgt spid="100">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00">
                                            <p:txEl>
                                              <p:pRg st="9" end="9"/>
                                            </p:txEl>
                                          </p:spTgt>
                                        </p:tgtEl>
                                        <p:attrNameLst>
                                          <p:attrName>style.visibility</p:attrName>
                                        </p:attrNameLst>
                                      </p:cBhvr>
                                      <p:to>
                                        <p:strVal val="visible"/>
                                      </p:to>
                                    </p:set>
                                    <p:animEffect transition="in" filter="fade">
                                      <p:cBhvr>
                                        <p:cTn id="42" dur="500"/>
                                        <p:tgtEl>
                                          <p:spTgt spid="100">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00">
                                            <p:txEl>
                                              <p:pRg st="10" end="10"/>
                                            </p:txEl>
                                          </p:spTgt>
                                        </p:tgtEl>
                                        <p:attrNameLst>
                                          <p:attrName>style.visibility</p:attrName>
                                        </p:attrNameLst>
                                      </p:cBhvr>
                                      <p:to>
                                        <p:strVal val="visible"/>
                                      </p:to>
                                    </p:set>
                                    <p:animEffect transition="in" filter="fade">
                                      <p:cBhvr>
                                        <p:cTn id="47" dur="500"/>
                                        <p:tgtEl>
                                          <p:spTgt spid="100">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00">
                                            <p:txEl>
                                              <p:pRg st="11" end="11"/>
                                            </p:txEl>
                                          </p:spTgt>
                                        </p:tgtEl>
                                        <p:attrNameLst>
                                          <p:attrName>style.visibility</p:attrName>
                                        </p:attrNameLst>
                                      </p:cBhvr>
                                      <p:to>
                                        <p:strVal val="visible"/>
                                      </p:to>
                                    </p:set>
                                    <p:animEffect transition="in" filter="fade">
                                      <p:cBhvr>
                                        <p:cTn id="52" dur="500"/>
                                        <p:tgtEl>
                                          <p:spTgt spid="100">
                                            <p:txEl>
                                              <p:pRg st="11" end="1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00">
                                            <p:txEl>
                                              <p:pRg st="12" end="12"/>
                                            </p:txEl>
                                          </p:spTgt>
                                        </p:tgtEl>
                                        <p:attrNameLst>
                                          <p:attrName>style.visibility</p:attrName>
                                        </p:attrNameLst>
                                      </p:cBhvr>
                                      <p:to>
                                        <p:strVal val="visible"/>
                                      </p:to>
                                    </p:set>
                                    <p:animEffect transition="in" filter="fade">
                                      <p:cBhvr>
                                        <p:cTn id="57" dur="500"/>
                                        <p:tgtEl>
                                          <p:spTgt spid="100">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just" rtl="0">
              <a:lnSpc>
                <a:spcPct val="90000"/>
              </a:lnSpc>
              <a:spcBef>
                <a:spcPts val="0"/>
              </a:spcBef>
              <a:spcAft>
                <a:spcPts val="0"/>
              </a:spcAft>
              <a:buClr>
                <a:schemeClr val="dk1"/>
              </a:buClr>
              <a:buSzPts val="4400"/>
              <a:buFont typeface="Calibri" panose="020F0502020204030204"/>
              <a:buNone/>
            </a:pPr>
          </a:p>
        </p:txBody>
      </p:sp>
      <p:pic>
        <p:nvPicPr>
          <p:cNvPr id="98" name="Google Shape;98;p32"/>
          <p:cNvPicPr preferRelativeResize="0">
            <a:picLocks noGrp="1"/>
          </p:cNvPicPr>
          <p:nvPr>
            <p:ph type="body" idx="1"/>
          </p:nvPr>
        </p:nvPicPr>
        <p:blipFill rotWithShape="1">
          <a:blip r:embed="rId1"/>
          <a:srcRect/>
          <a:stretch>
            <a:fillRect/>
          </a:stretch>
        </p:blipFill>
        <p:spPr>
          <a:xfrm>
            <a:off x="0" y="0"/>
            <a:ext cx="12192000" cy="6858000"/>
          </a:xfrm>
          <a:prstGeom prst="rect">
            <a:avLst/>
          </a:prstGeom>
          <a:noFill/>
          <a:ln>
            <a:noFill/>
          </a:ln>
        </p:spPr>
      </p:pic>
      <p:sp>
        <p:nvSpPr>
          <p:cNvPr id="99" name="Google Shape;99;p32"/>
          <p:cNvSpPr txBox="1"/>
          <p:nvPr/>
        </p:nvSpPr>
        <p:spPr>
          <a:xfrm>
            <a:off x="159025" y="251792"/>
            <a:ext cx="11736801" cy="769401"/>
          </a:xfrm>
          <a:prstGeom prst="rect">
            <a:avLst/>
          </a:prstGeom>
          <a:noFill/>
          <a:ln>
            <a:noFill/>
          </a:ln>
        </p:spPr>
        <p:txBody>
          <a:bodyPr spcFirstLastPara="1" wrap="square" lIns="91425" tIns="45700" rIns="91425" bIns="45700" anchor="t" anchorCtr="0">
            <a:spAutoFit/>
          </a:bodyPr>
          <a:lstStyle/>
          <a:p>
            <a:pPr algn="just"/>
            <a:r>
              <a:rPr lang="en-US" sz="4400" b="1" dirty="0"/>
              <a:t>Supply Chain Management - Goals</a:t>
            </a:r>
            <a:endParaRPr lang="en-US" sz="4400" b="1" dirty="0"/>
          </a:p>
        </p:txBody>
      </p:sp>
      <p:sp>
        <p:nvSpPr>
          <p:cNvPr id="100" name="Google Shape;100;p32"/>
          <p:cNvSpPr/>
          <p:nvPr/>
        </p:nvSpPr>
        <p:spPr>
          <a:xfrm>
            <a:off x="159024" y="1134526"/>
            <a:ext cx="11736801" cy="5355272"/>
          </a:xfrm>
          <a:prstGeom prst="rect">
            <a:avLst/>
          </a:prstGeom>
          <a:noFill/>
          <a:ln>
            <a:noFill/>
          </a:ln>
        </p:spPr>
        <p:txBody>
          <a:bodyPr spcFirstLastPara="1" wrap="square" lIns="91425" tIns="45700" rIns="91425" bIns="45700" anchor="t" anchorCtr="0">
            <a:spAutoFit/>
          </a:bodyPr>
          <a:lstStyle/>
          <a:p>
            <a:pPr algn="just"/>
            <a:r>
              <a:rPr lang="en-US" sz="1800" dirty="0"/>
              <a:t>Every firm strives to match supply with demand in a timely fashion with the most efficient use of resources. Here are some of the important goals of supply chain management </a:t>
            </a:r>
            <a:r>
              <a:rPr lang="en-US" sz="1800" dirty="0" smtClean="0"/>
              <a:t>−</a:t>
            </a:r>
            <a:endParaRPr lang="en-US" sz="1800" dirty="0" smtClean="0"/>
          </a:p>
          <a:p>
            <a:pPr algn="just"/>
            <a:endParaRPr lang="en-US" sz="1800" dirty="0"/>
          </a:p>
          <a:p>
            <a:pPr marL="342900" indent="-342900" algn="just">
              <a:buFont typeface="Arial" panose="020B0604020202020204" pitchFamily="34" charset="0"/>
              <a:buChar char="•"/>
            </a:pPr>
            <a:r>
              <a:rPr lang="en-US" sz="1800" dirty="0"/>
              <a:t>Supply chain partners work collaboratively at different levels to maximize resource productivity, construct standardized processes, remove duplicate efforts and minimize inventory levels.</a:t>
            </a:r>
            <a:endParaRPr lang="en-US" sz="1800" dirty="0"/>
          </a:p>
          <a:p>
            <a:pPr marL="342900" indent="-342900" algn="just">
              <a:buFont typeface="Arial" panose="020B0604020202020204" pitchFamily="34" charset="0"/>
              <a:buChar char="•"/>
            </a:pPr>
            <a:r>
              <a:rPr lang="en-US" sz="1800" dirty="0"/>
              <a:t>Minimization of supply chain expenses is very essential, especially when there are economic uncertainties in companies regarding their wish to conserve capital.</a:t>
            </a:r>
            <a:endParaRPr lang="en-US" sz="1800" dirty="0"/>
          </a:p>
          <a:p>
            <a:pPr marL="342900" indent="-342900" algn="just">
              <a:buFont typeface="Arial" panose="020B0604020202020204" pitchFamily="34" charset="0"/>
              <a:buChar char="•"/>
            </a:pPr>
            <a:r>
              <a:rPr lang="en-US" sz="1800" dirty="0"/>
              <a:t>Cost efficient and cheap products are necessary, but supply chain managers need to concentrate on value creation for their customers.</a:t>
            </a:r>
            <a:endParaRPr lang="en-US" sz="1800" dirty="0"/>
          </a:p>
          <a:p>
            <a:pPr marL="342900" indent="-342900" algn="just">
              <a:buFont typeface="Arial" panose="020B0604020202020204" pitchFamily="34" charset="0"/>
              <a:buChar char="•"/>
            </a:pPr>
            <a:r>
              <a:rPr lang="en-US" sz="1800" dirty="0"/>
              <a:t>Exceeding the customers’ expectations on a regular basis is the best way to satisfy them.</a:t>
            </a:r>
            <a:endParaRPr lang="en-US" sz="1800" dirty="0"/>
          </a:p>
          <a:p>
            <a:pPr marL="342900" indent="-342900" algn="just">
              <a:buFont typeface="Arial" panose="020B0604020202020204" pitchFamily="34" charset="0"/>
              <a:buChar char="•"/>
            </a:pPr>
            <a:r>
              <a:rPr lang="en-US" sz="1800" dirty="0"/>
              <a:t>Increased expectations of clients for higher product variety, customized goods, off-season availability of inventory and rapid fulfillment at a cost comparable to in-store offerings should be matched.</a:t>
            </a:r>
            <a:endParaRPr lang="en-US" sz="1800" dirty="0"/>
          </a:p>
          <a:p>
            <a:pPr marL="342900" indent="-342900" algn="just">
              <a:buFont typeface="Arial" panose="020B0604020202020204" pitchFamily="34" charset="0"/>
              <a:buChar char="•"/>
            </a:pPr>
            <a:r>
              <a:rPr lang="en-US" sz="1800" dirty="0"/>
              <a:t>To meet consumer expectations, merchants need to leverage inventory as a shared resource and utilize the distributed order management technology to complete orders from the optimal node in the supply </a:t>
            </a:r>
            <a:r>
              <a:rPr lang="en-US" sz="1800" dirty="0" smtClean="0"/>
              <a:t>chain.</a:t>
            </a:r>
            <a:endParaRPr lang="en-US" sz="1800" dirty="0" smtClean="0"/>
          </a:p>
          <a:p>
            <a:pPr marL="342900" indent="-342900" algn="just">
              <a:buFont typeface="Arial" panose="020B0604020202020204" pitchFamily="34" charset="0"/>
              <a:buChar char="•"/>
            </a:pPr>
            <a:endParaRPr lang="en-US" sz="1800" dirty="0" smtClean="0"/>
          </a:p>
          <a:p>
            <a:pPr algn="just"/>
            <a:r>
              <a:rPr lang="en-US" sz="1800" dirty="0" smtClean="0"/>
              <a:t>Supply chain </a:t>
            </a:r>
            <a:r>
              <a:rPr lang="en-US" sz="1800" dirty="0"/>
              <a:t>management aims at contributing to the financial success of an enterprise. In addition to all the points </a:t>
            </a:r>
            <a:r>
              <a:rPr lang="en-US" sz="1800" dirty="0" smtClean="0"/>
              <a:t>listed </a:t>
            </a:r>
            <a:r>
              <a:rPr lang="en-US" sz="1800" dirty="0"/>
              <a:t>above, it aims at leading enterprises using the supply chain to improve differentiation, increase sales, and penetrate new markets. The objective is to drive competitive benefit and shareholder value.</a:t>
            </a:r>
            <a:endParaRPr lang="en-US" sz="1800" dirty="0"/>
          </a:p>
          <a:p>
            <a:pPr algn="just"/>
            <a:endParaRPr 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
                                            <p:txEl>
                                              <p:pRg st="0" end="0"/>
                                            </p:txEl>
                                          </p:spTgt>
                                        </p:tgtEl>
                                        <p:attrNameLst>
                                          <p:attrName>style.visibility</p:attrName>
                                        </p:attrNameLst>
                                      </p:cBhvr>
                                      <p:to>
                                        <p:strVal val="visible"/>
                                      </p:to>
                                    </p:set>
                                    <p:animEffect transition="in" filter="fade">
                                      <p:cBhvr>
                                        <p:cTn id="7" dur="500"/>
                                        <p:tgtEl>
                                          <p:spTgt spid="10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0">
                                            <p:txEl>
                                              <p:pRg st="2" end="2"/>
                                            </p:txEl>
                                          </p:spTgt>
                                        </p:tgtEl>
                                        <p:attrNameLst>
                                          <p:attrName>style.visibility</p:attrName>
                                        </p:attrNameLst>
                                      </p:cBhvr>
                                      <p:to>
                                        <p:strVal val="visible"/>
                                      </p:to>
                                    </p:set>
                                    <p:animEffect transition="in" filter="fade">
                                      <p:cBhvr>
                                        <p:cTn id="12" dur="500"/>
                                        <p:tgtEl>
                                          <p:spTgt spid="10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0">
                                            <p:txEl>
                                              <p:pRg st="3" end="3"/>
                                            </p:txEl>
                                          </p:spTgt>
                                        </p:tgtEl>
                                        <p:attrNameLst>
                                          <p:attrName>style.visibility</p:attrName>
                                        </p:attrNameLst>
                                      </p:cBhvr>
                                      <p:to>
                                        <p:strVal val="visible"/>
                                      </p:to>
                                    </p:set>
                                    <p:animEffect transition="in" filter="fade">
                                      <p:cBhvr>
                                        <p:cTn id="17" dur="500"/>
                                        <p:tgtEl>
                                          <p:spTgt spid="100">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0">
                                            <p:txEl>
                                              <p:pRg st="4" end="4"/>
                                            </p:txEl>
                                          </p:spTgt>
                                        </p:tgtEl>
                                        <p:attrNameLst>
                                          <p:attrName>style.visibility</p:attrName>
                                        </p:attrNameLst>
                                      </p:cBhvr>
                                      <p:to>
                                        <p:strVal val="visible"/>
                                      </p:to>
                                    </p:set>
                                    <p:animEffect transition="in" filter="fade">
                                      <p:cBhvr>
                                        <p:cTn id="22" dur="500"/>
                                        <p:tgtEl>
                                          <p:spTgt spid="100">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0">
                                            <p:txEl>
                                              <p:pRg st="5" end="5"/>
                                            </p:txEl>
                                          </p:spTgt>
                                        </p:tgtEl>
                                        <p:attrNameLst>
                                          <p:attrName>style.visibility</p:attrName>
                                        </p:attrNameLst>
                                      </p:cBhvr>
                                      <p:to>
                                        <p:strVal val="visible"/>
                                      </p:to>
                                    </p:set>
                                    <p:animEffect transition="in" filter="fade">
                                      <p:cBhvr>
                                        <p:cTn id="27" dur="500"/>
                                        <p:tgtEl>
                                          <p:spTgt spid="100">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0">
                                            <p:txEl>
                                              <p:pRg st="6" end="6"/>
                                            </p:txEl>
                                          </p:spTgt>
                                        </p:tgtEl>
                                        <p:attrNameLst>
                                          <p:attrName>style.visibility</p:attrName>
                                        </p:attrNameLst>
                                      </p:cBhvr>
                                      <p:to>
                                        <p:strVal val="visible"/>
                                      </p:to>
                                    </p:set>
                                    <p:animEffect transition="in" filter="fade">
                                      <p:cBhvr>
                                        <p:cTn id="32" dur="500"/>
                                        <p:tgtEl>
                                          <p:spTgt spid="100">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0">
                                            <p:txEl>
                                              <p:pRg st="7" end="7"/>
                                            </p:txEl>
                                          </p:spTgt>
                                        </p:tgtEl>
                                        <p:attrNameLst>
                                          <p:attrName>style.visibility</p:attrName>
                                        </p:attrNameLst>
                                      </p:cBhvr>
                                      <p:to>
                                        <p:strVal val="visible"/>
                                      </p:to>
                                    </p:set>
                                    <p:animEffect transition="in" filter="fade">
                                      <p:cBhvr>
                                        <p:cTn id="37" dur="500"/>
                                        <p:tgtEl>
                                          <p:spTgt spid="100">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00">
                                            <p:txEl>
                                              <p:pRg st="9" end="9"/>
                                            </p:txEl>
                                          </p:spTgt>
                                        </p:tgtEl>
                                        <p:attrNameLst>
                                          <p:attrName>style.visibility</p:attrName>
                                        </p:attrNameLst>
                                      </p:cBhvr>
                                      <p:to>
                                        <p:strVal val="visible"/>
                                      </p:to>
                                    </p:set>
                                    <p:animEffect transition="in" filter="fade">
                                      <p:cBhvr>
                                        <p:cTn id="42" dur="500"/>
                                        <p:tgtEl>
                                          <p:spTgt spid="100">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just" rtl="0">
              <a:lnSpc>
                <a:spcPct val="90000"/>
              </a:lnSpc>
              <a:spcBef>
                <a:spcPts val="0"/>
              </a:spcBef>
              <a:spcAft>
                <a:spcPts val="0"/>
              </a:spcAft>
              <a:buClr>
                <a:schemeClr val="dk1"/>
              </a:buClr>
              <a:buSzPts val="4400"/>
              <a:buFont typeface="Calibri" panose="020F0502020204030204"/>
              <a:buNone/>
            </a:pPr>
          </a:p>
        </p:txBody>
      </p:sp>
      <p:pic>
        <p:nvPicPr>
          <p:cNvPr id="98" name="Google Shape;98;p32"/>
          <p:cNvPicPr preferRelativeResize="0">
            <a:picLocks noGrp="1"/>
          </p:cNvPicPr>
          <p:nvPr>
            <p:ph type="body" idx="1"/>
          </p:nvPr>
        </p:nvPicPr>
        <p:blipFill rotWithShape="1">
          <a:blip r:embed="rId1"/>
          <a:srcRect/>
          <a:stretch>
            <a:fillRect/>
          </a:stretch>
        </p:blipFill>
        <p:spPr>
          <a:xfrm>
            <a:off x="0" y="0"/>
            <a:ext cx="12192000" cy="6858000"/>
          </a:xfrm>
          <a:prstGeom prst="rect">
            <a:avLst/>
          </a:prstGeom>
          <a:noFill/>
          <a:ln>
            <a:noFill/>
          </a:ln>
        </p:spPr>
      </p:pic>
      <p:sp>
        <p:nvSpPr>
          <p:cNvPr id="99" name="Google Shape;99;p32"/>
          <p:cNvSpPr txBox="1"/>
          <p:nvPr/>
        </p:nvSpPr>
        <p:spPr>
          <a:xfrm>
            <a:off x="159025" y="251792"/>
            <a:ext cx="11736801" cy="769401"/>
          </a:xfrm>
          <a:prstGeom prst="rect">
            <a:avLst/>
          </a:prstGeom>
          <a:noFill/>
          <a:ln>
            <a:noFill/>
          </a:ln>
        </p:spPr>
        <p:txBody>
          <a:bodyPr spcFirstLastPara="1" wrap="square" lIns="91425" tIns="45700" rIns="91425" bIns="45700" anchor="t" anchorCtr="0">
            <a:spAutoFit/>
          </a:bodyPr>
          <a:lstStyle/>
          <a:p>
            <a:r>
              <a:rPr lang="en-US" sz="4400" b="1" dirty="0"/>
              <a:t>Supply Chain Management - Process</a:t>
            </a:r>
            <a:endParaRPr lang="en-US" sz="4400" b="1" dirty="0"/>
          </a:p>
        </p:txBody>
      </p:sp>
      <p:sp>
        <p:nvSpPr>
          <p:cNvPr id="100" name="Google Shape;100;p32"/>
          <p:cNvSpPr/>
          <p:nvPr/>
        </p:nvSpPr>
        <p:spPr>
          <a:xfrm>
            <a:off x="159025" y="1134526"/>
            <a:ext cx="6060800" cy="4832052"/>
          </a:xfrm>
          <a:prstGeom prst="rect">
            <a:avLst/>
          </a:prstGeom>
          <a:noFill/>
          <a:ln>
            <a:noFill/>
          </a:ln>
        </p:spPr>
        <p:txBody>
          <a:bodyPr spcFirstLastPara="1" wrap="square" lIns="91425" tIns="45700" rIns="91425" bIns="45700" anchor="t" anchorCtr="0">
            <a:spAutoFit/>
          </a:bodyPr>
          <a:lstStyle/>
          <a:p>
            <a:pPr algn="just"/>
            <a:r>
              <a:rPr lang="en-US" sz="2800" dirty="0"/>
              <a:t>Supply chain management is a process used by companies to ensure that their supply chain is efficient and cost-effective. A supply chain is the collection of steps that a company takes to transform raw materials into a final product. The five basic components of supply chain management are discussed </a:t>
            </a:r>
            <a:r>
              <a:rPr lang="en-US" sz="2800" dirty="0" smtClean="0"/>
              <a:t>below:</a:t>
            </a:r>
            <a:endParaRPr lang="en-US" sz="2800" dirty="0" smtClean="0"/>
          </a:p>
          <a:p>
            <a:pPr algn="just"/>
            <a:endParaRPr lang="en-US" sz="2800" dirty="0"/>
          </a:p>
        </p:txBody>
      </p:sp>
      <p:pic>
        <p:nvPicPr>
          <p:cNvPr id="2050" name="Picture 2" descr="SCM Proces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1825" y="991970"/>
            <a:ext cx="4981575" cy="487406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fade">
                                      <p:cBhvr>
                                        <p:cTn id="7" dur="500"/>
                                        <p:tgtEl>
                                          <p:spTgt spid="20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0">
                                            <p:txEl>
                                              <p:pRg st="0" end="0"/>
                                            </p:txEl>
                                          </p:spTgt>
                                        </p:tgtEl>
                                        <p:attrNameLst>
                                          <p:attrName>style.visibility</p:attrName>
                                        </p:attrNameLst>
                                      </p:cBhvr>
                                      <p:to>
                                        <p:strVal val="visible"/>
                                      </p:to>
                                    </p:set>
                                    <p:animEffect transition="in" filter="fade">
                                      <p:cBhvr>
                                        <p:cTn id="12" dur="500"/>
                                        <p:tgtEl>
                                          <p:spTgt spid="10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just" rtl="0">
              <a:lnSpc>
                <a:spcPct val="90000"/>
              </a:lnSpc>
              <a:spcBef>
                <a:spcPts val="0"/>
              </a:spcBef>
              <a:spcAft>
                <a:spcPts val="0"/>
              </a:spcAft>
              <a:buClr>
                <a:schemeClr val="dk1"/>
              </a:buClr>
              <a:buSzPts val="4400"/>
              <a:buFont typeface="Calibri" panose="020F0502020204030204"/>
              <a:buNone/>
            </a:pPr>
          </a:p>
        </p:txBody>
      </p:sp>
      <p:pic>
        <p:nvPicPr>
          <p:cNvPr id="98" name="Google Shape;98;p32"/>
          <p:cNvPicPr preferRelativeResize="0">
            <a:picLocks noGrp="1"/>
          </p:cNvPicPr>
          <p:nvPr>
            <p:ph type="body" idx="1"/>
          </p:nvPr>
        </p:nvPicPr>
        <p:blipFill rotWithShape="1">
          <a:blip r:embed="rId1"/>
          <a:srcRect/>
          <a:stretch>
            <a:fillRect/>
          </a:stretch>
        </p:blipFill>
        <p:spPr>
          <a:xfrm>
            <a:off x="0" y="0"/>
            <a:ext cx="12192000" cy="6858000"/>
          </a:xfrm>
          <a:prstGeom prst="rect">
            <a:avLst/>
          </a:prstGeom>
          <a:noFill/>
          <a:ln>
            <a:noFill/>
          </a:ln>
        </p:spPr>
      </p:pic>
      <p:sp>
        <p:nvSpPr>
          <p:cNvPr id="99" name="Google Shape;99;p32"/>
          <p:cNvSpPr txBox="1"/>
          <p:nvPr/>
        </p:nvSpPr>
        <p:spPr>
          <a:xfrm>
            <a:off x="159025" y="251792"/>
            <a:ext cx="11736801" cy="769401"/>
          </a:xfrm>
          <a:prstGeom prst="rect">
            <a:avLst/>
          </a:prstGeom>
          <a:noFill/>
          <a:ln>
            <a:noFill/>
          </a:ln>
        </p:spPr>
        <p:txBody>
          <a:bodyPr spcFirstLastPara="1" wrap="square" lIns="91425" tIns="45700" rIns="91425" bIns="45700" anchor="t" anchorCtr="0">
            <a:spAutoFit/>
          </a:bodyPr>
          <a:lstStyle/>
          <a:p>
            <a:r>
              <a:rPr lang="en-US" sz="4400" b="1" dirty="0"/>
              <a:t>Supply Chain Management </a:t>
            </a:r>
            <a:r>
              <a:rPr lang="en-US" sz="4400" b="1" dirty="0" smtClean="0"/>
              <a:t>– Process cont.</a:t>
            </a:r>
            <a:endParaRPr lang="en-US" sz="4400" b="1" dirty="0"/>
          </a:p>
        </p:txBody>
      </p:sp>
      <p:sp>
        <p:nvSpPr>
          <p:cNvPr id="100" name="Google Shape;100;p32"/>
          <p:cNvSpPr/>
          <p:nvPr/>
        </p:nvSpPr>
        <p:spPr>
          <a:xfrm>
            <a:off x="159024" y="1134526"/>
            <a:ext cx="11736801" cy="5693826"/>
          </a:xfrm>
          <a:prstGeom prst="rect">
            <a:avLst/>
          </a:prstGeom>
          <a:noFill/>
          <a:ln>
            <a:noFill/>
          </a:ln>
        </p:spPr>
        <p:txBody>
          <a:bodyPr spcFirstLastPara="1" wrap="square" lIns="91425" tIns="45700" rIns="91425" bIns="45700" anchor="t" anchorCtr="0">
            <a:spAutoFit/>
          </a:bodyPr>
          <a:lstStyle/>
          <a:p>
            <a:r>
              <a:rPr lang="en-US" sz="2800" b="1" dirty="0" smtClean="0"/>
              <a:t>Plan</a:t>
            </a:r>
            <a:endParaRPr lang="en-US" sz="2800" b="1" dirty="0" smtClean="0"/>
          </a:p>
          <a:p>
            <a:endParaRPr lang="en-US" sz="2800" b="1" dirty="0"/>
          </a:p>
          <a:p>
            <a:r>
              <a:rPr lang="en-US" sz="2800" dirty="0"/>
              <a:t>The initial stage of the supply chain process is the planning stage. We need to develop a plan or strategy in order to address how the products and services will satisfy the demands and necessities of the customers. In this stage, the planning should mainly focus on designing a strategy that yields maximum profit.</a:t>
            </a:r>
            <a:endParaRPr lang="en-US" sz="2800" dirty="0"/>
          </a:p>
          <a:p>
            <a:r>
              <a:rPr lang="en-US" sz="2800" dirty="0"/>
              <a:t>For managing all the resources required for designing products and providing services, a strategy has to be designed by the companies. Supply chain management mainly focuses on planning and developing a set of metrics</a:t>
            </a:r>
            <a:r>
              <a:rPr lang="en-US" sz="2800" dirty="0" smtClean="0"/>
              <a:t>.</a:t>
            </a:r>
            <a:endParaRPr lang="en-US" sz="2800" dirty="0" smtClean="0"/>
          </a:p>
          <a:p>
            <a:endParaRPr lang="en-US" sz="2800" dirty="0"/>
          </a:p>
          <a:p>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
                                            <p:txEl>
                                              <p:pRg st="0" end="0"/>
                                            </p:txEl>
                                          </p:spTgt>
                                        </p:tgtEl>
                                        <p:attrNameLst>
                                          <p:attrName>style.visibility</p:attrName>
                                        </p:attrNameLst>
                                      </p:cBhvr>
                                      <p:to>
                                        <p:strVal val="visible"/>
                                      </p:to>
                                    </p:set>
                                    <p:animEffect transition="in" filter="fade">
                                      <p:cBhvr>
                                        <p:cTn id="7" dur="500"/>
                                        <p:tgtEl>
                                          <p:spTgt spid="10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0">
                                            <p:txEl>
                                              <p:pRg st="2" end="2"/>
                                            </p:txEl>
                                          </p:spTgt>
                                        </p:tgtEl>
                                        <p:attrNameLst>
                                          <p:attrName>style.visibility</p:attrName>
                                        </p:attrNameLst>
                                      </p:cBhvr>
                                      <p:to>
                                        <p:strVal val="visible"/>
                                      </p:to>
                                    </p:set>
                                    <p:animEffect transition="in" filter="fade">
                                      <p:cBhvr>
                                        <p:cTn id="12" dur="500"/>
                                        <p:tgtEl>
                                          <p:spTgt spid="100">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00">
                                            <p:txEl>
                                              <p:pRg st="3" end="3"/>
                                            </p:txEl>
                                          </p:spTgt>
                                        </p:tgtEl>
                                        <p:attrNameLst>
                                          <p:attrName>style.visibility</p:attrName>
                                        </p:attrNameLst>
                                      </p:cBhvr>
                                      <p:to>
                                        <p:strVal val="visible"/>
                                      </p:to>
                                    </p:set>
                                    <p:animEffect transition="in" filter="fade">
                                      <p:cBhvr>
                                        <p:cTn id="15" dur="500"/>
                                        <p:tgtEl>
                                          <p:spTgt spid="10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just" rtl="0">
              <a:lnSpc>
                <a:spcPct val="90000"/>
              </a:lnSpc>
              <a:spcBef>
                <a:spcPts val="0"/>
              </a:spcBef>
              <a:spcAft>
                <a:spcPts val="0"/>
              </a:spcAft>
              <a:buClr>
                <a:schemeClr val="dk1"/>
              </a:buClr>
              <a:buSzPts val="4400"/>
              <a:buFont typeface="Calibri" panose="020F0502020204030204"/>
              <a:buNone/>
            </a:pPr>
          </a:p>
        </p:txBody>
      </p:sp>
      <p:pic>
        <p:nvPicPr>
          <p:cNvPr id="98" name="Google Shape;98;p32"/>
          <p:cNvPicPr preferRelativeResize="0">
            <a:picLocks noGrp="1"/>
          </p:cNvPicPr>
          <p:nvPr>
            <p:ph type="body" idx="1"/>
          </p:nvPr>
        </p:nvPicPr>
        <p:blipFill rotWithShape="1">
          <a:blip r:embed="rId1"/>
          <a:srcRect/>
          <a:stretch>
            <a:fillRect/>
          </a:stretch>
        </p:blipFill>
        <p:spPr>
          <a:xfrm>
            <a:off x="0" y="0"/>
            <a:ext cx="12192000" cy="6858000"/>
          </a:xfrm>
          <a:prstGeom prst="rect">
            <a:avLst/>
          </a:prstGeom>
          <a:noFill/>
          <a:ln>
            <a:noFill/>
          </a:ln>
        </p:spPr>
      </p:pic>
      <p:sp>
        <p:nvSpPr>
          <p:cNvPr id="99" name="Google Shape;99;p32"/>
          <p:cNvSpPr txBox="1"/>
          <p:nvPr/>
        </p:nvSpPr>
        <p:spPr>
          <a:xfrm>
            <a:off x="159025" y="251792"/>
            <a:ext cx="11736801" cy="769401"/>
          </a:xfrm>
          <a:prstGeom prst="rect">
            <a:avLst/>
          </a:prstGeom>
          <a:noFill/>
          <a:ln>
            <a:noFill/>
          </a:ln>
        </p:spPr>
        <p:txBody>
          <a:bodyPr spcFirstLastPara="1" wrap="square" lIns="91425" tIns="45700" rIns="91425" bIns="45700" anchor="t" anchorCtr="0">
            <a:spAutoFit/>
          </a:bodyPr>
          <a:lstStyle/>
          <a:p>
            <a:r>
              <a:rPr lang="en-US" sz="4400" b="1" dirty="0"/>
              <a:t>Supply Chain Management </a:t>
            </a:r>
            <a:r>
              <a:rPr lang="en-US" sz="4400" b="1" dirty="0" smtClean="0"/>
              <a:t>– Process cont.</a:t>
            </a:r>
            <a:endParaRPr lang="en-US" sz="4400" b="1" dirty="0"/>
          </a:p>
        </p:txBody>
      </p:sp>
      <p:sp>
        <p:nvSpPr>
          <p:cNvPr id="100" name="Google Shape;100;p32"/>
          <p:cNvSpPr/>
          <p:nvPr/>
        </p:nvSpPr>
        <p:spPr>
          <a:xfrm>
            <a:off x="159024" y="1134526"/>
            <a:ext cx="11736801" cy="4708941"/>
          </a:xfrm>
          <a:prstGeom prst="rect">
            <a:avLst/>
          </a:prstGeom>
          <a:noFill/>
          <a:ln>
            <a:noFill/>
          </a:ln>
        </p:spPr>
        <p:txBody>
          <a:bodyPr spcFirstLastPara="1" wrap="square" lIns="91425" tIns="45700" rIns="91425" bIns="45700" anchor="t" anchorCtr="0">
            <a:spAutoFit/>
          </a:bodyPr>
          <a:lstStyle/>
          <a:p>
            <a:r>
              <a:rPr lang="en-US" sz="2000" b="1" dirty="0"/>
              <a:t>Develop(Source</a:t>
            </a:r>
            <a:r>
              <a:rPr lang="en-US" sz="2000" b="1" dirty="0" smtClean="0"/>
              <a:t>)</a:t>
            </a:r>
            <a:endParaRPr lang="en-US" sz="2000" b="1" dirty="0" smtClean="0"/>
          </a:p>
          <a:p>
            <a:endParaRPr lang="en-US" sz="2000" b="1" dirty="0"/>
          </a:p>
          <a:p>
            <a:r>
              <a:rPr lang="en-US" sz="2000" dirty="0"/>
              <a:t>After planning, the next step involves developing or sourcing. In this stage, we mainly concentrate on building a strong relationship with suppliers of the raw materials required for production. This involves not only identifying dependable suppliers but also determining different planning methods for shipping, delivery, and payment of the product</a:t>
            </a:r>
            <a:r>
              <a:rPr lang="en-US" sz="2000" dirty="0" smtClean="0"/>
              <a:t>.</a:t>
            </a:r>
            <a:endParaRPr lang="en-US" sz="2000" dirty="0" smtClean="0"/>
          </a:p>
          <a:p>
            <a:endParaRPr lang="en-US" sz="2000" dirty="0"/>
          </a:p>
          <a:p>
            <a:r>
              <a:rPr lang="en-US" sz="2000" dirty="0"/>
              <a:t>Companies need to select suppliers to deliver the items and services they require to develop their product. So in this stage, the supply chain managers need to construct a set of pricing, delivery and payment processes with suppliers and also create the metrics for controlling and improving the relationships</a:t>
            </a:r>
            <a:r>
              <a:rPr lang="en-US" sz="2000" dirty="0" smtClean="0"/>
              <a:t>.</a:t>
            </a:r>
            <a:endParaRPr lang="en-US" sz="2000" dirty="0" smtClean="0"/>
          </a:p>
          <a:p>
            <a:endParaRPr lang="en-US" sz="2000" dirty="0"/>
          </a:p>
          <a:p>
            <a:r>
              <a:rPr lang="en-US" sz="2000" dirty="0"/>
              <a:t>Finally, the supply chain managers can combine all these processes for handling their goods and services inventory. This handling comprises receiving and examining shipments, transferring them to the manufacturing facilities and authorizing supplier payments.</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
                                            <p:txEl>
                                              <p:pRg st="0" end="0"/>
                                            </p:txEl>
                                          </p:spTgt>
                                        </p:tgtEl>
                                        <p:attrNameLst>
                                          <p:attrName>style.visibility</p:attrName>
                                        </p:attrNameLst>
                                      </p:cBhvr>
                                      <p:to>
                                        <p:strVal val="visible"/>
                                      </p:to>
                                    </p:set>
                                    <p:animEffect transition="in" filter="fade">
                                      <p:cBhvr>
                                        <p:cTn id="7" dur="500"/>
                                        <p:tgtEl>
                                          <p:spTgt spid="10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0">
                                            <p:txEl>
                                              <p:pRg st="2" end="2"/>
                                            </p:txEl>
                                          </p:spTgt>
                                        </p:tgtEl>
                                        <p:attrNameLst>
                                          <p:attrName>style.visibility</p:attrName>
                                        </p:attrNameLst>
                                      </p:cBhvr>
                                      <p:to>
                                        <p:strVal val="visible"/>
                                      </p:to>
                                    </p:set>
                                    <p:animEffect transition="in" filter="fade">
                                      <p:cBhvr>
                                        <p:cTn id="12" dur="500"/>
                                        <p:tgtEl>
                                          <p:spTgt spid="10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0">
                                            <p:txEl>
                                              <p:pRg st="4" end="4"/>
                                            </p:txEl>
                                          </p:spTgt>
                                        </p:tgtEl>
                                        <p:attrNameLst>
                                          <p:attrName>style.visibility</p:attrName>
                                        </p:attrNameLst>
                                      </p:cBhvr>
                                      <p:to>
                                        <p:strVal val="visible"/>
                                      </p:to>
                                    </p:set>
                                    <p:animEffect transition="in" filter="fade">
                                      <p:cBhvr>
                                        <p:cTn id="17" dur="500"/>
                                        <p:tgtEl>
                                          <p:spTgt spid="100">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0">
                                            <p:txEl>
                                              <p:pRg st="6" end="6"/>
                                            </p:txEl>
                                          </p:spTgt>
                                        </p:tgtEl>
                                        <p:attrNameLst>
                                          <p:attrName>style.visibility</p:attrName>
                                        </p:attrNameLst>
                                      </p:cBhvr>
                                      <p:to>
                                        <p:strVal val="visible"/>
                                      </p:to>
                                    </p:set>
                                    <p:animEffect transition="in" filter="fade">
                                      <p:cBhvr>
                                        <p:cTn id="22" dur="500"/>
                                        <p:tgtEl>
                                          <p:spTgt spid="10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just" rtl="0">
              <a:lnSpc>
                <a:spcPct val="90000"/>
              </a:lnSpc>
              <a:spcBef>
                <a:spcPts val="0"/>
              </a:spcBef>
              <a:spcAft>
                <a:spcPts val="0"/>
              </a:spcAft>
              <a:buClr>
                <a:schemeClr val="dk1"/>
              </a:buClr>
              <a:buSzPts val="4400"/>
              <a:buFont typeface="Calibri" panose="020F0502020204030204"/>
              <a:buNone/>
            </a:pPr>
          </a:p>
        </p:txBody>
      </p:sp>
      <p:pic>
        <p:nvPicPr>
          <p:cNvPr id="98" name="Google Shape;98;p32"/>
          <p:cNvPicPr preferRelativeResize="0">
            <a:picLocks noGrp="1"/>
          </p:cNvPicPr>
          <p:nvPr>
            <p:ph type="body" idx="1"/>
          </p:nvPr>
        </p:nvPicPr>
        <p:blipFill rotWithShape="1">
          <a:blip r:embed="rId1"/>
          <a:srcRect/>
          <a:stretch>
            <a:fillRect/>
          </a:stretch>
        </p:blipFill>
        <p:spPr>
          <a:xfrm>
            <a:off x="0" y="0"/>
            <a:ext cx="12192000" cy="6858000"/>
          </a:xfrm>
          <a:prstGeom prst="rect">
            <a:avLst/>
          </a:prstGeom>
          <a:noFill/>
          <a:ln>
            <a:noFill/>
          </a:ln>
        </p:spPr>
      </p:pic>
      <p:sp>
        <p:nvSpPr>
          <p:cNvPr id="99" name="Google Shape;99;p32"/>
          <p:cNvSpPr txBox="1"/>
          <p:nvPr/>
        </p:nvSpPr>
        <p:spPr>
          <a:xfrm>
            <a:off x="159025" y="251792"/>
            <a:ext cx="11736801" cy="769401"/>
          </a:xfrm>
          <a:prstGeom prst="rect">
            <a:avLst/>
          </a:prstGeom>
          <a:noFill/>
          <a:ln>
            <a:noFill/>
          </a:ln>
        </p:spPr>
        <p:txBody>
          <a:bodyPr spcFirstLastPara="1" wrap="square" lIns="91425" tIns="45700" rIns="91425" bIns="45700" anchor="t" anchorCtr="0">
            <a:spAutoFit/>
          </a:bodyPr>
          <a:lstStyle/>
          <a:p>
            <a:r>
              <a:rPr lang="en-US" sz="4400" b="1" dirty="0"/>
              <a:t>Supply Chain Management </a:t>
            </a:r>
            <a:r>
              <a:rPr lang="en-US" sz="4400" b="1" dirty="0" smtClean="0"/>
              <a:t>– Process cont.</a:t>
            </a:r>
            <a:endParaRPr lang="en-US" sz="4400" b="1" dirty="0"/>
          </a:p>
        </p:txBody>
      </p:sp>
      <p:sp>
        <p:nvSpPr>
          <p:cNvPr id="100" name="Google Shape;100;p32"/>
          <p:cNvSpPr/>
          <p:nvPr/>
        </p:nvSpPr>
        <p:spPr>
          <a:xfrm>
            <a:off x="159024" y="1134526"/>
            <a:ext cx="11736801" cy="4893607"/>
          </a:xfrm>
          <a:prstGeom prst="rect">
            <a:avLst/>
          </a:prstGeom>
          <a:noFill/>
          <a:ln>
            <a:noFill/>
          </a:ln>
        </p:spPr>
        <p:txBody>
          <a:bodyPr spcFirstLastPara="1" wrap="square" lIns="91425" tIns="45700" rIns="91425" bIns="45700" anchor="t" anchorCtr="0">
            <a:spAutoFit/>
          </a:bodyPr>
          <a:lstStyle/>
          <a:p>
            <a:r>
              <a:rPr lang="en-US" sz="2600" b="1" dirty="0" smtClean="0"/>
              <a:t>Make</a:t>
            </a:r>
            <a:endParaRPr lang="en-US" sz="2600" b="1" dirty="0" smtClean="0"/>
          </a:p>
          <a:p>
            <a:endParaRPr lang="en-US" sz="2600" b="1" dirty="0"/>
          </a:p>
          <a:p>
            <a:r>
              <a:rPr lang="en-US" sz="2600" dirty="0"/>
              <a:t>The third step in the supply chain management process is the manufacturing or making of products that were demanded by the customer</a:t>
            </a:r>
            <a:r>
              <a:rPr lang="en-US" sz="2600" dirty="0" smtClean="0"/>
              <a:t>.</a:t>
            </a:r>
            <a:endParaRPr lang="en-US" sz="2600" dirty="0" smtClean="0"/>
          </a:p>
          <a:p>
            <a:endParaRPr lang="en-US" sz="2600" dirty="0" smtClean="0"/>
          </a:p>
          <a:p>
            <a:r>
              <a:rPr lang="en-US" sz="2600" dirty="0" smtClean="0"/>
              <a:t>In </a:t>
            </a:r>
            <a:r>
              <a:rPr lang="en-US" sz="2600" dirty="0"/>
              <a:t>this stage, the products are designed, produced, tested, packaged, and synchronized for delivery</a:t>
            </a:r>
            <a:r>
              <a:rPr lang="en-US" sz="2600" dirty="0" smtClean="0"/>
              <a:t>.</a:t>
            </a:r>
            <a:endParaRPr lang="en-US" sz="2600" dirty="0" smtClean="0"/>
          </a:p>
          <a:p>
            <a:endParaRPr lang="en-US" sz="2600" dirty="0"/>
          </a:p>
          <a:p>
            <a:pPr algn="just"/>
            <a:r>
              <a:rPr lang="en-US" sz="2600" dirty="0" smtClean="0"/>
              <a:t>Task </a:t>
            </a:r>
            <a:r>
              <a:rPr lang="en-US" sz="2600" dirty="0"/>
              <a:t>of the supply chain manager is to schedule all the activities required for manufacturing, testing, packaging and preparation for delivery. This stage is considered as the most metric-intensive unit of the supply chain, where firms can gauge the quality levels, production output and worker productivity.</a:t>
            </a:r>
            <a:endParaRPr lang="en-US" sz="2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
                                            <p:txEl>
                                              <p:pRg st="0" end="0"/>
                                            </p:txEl>
                                          </p:spTgt>
                                        </p:tgtEl>
                                        <p:attrNameLst>
                                          <p:attrName>style.visibility</p:attrName>
                                        </p:attrNameLst>
                                      </p:cBhvr>
                                      <p:to>
                                        <p:strVal val="visible"/>
                                      </p:to>
                                    </p:set>
                                    <p:animEffect transition="in" filter="fade">
                                      <p:cBhvr>
                                        <p:cTn id="7" dur="500"/>
                                        <p:tgtEl>
                                          <p:spTgt spid="10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0">
                                            <p:txEl>
                                              <p:pRg st="2" end="2"/>
                                            </p:txEl>
                                          </p:spTgt>
                                        </p:tgtEl>
                                        <p:attrNameLst>
                                          <p:attrName>style.visibility</p:attrName>
                                        </p:attrNameLst>
                                      </p:cBhvr>
                                      <p:to>
                                        <p:strVal val="visible"/>
                                      </p:to>
                                    </p:set>
                                    <p:animEffect transition="in" filter="fade">
                                      <p:cBhvr>
                                        <p:cTn id="12" dur="500"/>
                                        <p:tgtEl>
                                          <p:spTgt spid="10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0">
                                            <p:txEl>
                                              <p:pRg st="4" end="4"/>
                                            </p:txEl>
                                          </p:spTgt>
                                        </p:tgtEl>
                                        <p:attrNameLst>
                                          <p:attrName>style.visibility</p:attrName>
                                        </p:attrNameLst>
                                      </p:cBhvr>
                                      <p:to>
                                        <p:strVal val="visible"/>
                                      </p:to>
                                    </p:set>
                                    <p:animEffect transition="in" filter="fade">
                                      <p:cBhvr>
                                        <p:cTn id="17" dur="500"/>
                                        <p:tgtEl>
                                          <p:spTgt spid="100">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0">
                                            <p:txEl>
                                              <p:pRg st="6" end="6"/>
                                            </p:txEl>
                                          </p:spTgt>
                                        </p:tgtEl>
                                        <p:attrNameLst>
                                          <p:attrName>style.visibility</p:attrName>
                                        </p:attrNameLst>
                                      </p:cBhvr>
                                      <p:to>
                                        <p:strVal val="visible"/>
                                      </p:to>
                                    </p:set>
                                    <p:animEffect transition="in" filter="fade">
                                      <p:cBhvr>
                                        <p:cTn id="22" dur="500"/>
                                        <p:tgtEl>
                                          <p:spTgt spid="10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just" rtl="0">
              <a:lnSpc>
                <a:spcPct val="90000"/>
              </a:lnSpc>
              <a:spcBef>
                <a:spcPts val="0"/>
              </a:spcBef>
              <a:spcAft>
                <a:spcPts val="0"/>
              </a:spcAft>
              <a:buClr>
                <a:schemeClr val="dk1"/>
              </a:buClr>
              <a:buSzPts val="4400"/>
              <a:buFont typeface="Calibri" panose="020F0502020204030204"/>
              <a:buNone/>
            </a:pPr>
          </a:p>
        </p:txBody>
      </p:sp>
      <p:pic>
        <p:nvPicPr>
          <p:cNvPr id="98" name="Google Shape;98;p32"/>
          <p:cNvPicPr preferRelativeResize="0">
            <a:picLocks noGrp="1"/>
          </p:cNvPicPr>
          <p:nvPr>
            <p:ph type="body" idx="1"/>
          </p:nvPr>
        </p:nvPicPr>
        <p:blipFill rotWithShape="1">
          <a:blip r:embed="rId1"/>
          <a:srcRect/>
          <a:stretch>
            <a:fillRect/>
          </a:stretch>
        </p:blipFill>
        <p:spPr>
          <a:xfrm>
            <a:off x="0" y="0"/>
            <a:ext cx="12192000" cy="6858000"/>
          </a:xfrm>
          <a:prstGeom prst="rect">
            <a:avLst/>
          </a:prstGeom>
          <a:noFill/>
          <a:ln>
            <a:noFill/>
          </a:ln>
        </p:spPr>
      </p:pic>
      <p:sp>
        <p:nvSpPr>
          <p:cNvPr id="99" name="Google Shape;99;p32"/>
          <p:cNvSpPr txBox="1"/>
          <p:nvPr/>
        </p:nvSpPr>
        <p:spPr>
          <a:xfrm>
            <a:off x="159025" y="251792"/>
            <a:ext cx="11736801" cy="769401"/>
          </a:xfrm>
          <a:prstGeom prst="rect">
            <a:avLst/>
          </a:prstGeom>
          <a:noFill/>
          <a:ln>
            <a:noFill/>
          </a:ln>
        </p:spPr>
        <p:txBody>
          <a:bodyPr spcFirstLastPara="1" wrap="square" lIns="91425" tIns="45700" rIns="91425" bIns="45700" anchor="t" anchorCtr="0">
            <a:spAutoFit/>
          </a:bodyPr>
          <a:lstStyle/>
          <a:p>
            <a:r>
              <a:rPr lang="en-US" sz="4400" b="1" dirty="0"/>
              <a:t>Supply Chain Management </a:t>
            </a:r>
            <a:r>
              <a:rPr lang="en-US" sz="4400" b="1" dirty="0" smtClean="0"/>
              <a:t>– Process cont.</a:t>
            </a:r>
            <a:endParaRPr lang="en-US" sz="4400" b="1" dirty="0"/>
          </a:p>
        </p:txBody>
      </p:sp>
      <p:sp>
        <p:nvSpPr>
          <p:cNvPr id="100" name="Google Shape;100;p32"/>
          <p:cNvSpPr/>
          <p:nvPr/>
        </p:nvSpPr>
        <p:spPr>
          <a:xfrm>
            <a:off x="159024" y="1134526"/>
            <a:ext cx="11736801" cy="4401164"/>
          </a:xfrm>
          <a:prstGeom prst="rect">
            <a:avLst/>
          </a:prstGeom>
          <a:noFill/>
          <a:ln>
            <a:noFill/>
          </a:ln>
        </p:spPr>
        <p:txBody>
          <a:bodyPr spcFirstLastPara="1" wrap="square" lIns="91425" tIns="45700" rIns="91425" bIns="45700" anchor="t" anchorCtr="0">
            <a:spAutoFit/>
          </a:bodyPr>
          <a:lstStyle/>
          <a:p>
            <a:r>
              <a:rPr lang="en-US" sz="2800" b="1" dirty="0" smtClean="0"/>
              <a:t>Deliver</a:t>
            </a:r>
            <a:endParaRPr lang="en-US" sz="2800" b="1" dirty="0" smtClean="0"/>
          </a:p>
          <a:p>
            <a:endParaRPr lang="en-US" sz="2800" b="1" dirty="0"/>
          </a:p>
          <a:p>
            <a:r>
              <a:rPr lang="en-US" sz="2800" dirty="0"/>
              <a:t>The fourth stage is the delivery stage. Here the products are delivered to the customer at the destined location by the supplier. This stage is basically the logistics phase, where customer orders are accepted and delivery of the goods is planned. The delivery stage is often referred as logistics, where firms collaborate for the receipt of orders from customers, establish a network of warehouses, pick carriers to deliver products to customers and set up an invoicing system to receive payments.</a:t>
            </a:r>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00">
                                            <p:txEl>
                                              <p:pRg st="0" end="0"/>
                                            </p:txEl>
                                          </p:spTgt>
                                        </p:tgtEl>
                                        <p:attrNameLst>
                                          <p:attrName>style.visibility</p:attrName>
                                        </p:attrNameLst>
                                      </p:cBhvr>
                                      <p:to>
                                        <p:strVal val="visible"/>
                                      </p:to>
                                    </p:set>
                                    <p:animEffect transition="in" filter="fade">
                                      <p:cBhvr>
                                        <p:cTn id="11" dur="500"/>
                                        <p:tgtEl>
                                          <p:spTgt spid="100">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00">
                                            <p:txEl>
                                              <p:pRg st="2" end="2"/>
                                            </p:txEl>
                                          </p:spTgt>
                                        </p:tgtEl>
                                        <p:attrNameLst>
                                          <p:attrName>style.visibility</p:attrName>
                                        </p:attrNameLst>
                                      </p:cBhvr>
                                      <p:to>
                                        <p:strVal val="visible"/>
                                      </p:to>
                                    </p:set>
                                    <p:animEffect transition="in" filter="fade">
                                      <p:cBhvr>
                                        <p:cTn id="16" dur="500"/>
                                        <p:tgtEl>
                                          <p:spTgt spid="10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just" rtl="0">
              <a:lnSpc>
                <a:spcPct val="90000"/>
              </a:lnSpc>
              <a:spcBef>
                <a:spcPts val="0"/>
              </a:spcBef>
              <a:spcAft>
                <a:spcPts val="0"/>
              </a:spcAft>
              <a:buClr>
                <a:schemeClr val="dk1"/>
              </a:buClr>
              <a:buSzPts val="4400"/>
              <a:buFont typeface="Calibri" panose="020F0502020204030204"/>
              <a:buNone/>
            </a:pPr>
          </a:p>
        </p:txBody>
      </p:sp>
      <p:pic>
        <p:nvPicPr>
          <p:cNvPr id="98" name="Google Shape;98;p32"/>
          <p:cNvPicPr preferRelativeResize="0">
            <a:picLocks noGrp="1"/>
          </p:cNvPicPr>
          <p:nvPr>
            <p:ph type="body" idx="1"/>
          </p:nvPr>
        </p:nvPicPr>
        <p:blipFill rotWithShape="1">
          <a:blip r:embed="rId1"/>
          <a:srcRect/>
          <a:stretch>
            <a:fillRect/>
          </a:stretch>
        </p:blipFill>
        <p:spPr>
          <a:xfrm>
            <a:off x="0" y="0"/>
            <a:ext cx="12192000" cy="6858000"/>
          </a:xfrm>
          <a:prstGeom prst="rect">
            <a:avLst/>
          </a:prstGeom>
          <a:noFill/>
          <a:ln>
            <a:noFill/>
          </a:ln>
        </p:spPr>
      </p:pic>
      <p:sp>
        <p:nvSpPr>
          <p:cNvPr id="99" name="Google Shape;99;p32"/>
          <p:cNvSpPr txBox="1"/>
          <p:nvPr/>
        </p:nvSpPr>
        <p:spPr>
          <a:xfrm>
            <a:off x="159025" y="251792"/>
            <a:ext cx="11736801" cy="769401"/>
          </a:xfrm>
          <a:prstGeom prst="rect">
            <a:avLst/>
          </a:prstGeom>
          <a:noFill/>
          <a:ln>
            <a:noFill/>
          </a:ln>
        </p:spPr>
        <p:txBody>
          <a:bodyPr spcFirstLastPara="1" wrap="square" lIns="91425" tIns="45700" rIns="91425" bIns="45700" anchor="t" anchorCtr="0">
            <a:spAutoFit/>
          </a:bodyPr>
          <a:lstStyle/>
          <a:p>
            <a:r>
              <a:rPr lang="en-US" sz="4400" b="1" dirty="0"/>
              <a:t>Supply Chain Management </a:t>
            </a:r>
            <a:r>
              <a:rPr lang="en-US" sz="4400" b="1" dirty="0" smtClean="0"/>
              <a:t>– Process cont.</a:t>
            </a:r>
            <a:endParaRPr lang="en-US" sz="4400" b="1" dirty="0"/>
          </a:p>
        </p:txBody>
      </p:sp>
      <p:sp>
        <p:nvSpPr>
          <p:cNvPr id="100" name="Google Shape;100;p32"/>
          <p:cNvSpPr/>
          <p:nvPr/>
        </p:nvSpPr>
        <p:spPr>
          <a:xfrm>
            <a:off x="159024" y="1134526"/>
            <a:ext cx="11736801" cy="5262939"/>
          </a:xfrm>
          <a:prstGeom prst="rect">
            <a:avLst/>
          </a:prstGeom>
          <a:noFill/>
          <a:ln>
            <a:noFill/>
          </a:ln>
        </p:spPr>
        <p:txBody>
          <a:bodyPr spcFirstLastPara="1" wrap="square" lIns="91425" tIns="45700" rIns="91425" bIns="45700" anchor="t" anchorCtr="0">
            <a:spAutoFit/>
          </a:bodyPr>
          <a:lstStyle/>
          <a:p>
            <a:r>
              <a:rPr lang="en-US" sz="2700" b="1" dirty="0" smtClean="0"/>
              <a:t>Return</a:t>
            </a:r>
            <a:endParaRPr lang="en-US" sz="2700" b="1" dirty="0" smtClean="0"/>
          </a:p>
          <a:p>
            <a:endParaRPr lang="en-US" sz="2700" dirty="0"/>
          </a:p>
          <a:p>
            <a:r>
              <a:rPr lang="en-US" sz="2700" dirty="0"/>
              <a:t>The last and final stage of supply chain management is referred as the return. In the stage, defective or damaged goods are returned to the supplier by the customer. </a:t>
            </a:r>
            <a:r>
              <a:rPr lang="en-US" sz="2700" dirty="0" smtClean="0"/>
              <a:t>Here, the companies need to </a:t>
            </a:r>
            <a:r>
              <a:rPr lang="en-US" sz="2700" dirty="0"/>
              <a:t>deal with customer queries </a:t>
            </a:r>
            <a:r>
              <a:rPr lang="en-US" sz="2700" dirty="0" smtClean="0"/>
              <a:t>and respond to their complaints etc.</a:t>
            </a:r>
            <a:endParaRPr lang="en-US" sz="2700" dirty="0" smtClean="0"/>
          </a:p>
          <a:p>
            <a:endParaRPr lang="en-US" sz="2700" dirty="0"/>
          </a:p>
          <a:p>
            <a:r>
              <a:rPr lang="en-US" sz="2700" dirty="0"/>
              <a:t>This stage often tends to be a problematic section of the supply chain for many companies. The planners of supply chain need to discover a responsive and flexible network for accepting damaged, defective and extra products back from their customers and facilitating the return process for customers who have issues with delivered products.</a:t>
            </a:r>
            <a:endParaRPr lang="en-US" sz="2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
                                            <p:txEl>
                                              <p:pRg st="0" end="0"/>
                                            </p:txEl>
                                          </p:spTgt>
                                        </p:tgtEl>
                                        <p:attrNameLst>
                                          <p:attrName>style.visibility</p:attrName>
                                        </p:attrNameLst>
                                      </p:cBhvr>
                                      <p:to>
                                        <p:strVal val="visible"/>
                                      </p:to>
                                    </p:set>
                                    <p:animEffect transition="in" filter="fade">
                                      <p:cBhvr>
                                        <p:cTn id="7" dur="500"/>
                                        <p:tgtEl>
                                          <p:spTgt spid="10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0">
                                            <p:txEl>
                                              <p:pRg st="2" end="2"/>
                                            </p:txEl>
                                          </p:spTgt>
                                        </p:tgtEl>
                                        <p:attrNameLst>
                                          <p:attrName>style.visibility</p:attrName>
                                        </p:attrNameLst>
                                      </p:cBhvr>
                                      <p:to>
                                        <p:strVal val="visible"/>
                                      </p:to>
                                    </p:set>
                                    <p:animEffect transition="in" filter="fade">
                                      <p:cBhvr>
                                        <p:cTn id="12" dur="500"/>
                                        <p:tgtEl>
                                          <p:spTgt spid="10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0">
                                            <p:txEl>
                                              <p:pRg st="4" end="4"/>
                                            </p:txEl>
                                          </p:spTgt>
                                        </p:tgtEl>
                                        <p:attrNameLst>
                                          <p:attrName>style.visibility</p:attrName>
                                        </p:attrNameLst>
                                      </p:cBhvr>
                                      <p:to>
                                        <p:strVal val="visible"/>
                                      </p:to>
                                    </p:set>
                                    <p:animEffect transition="in" filter="fade">
                                      <p:cBhvr>
                                        <p:cTn id="17" dur="500"/>
                                        <p:tgtEl>
                                          <p:spTgt spid="10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just" rtl="0">
              <a:lnSpc>
                <a:spcPct val="90000"/>
              </a:lnSpc>
              <a:spcBef>
                <a:spcPts val="0"/>
              </a:spcBef>
              <a:spcAft>
                <a:spcPts val="0"/>
              </a:spcAft>
              <a:buClr>
                <a:schemeClr val="dk1"/>
              </a:buClr>
              <a:buSzPts val="4400"/>
              <a:buFont typeface="Calibri" panose="020F0502020204030204"/>
              <a:buNone/>
            </a:pPr>
          </a:p>
        </p:txBody>
      </p:sp>
      <p:pic>
        <p:nvPicPr>
          <p:cNvPr id="98" name="Google Shape;98;p32"/>
          <p:cNvPicPr preferRelativeResize="0">
            <a:picLocks noGrp="1"/>
          </p:cNvPicPr>
          <p:nvPr>
            <p:ph type="body" idx="1"/>
          </p:nvPr>
        </p:nvPicPr>
        <p:blipFill rotWithShape="1">
          <a:blip r:embed="rId1"/>
          <a:srcRect/>
          <a:stretch>
            <a:fillRect/>
          </a:stretch>
        </p:blipFill>
        <p:spPr>
          <a:xfrm>
            <a:off x="0" y="0"/>
            <a:ext cx="12192000" cy="6858000"/>
          </a:xfrm>
          <a:prstGeom prst="rect">
            <a:avLst/>
          </a:prstGeom>
          <a:noFill/>
          <a:ln>
            <a:noFill/>
          </a:ln>
        </p:spPr>
      </p:pic>
      <p:sp>
        <p:nvSpPr>
          <p:cNvPr id="99" name="Google Shape;99;p32"/>
          <p:cNvSpPr txBox="1"/>
          <p:nvPr/>
        </p:nvSpPr>
        <p:spPr>
          <a:xfrm>
            <a:off x="159025" y="251792"/>
            <a:ext cx="11736801" cy="754012"/>
          </a:xfrm>
          <a:prstGeom prst="rect">
            <a:avLst/>
          </a:prstGeom>
          <a:noFill/>
          <a:ln>
            <a:noFill/>
          </a:ln>
        </p:spPr>
        <p:txBody>
          <a:bodyPr spcFirstLastPara="1" wrap="square" lIns="91425" tIns="45700" rIns="91425" bIns="45700" anchor="t" anchorCtr="0">
            <a:spAutoFit/>
          </a:bodyPr>
          <a:lstStyle/>
          <a:p>
            <a:r>
              <a:rPr lang="en-US" sz="4300" b="1" dirty="0"/>
              <a:t>Supply Chain Management - Process </a:t>
            </a:r>
            <a:r>
              <a:rPr lang="en-US" sz="4300" b="1" dirty="0" smtClean="0"/>
              <a:t>Flow</a:t>
            </a:r>
            <a:endParaRPr lang="en-US" sz="4300" b="1" dirty="0"/>
          </a:p>
        </p:txBody>
      </p:sp>
      <p:sp>
        <p:nvSpPr>
          <p:cNvPr id="100" name="Google Shape;100;p32"/>
          <p:cNvSpPr/>
          <p:nvPr/>
        </p:nvSpPr>
        <p:spPr>
          <a:xfrm>
            <a:off x="159024" y="1134526"/>
            <a:ext cx="11736801" cy="4832052"/>
          </a:xfrm>
          <a:prstGeom prst="rect">
            <a:avLst/>
          </a:prstGeom>
          <a:noFill/>
          <a:ln>
            <a:noFill/>
          </a:ln>
        </p:spPr>
        <p:txBody>
          <a:bodyPr spcFirstLastPara="1" wrap="square" lIns="91425" tIns="45700" rIns="91425" bIns="45700" anchor="t" anchorCtr="0">
            <a:spAutoFit/>
          </a:bodyPr>
          <a:lstStyle/>
          <a:p>
            <a:r>
              <a:rPr lang="en-US" sz="2800" dirty="0"/>
              <a:t>Supply chain management can be defined as a systematic flow of materials, goods, and related information among suppliers, companies, retailers, and consumers</a:t>
            </a:r>
            <a:r>
              <a:rPr lang="en-US" sz="2800" dirty="0" smtClean="0"/>
              <a:t>.</a:t>
            </a:r>
            <a:endParaRPr lang="en-US" sz="2800" dirty="0" smtClean="0"/>
          </a:p>
          <a:p>
            <a:endParaRPr lang="en-US" sz="2800" dirty="0"/>
          </a:p>
          <a:p>
            <a:r>
              <a:rPr lang="en-US" sz="2800" b="1" dirty="0" smtClean="0"/>
              <a:t>Types</a:t>
            </a:r>
            <a:endParaRPr lang="en-US" sz="2800" b="1" dirty="0" smtClean="0"/>
          </a:p>
          <a:p>
            <a:endParaRPr lang="en-US" sz="2800" b="1" dirty="0"/>
          </a:p>
          <a:p>
            <a:r>
              <a:rPr lang="en-US" sz="2800" dirty="0"/>
              <a:t>There are three different types of flow in supply chain management −</a:t>
            </a:r>
            <a:endParaRPr lang="en-US" sz="2800" dirty="0"/>
          </a:p>
          <a:p>
            <a:pPr marL="457200" indent="-457200">
              <a:buFont typeface="Arial" panose="020B0604020202020204" pitchFamily="34" charset="0"/>
              <a:buChar char="•"/>
            </a:pPr>
            <a:r>
              <a:rPr lang="en-US" sz="2800" dirty="0"/>
              <a:t>Material flow</a:t>
            </a:r>
            <a:endParaRPr lang="en-US" sz="2800" dirty="0"/>
          </a:p>
          <a:p>
            <a:pPr marL="457200" indent="-457200">
              <a:buFont typeface="Arial" panose="020B0604020202020204" pitchFamily="34" charset="0"/>
              <a:buChar char="•"/>
            </a:pPr>
            <a:r>
              <a:rPr lang="en-US" sz="2800" dirty="0"/>
              <a:t>Information/Data flow</a:t>
            </a:r>
            <a:endParaRPr lang="en-US" sz="2800" dirty="0"/>
          </a:p>
          <a:p>
            <a:pPr marL="457200" indent="-457200">
              <a:buFont typeface="Arial" panose="020B0604020202020204" pitchFamily="34" charset="0"/>
              <a:buChar char="•"/>
            </a:pPr>
            <a:r>
              <a:rPr lang="en-US" sz="2800" dirty="0"/>
              <a:t>Money flow</a:t>
            </a:r>
            <a:endParaRPr lang="en-US" sz="2800" dirty="0"/>
          </a:p>
          <a:p>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00">
                                            <p:txEl>
                                              <p:pRg st="0" end="0"/>
                                            </p:txEl>
                                          </p:spTgt>
                                        </p:tgtEl>
                                        <p:attrNameLst>
                                          <p:attrName>style.visibility</p:attrName>
                                        </p:attrNameLst>
                                      </p:cBhvr>
                                      <p:to>
                                        <p:strVal val="visible"/>
                                      </p:to>
                                    </p:set>
                                    <p:animEffect transition="in" filter="fade">
                                      <p:cBhvr>
                                        <p:cTn id="11" dur="500"/>
                                        <p:tgtEl>
                                          <p:spTgt spid="100">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00">
                                            <p:txEl>
                                              <p:pRg st="2" end="2"/>
                                            </p:txEl>
                                          </p:spTgt>
                                        </p:tgtEl>
                                        <p:attrNameLst>
                                          <p:attrName>style.visibility</p:attrName>
                                        </p:attrNameLst>
                                      </p:cBhvr>
                                      <p:to>
                                        <p:strVal val="visible"/>
                                      </p:to>
                                    </p:set>
                                    <p:animEffect transition="in" filter="fade">
                                      <p:cBhvr>
                                        <p:cTn id="16" dur="500"/>
                                        <p:tgtEl>
                                          <p:spTgt spid="100">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00">
                                            <p:txEl>
                                              <p:pRg st="4" end="4"/>
                                            </p:txEl>
                                          </p:spTgt>
                                        </p:tgtEl>
                                        <p:attrNameLst>
                                          <p:attrName>style.visibility</p:attrName>
                                        </p:attrNameLst>
                                      </p:cBhvr>
                                      <p:to>
                                        <p:strVal val="visible"/>
                                      </p:to>
                                    </p:set>
                                    <p:animEffect transition="in" filter="fade">
                                      <p:cBhvr>
                                        <p:cTn id="21" dur="500"/>
                                        <p:tgtEl>
                                          <p:spTgt spid="100">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00">
                                            <p:txEl>
                                              <p:pRg st="5" end="5"/>
                                            </p:txEl>
                                          </p:spTgt>
                                        </p:tgtEl>
                                        <p:attrNameLst>
                                          <p:attrName>style.visibility</p:attrName>
                                        </p:attrNameLst>
                                      </p:cBhvr>
                                      <p:to>
                                        <p:strVal val="visible"/>
                                      </p:to>
                                    </p:set>
                                    <p:animEffect transition="in" filter="fade">
                                      <p:cBhvr>
                                        <p:cTn id="26" dur="500"/>
                                        <p:tgtEl>
                                          <p:spTgt spid="100">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00">
                                            <p:txEl>
                                              <p:pRg st="6" end="6"/>
                                            </p:txEl>
                                          </p:spTgt>
                                        </p:tgtEl>
                                        <p:attrNameLst>
                                          <p:attrName>style.visibility</p:attrName>
                                        </p:attrNameLst>
                                      </p:cBhvr>
                                      <p:to>
                                        <p:strVal val="visible"/>
                                      </p:to>
                                    </p:set>
                                    <p:animEffect transition="in" filter="fade">
                                      <p:cBhvr>
                                        <p:cTn id="31" dur="500"/>
                                        <p:tgtEl>
                                          <p:spTgt spid="100">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00">
                                            <p:txEl>
                                              <p:pRg st="7" end="7"/>
                                            </p:txEl>
                                          </p:spTgt>
                                        </p:tgtEl>
                                        <p:attrNameLst>
                                          <p:attrName>style.visibility</p:attrName>
                                        </p:attrNameLst>
                                      </p:cBhvr>
                                      <p:to>
                                        <p:strVal val="visible"/>
                                      </p:to>
                                    </p:set>
                                    <p:animEffect transition="in" filter="fade">
                                      <p:cBhvr>
                                        <p:cTn id="36" dur="500"/>
                                        <p:tgtEl>
                                          <p:spTgt spid="10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just" rtl="0">
              <a:lnSpc>
                <a:spcPct val="90000"/>
              </a:lnSpc>
              <a:spcBef>
                <a:spcPts val="0"/>
              </a:spcBef>
              <a:spcAft>
                <a:spcPts val="0"/>
              </a:spcAft>
              <a:buClr>
                <a:schemeClr val="dk1"/>
              </a:buClr>
              <a:buSzPts val="4400"/>
              <a:buFont typeface="Calibri" panose="020F0502020204030204"/>
              <a:buNone/>
            </a:pPr>
          </a:p>
        </p:txBody>
      </p:sp>
      <p:pic>
        <p:nvPicPr>
          <p:cNvPr id="98" name="Google Shape;98;p32"/>
          <p:cNvPicPr preferRelativeResize="0">
            <a:picLocks noGrp="1"/>
          </p:cNvPicPr>
          <p:nvPr>
            <p:ph type="body" idx="1"/>
          </p:nvPr>
        </p:nvPicPr>
        <p:blipFill rotWithShape="1">
          <a:blip r:embed="rId1"/>
          <a:srcRect/>
          <a:stretch>
            <a:fillRect/>
          </a:stretch>
        </p:blipFill>
        <p:spPr>
          <a:xfrm>
            <a:off x="0" y="0"/>
            <a:ext cx="12192000" cy="6858000"/>
          </a:xfrm>
          <a:prstGeom prst="rect">
            <a:avLst/>
          </a:prstGeom>
          <a:noFill/>
          <a:ln>
            <a:noFill/>
          </a:ln>
        </p:spPr>
      </p:pic>
      <p:sp>
        <p:nvSpPr>
          <p:cNvPr id="99" name="Google Shape;99;p32"/>
          <p:cNvSpPr txBox="1"/>
          <p:nvPr/>
        </p:nvSpPr>
        <p:spPr>
          <a:xfrm>
            <a:off x="159025" y="251792"/>
            <a:ext cx="11736801" cy="646290"/>
          </a:xfrm>
          <a:prstGeom prst="rect">
            <a:avLst/>
          </a:prstGeom>
          <a:noFill/>
          <a:ln>
            <a:noFill/>
          </a:ln>
        </p:spPr>
        <p:txBody>
          <a:bodyPr spcFirstLastPara="1" wrap="square" lIns="91425" tIns="45700" rIns="91425" bIns="45700" anchor="t" anchorCtr="0">
            <a:spAutoFit/>
          </a:bodyPr>
          <a:lstStyle/>
          <a:p>
            <a:r>
              <a:rPr lang="en-US" sz="3600" b="1" dirty="0"/>
              <a:t>Supply Chain Management - Process </a:t>
            </a:r>
            <a:r>
              <a:rPr lang="en-US" sz="3600" b="1" dirty="0" smtClean="0"/>
              <a:t>Flow cont.</a:t>
            </a:r>
            <a:endParaRPr lang="en-US" sz="3600" b="1" dirty="0"/>
          </a:p>
        </p:txBody>
      </p:sp>
      <p:pic>
        <p:nvPicPr>
          <p:cNvPr id="3074" name="Picture 2" descr="Types of Process Flo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025" y="1119136"/>
            <a:ext cx="10556600" cy="50143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fade">
                                      <p:cBhvr>
                                        <p:cTn id="7"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just" rtl="0">
              <a:lnSpc>
                <a:spcPct val="90000"/>
              </a:lnSpc>
              <a:spcBef>
                <a:spcPts val="0"/>
              </a:spcBef>
              <a:spcAft>
                <a:spcPts val="0"/>
              </a:spcAft>
              <a:buClr>
                <a:schemeClr val="dk1"/>
              </a:buClr>
              <a:buSzPts val="4400"/>
              <a:buFont typeface="Calibri" panose="020F0502020204030204"/>
              <a:buNone/>
            </a:pPr>
          </a:p>
        </p:txBody>
      </p:sp>
      <p:pic>
        <p:nvPicPr>
          <p:cNvPr id="98" name="Google Shape;98;p32"/>
          <p:cNvPicPr preferRelativeResize="0">
            <a:picLocks noGrp="1"/>
          </p:cNvPicPr>
          <p:nvPr>
            <p:ph type="body" idx="1"/>
          </p:nvPr>
        </p:nvPicPr>
        <p:blipFill rotWithShape="1">
          <a:blip r:embed="rId1"/>
          <a:srcRect/>
          <a:stretch>
            <a:fillRect/>
          </a:stretch>
        </p:blipFill>
        <p:spPr>
          <a:xfrm>
            <a:off x="0" y="0"/>
            <a:ext cx="12192000" cy="6858000"/>
          </a:xfrm>
          <a:prstGeom prst="rect">
            <a:avLst/>
          </a:prstGeom>
          <a:noFill/>
          <a:ln>
            <a:noFill/>
          </a:ln>
        </p:spPr>
      </p:pic>
      <p:sp>
        <p:nvSpPr>
          <p:cNvPr id="99" name="Google Shape;99;p32"/>
          <p:cNvSpPr txBox="1"/>
          <p:nvPr/>
        </p:nvSpPr>
        <p:spPr>
          <a:xfrm>
            <a:off x="159025" y="251792"/>
            <a:ext cx="11736801" cy="646290"/>
          </a:xfrm>
          <a:prstGeom prst="rect">
            <a:avLst/>
          </a:prstGeom>
          <a:noFill/>
          <a:ln>
            <a:noFill/>
          </a:ln>
        </p:spPr>
        <p:txBody>
          <a:bodyPr spcFirstLastPara="1" wrap="square" lIns="91425" tIns="45700" rIns="91425" bIns="45700" anchor="t" anchorCtr="0">
            <a:spAutoFit/>
          </a:bodyPr>
          <a:lstStyle/>
          <a:p>
            <a:r>
              <a:rPr lang="en-US" sz="3600" b="1" dirty="0"/>
              <a:t>Supply Chain Management - Process Flow cont.</a:t>
            </a:r>
            <a:endParaRPr lang="en-US" sz="3600" b="1" dirty="0"/>
          </a:p>
        </p:txBody>
      </p:sp>
      <p:sp>
        <p:nvSpPr>
          <p:cNvPr id="100" name="Google Shape;100;p32"/>
          <p:cNvSpPr/>
          <p:nvPr/>
        </p:nvSpPr>
        <p:spPr>
          <a:xfrm>
            <a:off x="159024" y="1134526"/>
            <a:ext cx="11736801" cy="4724330"/>
          </a:xfrm>
          <a:prstGeom prst="rect">
            <a:avLst/>
          </a:prstGeom>
          <a:noFill/>
          <a:ln>
            <a:noFill/>
          </a:ln>
        </p:spPr>
        <p:txBody>
          <a:bodyPr spcFirstLastPara="1" wrap="square" lIns="91425" tIns="45700" rIns="91425" bIns="45700" anchor="t" anchorCtr="0">
            <a:spAutoFit/>
          </a:bodyPr>
          <a:lstStyle/>
          <a:p>
            <a:r>
              <a:rPr lang="en-US" sz="2400" b="1" dirty="0"/>
              <a:t>Material </a:t>
            </a:r>
            <a:r>
              <a:rPr lang="en-US" sz="2400" b="1" dirty="0" smtClean="0"/>
              <a:t>Flow</a:t>
            </a:r>
            <a:endParaRPr lang="en-US" sz="2400" b="1" dirty="0" smtClean="0"/>
          </a:p>
          <a:p>
            <a:endParaRPr lang="en-US" sz="2400" b="1" dirty="0"/>
          </a:p>
          <a:p>
            <a:r>
              <a:rPr lang="en-US" sz="2300" dirty="0"/>
              <a:t>Material flow includes a smooth flow of an item from the producer to the consumer. This is possible through various warehouses among distributors, dealers and retailers</a:t>
            </a:r>
            <a:r>
              <a:rPr lang="en-US" sz="2300" dirty="0" smtClean="0"/>
              <a:t>.</a:t>
            </a:r>
            <a:endParaRPr lang="en-US" sz="2300" dirty="0" smtClean="0"/>
          </a:p>
          <a:p>
            <a:endParaRPr lang="en-US" sz="2300" dirty="0"/>
          </a:p>
          <a:p>
            <a:r>
              <a:rPr lang="en-US" sz="2300" dirty="0"/>
              <a:t>The main challenge we face is in ensuring that the material flows as inventory quickly without any stoppage through different points in the chain. The quicker it moves, the better it is for the enterprise, as it minimizes the cash cycle</a:t>
            </a:r>
            <a:r>
              <a:rPr lang="en-US" sz="2300" dirty="0" smtClean="0"/>
              <a:t>.</a:t>
            </a:r>
            <a:endParaRPr lang="en-US" sz="2300" dirty="0" smtClean="0"/>
          </a:p>
          <a:p>
            <a:endParaRPr lang="en-US" sz="2300" dirty="0"/>
          </a:p>
          <a:p>
            <a:r>
              <a:rPr lang="en-US" sz="2300" dirty="0"/>
              <a:t>The item can also flow from the consumer to the producer for any kind of repairs, or exchange for an end of life material. Finally, completed goods flow from customers to their consumers through different agencies. A process known as 3PL is in place in this scenario. There is also an internal flow within the customer company.</a:t>
            </a:r>
            <a:endParaRPr lang="en-US" sz="2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
                                            <p:txEl>
                                              <p:pRg st="0" end="0"/>
                                            </p:txEl>
                                          </p:spTgt>
                                        </p:tgtEl>
                                        <p:attrNameLst>
                                          <p:attrName>style.visibility</p:attrName>
                                        </p:attrNameLst>
                                      </p:cBhvr>
                                      <p:to>
                                        <p:strVal val="visible"/>
                                      </p:to>
                                    </p:set>
                                    <p:animEffect transition="in" filter="fade">
                                      <p:cBhvr>
                                        <p:cTn id="7" dur="500"/>
                                        <p:tgtEl>
                                          <p:spTgt spid="10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0">
                                            <p:txEl>
                                              <p:pRg st="2" end="2"/>
                                            </p:txEl>
                                          </p:spTgt>
                                        </p:tgtEl>
                                        <p:attrNameLst>
                                          <p:attrName>style.visibility</p:attrName>
                                        </p:attrNameLst>
                                      </p:cBhvr>
                                      <p:to>
                                        <p:strVal val="visible"/>
                                      </p:to>
                                    </p:set>
                                    <p:animEffect transition="in" filter="fade">
                                      <p:cBhvr>
                                        <p:cTn id="12" dur="500"/>
                                        <p:tgtEl>
                                          <p:spTgt spid="10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0">
                                            <p:txEl>
                                              <p:pRg st="4" end="4"/>
                                            </p:txEl>
                                          </p:spTgt>
                                        </p:tgtEl>
                                        <p:attrNameLst>
                                          <p:attrName>style.visibility</p:attrName>
                                        </p:attrNameLst>
                                      </p:cBhvr>
                                      <p:to>
                                        <p:strVal val="visible"/>
                                      </p:to>
                                    </p:set>
                                    <p:animEffect transition="in" filter="fade">
                                      <p:cBhvr>
                                        <p:cTn id="17" dur="500"/>
                                        <p:tgtEl>
                                          <p:spTgt spid="100">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0">
                                            <p:txEl>
                                              <p:pRg st="6" end="6"/>
                                            </p:txEl>
                                          </p:spTgt>
                                        </p:tgtEl>
                                        <p:attrNameLst>
                                          <p:attrName>style.visibility</p:attrName>
                                        </p:attrNameLst>
                                      </p:cBhvr>
                                      <p:to>
                                        <p:strVal val="visible"/>
                                      </p:to>
                                    </p:set>
                                    <p:animEffect transition="in" filter="fade">
                                      <p:cBhvr>
                                        <p:cTn id="22" dur="500"/>
                                        <p:tgtEl>
                                          <p:spTgt spid="10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just" rtl="0">
              <a:lnSpc>
                <a:spcPct val="90000"/>
              </a:lnSpc>
              <a:spcBef>
                <a:spcPts val="0"/>
              </a:spcBef>
              <a:spcAft>
                <a:spcPts val="0"/>
              </a:spcAft>
              <a:buClr>
                <a:schemeClr val="dk1"/>
              </a:buClr>
              <a:buSzPts val="4400"/>
              <a:buFont typeface="Calibri" panose="020F0502020204030204"/>
              <a:buNone/>
            </a:pPr>
          </a:p>
        </p:txBody>
      </p:sp>
      <p:pic>
        <p:nvPicPr>
          <p:cNvPr id="98" name="Google Shape;98;p32"/>
          <p:cNvPicPr preferRelativeResize="0">
            <a:picLocks noGrp="1"/>
          </p:cNvPicPr>
          <p:nvPr>
            <p:ph type="body" idx="1"/>
          </p:nvPr>
        </p:nvPicPr>
        <p:blipFill rotWithShape="1">
          <a:blip r:embed="rId1"/>
          <a:srcRect/>
          <a:stretch>
            <a:fillRect/>
          </a:stretch>
        </p:blipFill>
        <p:spPr>
          <a:xfrm>
            <a:off x="0" y="0"/>
            <a:ext cx="12192000" cy="6858000"/>
          </a:xfrm>
          <a:prstGeom prst="rect">
            <a:avLst/>
          </a:prstGeom>
          <a:noFill/>
          <a:ln>
            <a:noFill/>
          </a:ln>
        </p:spPr>
      </p:pic>
      <p:sp>
        <p:nvSpPr>
          <p:cNvPr id="99" name="Google Shape;99;p32"/>
          <p:cNvSpPr txBox="1"/>
          <p:nvPr/>
        </p:nvSpPr>
        <p:spPr>
          <a:xfrm>
            <a:off x="159025" y="251792"/>
            <a:ext cx="11736801" cy="646290"/>
          </a:xfrm>
          <a:prstGeom prst="rect">
            <a:avLst/>
          </a:prstGeom>
          <a:noFill/>
          <a:ln>
            <a:noFill/>
          </a:ln>
        </p:spPr>
        <p:txBody>
          <a:bodyPr spcFirstLastPara="1" wrap="square" lIns="91425" tIns="45700" rIns="91425" bIns="45700" anchor="t" anchorCtr="0">
            <a:spAutoFit/>
          </a:bodyPr>
          <a:lstStyle/>
          <a:p>
            <a:r>
              <a:rPr lang="en-US" sz="3600" b="1" dirty="0"/>
              <a:t>Supply Chain Management - Process Flow cont.</a:t>
            </a:r>
            <a:endParaRPr lang="en-US" sz="3600" b="1" dirty="0"/>
          </a:p>
        </p:txBody>
      </p:sp>
      <p:sp>
        <p:nvSpPr>
          <p:cNvPr id="100" name="Google Shape;100;p32"/>
          <p:cNvSpPr/>
          <p:nvPr/>
        </p:nvSpPr>
        <p:spPr>
          <a:xfrm>
            <a:off x="159024" y="1134526"/>
            <a:ext cx="11736801" cy="5155217"/>
          </a:xfrm>
          <a:prstGeom prst="rect">
            <a:avLst/>
          </a:prstGeom>
          <a:noFill/>
          <a:ln>
            <a:noFill/>
          </a:ln>
        </p:spPr>
        <p:txBody>
          <a:bodyPr spcFirstLastPara="1" wrap="square" lIns="91425" tIns="45700" rIns="91425" bIns="45700" anchor="t" anchorCtr="0">
            <a:spAutoFit/>
          </a:bodyPr>
          <a:lstStyle/>
          <a:p>
            <a:r>
              <a:rPr lang="en-US" sz="2400" b="1" dirty="0" smtClean="0"/>
              <a:t>Information Flow</a:t>
            </a:r>
            <a:endParaRPr lang="en-US" sz="2400" b="1" dirty="0" smtClean="0"/>
          </a:p>
          <a:p>
            <a:endParaRPr lang="en-US" sz="2000" dirty="0"/>
          </a:p>
          <a:p>
            <a:r>
              <a:rPr lang="en-US" sz="1900" dirty="0"/>
              <a:t>Information/data flow comprises the request for quotation, purchase order, monthly schedules, engineering change requests, quality complaints and reports on supplier performance from customer side to the supplier</a:t>
            </a:r>
            <a:r>
              <a:rPr lang="en-US" sz="1900" dirty="0" smtClean="0"/>
              <a:t>.</a:t>
            </a:r>
            <a:endParaRPr lang="en-US" sz="1900" dirty="0" smtClean="0"/>
          </a:p>
          <a:p>
            <a:endParaRPr lang="en-US" sz="1900" dirty="0"/>
          </a:p>
          <a:p>
            <a:r>
              <a:rPr lang="en-US" sz="1900" dirty="0"/>
              <a:t>From the producer’s side to the consumer’s side, the information flow consists of the presentation of the company, offer, confirmation of purchase order, reports on action taken on deviation, dispatch details, report on inventory, invoices, etc</a:t>
            </a:r>
            <a:r>
              <a:rPr lang="en-US" sz="1900" dirty="0" smtClean="0"/>
              <a:t>.</a:t>
            </a:r>
            <a:endParaRPr lang="en-US" sz="1900" dirty="0" smtClean="0"/>
          </a:p>
          <a:p>
            <a:endParaRPr lang="en-US" sz="1900" dirty="0"/>
          </a:p>
          <a:p>
            <a:r>
              <a:rPr lang="en-US" sz="1900" dirty="0"/>
              <a:t>For a successful supply chain, regular interaction is necessary between the producer and the consumer. In many instances, we can see that other partners like distributors, dealers, retailers, logistic service providers participate in the information network</a:t>
            </a:r>
            <a:r>
              <a:rPr lang="en-US" sz="1900" dirty="0" smtClean="0"/>
              <a:t>.</a:t>
            </a:r>
            <a:endParaRPr lang="en-US" sz="1900" dirty="0" smtClean="0"/>
          </a:p>
          <a:p>
            <a:endParaRPr lang="en-US" sz="1900" dirty="0"/>
          </a:p>
          <a:p>
            <a:r>
              <a:rPr lang="en-US" sz="1900" dirty="0"/>
              <a:t>In addition to this, several departments at the producer and consumer side are also a part of the information loop. Here we need to note that the internal information flow with the customer for in-house manufacture is different.</a:t>
            </a:r>
            <a:endParaRPr lang="en-US" sz="1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
                                            <p:txEl>
                                              <p:pRg st="0" end="0"/>
                                            </p:txEl>
                                          </p:spTgt>
                                        </p:tgtEl>
                                        <p:attrNameLst>
                                          <p:attrName>style.visibility</p:attrName>
                                        </p:attrNameLst>
                                      </p:cBhvr>
                                      <p:to>
                                        <p:strVal val="visible"/>
                                      </p:to>
                                    </p:set>
                                    <p:animEffect transition="in" filter="fade">
                                      <p:cBhvr>
                                        <p:cTn id="7" dur="500"/>
                                        <p:tgtEl>
                                          <p:spTgt spid="10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0">
                                            <p:txEl>
                                              <p:pRg st="2" end="2"/>
                                            </p:txEl>
                                          </p:spTgt>
                                        </p:tgtEl>
                                        <p:attrNameLst>
                                          <p:attrName>style.visibility</p:attrName>
                                        </p:attrNameLst>
                                      </p:cBhvr>
                                      <p:to>
                                        <p:strVal val="visible"/>
                                      </p:to>
                                    </p:set>
                                    <p:animEffect transition="in" filter="fade">
                                      <p:cBhvr>
                                        <p:cTn id="12" dur="500"/>
                                        <p:tgtEl>
                                          <p:spTgt spid="10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0">
                                            <p:txEl>
                                              <p:pRg st="4" end="4"/>
                                            </p:txEl>
                                          </p:spTgt>
                                        </p:tgtEl>
                                        <p:attrNameLst>
                                          <p:attrName>style.visibility</p:attrName>
                                        </p:attrNameLst>
                                      </p:cBhvr>
                                      <p:to>
                                        <p:strVal val="visible"/>
                                      </p:to>
                                    </p:set>
                                    <p:animEffect transition="in" filter="fade">
                                      <p:cBhvr>
                                        <p:cTn id="17" dur="500"/>
                                        <p:tgtEl>
                                          <p:spTgt spid="100">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0">
                                            <p:txEl>
                                              <p:pRg st="6" end="6"/>
                                            </p:txEl>
                                          </p:spTgt>
                                        </p:tgtEl>
                                        <p:attrNameLst>
                                          <p:attrName>style.visibility</p:attrName>
                                        </p:attrNameLst>
                                      </p:cBhvr>
                                      <p:to>
                                        <p:strVal val="visible"/>
                                      </p:to>
                                    </p:set>
                                    <p:animEffect transition="in" filter="fade">
                                      <p:cBhvr>
                                        <p:cTn id="22" dur="500"/>
                                        <p:tgtEl>
                                          <p:spTgt spid="100">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0">
                                            <p:txEl>
                                              <p:pRg st="8" end="8"/>
                                            </p:txEl>
                                          </p:spTgt>
                                        </p:tgtEl>
                                        <p:attrNameLst>
                                          <p:attrName>style.visibility</p:attrName>
                                        </p:attrNameLst>
                                      </p:cBhvr>
                                      <p:to>
                                        <p:strVal val="visible"/>
                                      </p:to>
                                    </p:set>
                                    <p:animEffect transition="in" filter="fade">
                                      <p:cBhvr>
                                        <p:cTn id="27" dur="500"/>
                                        <p:tgtEl>
                                          <p:spTgt spid="10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just" rtl="0">
              <a:lnSpc>
                <a:spcPct val="90000"/>
              </a:lnSpc>
              <a:spcBef>
                <a:spcPts val="0"/>
              </a:spcBef>
              <a:spcAft>
                <a:spcPts val="0"/>
              </a:spcAft>
              <a:buClr>
                <a:schemeClr val="dk1"/>
              </a:buClr>
              <a:buSzPts val="4400"/>
              <a:buFont typeface="Calibri" panose="020F0502020204030204"/>
              <a:buNone/>
            </a:pPr>
          </a:p>
        </p:txBody>
      </p:sp>
      <p:pic>
        <p:nvPicPr>
          <p:cNvPr id="98" name="Google Shape;98;p32"/>
          <p:cNvPicPr preferRelativeResize="0">
            <a:picLocks noGrp="1"/>
          </p:cNvPicPr>
          <p:nvPr>
            <p:ph type="body" idx="1"/>
          </p:nvPr>
        </p:nvPicPr>
        <p:blipFill rotWithShape="1">
          <a:blip r:embed="rId1"/>
          <a:srcRect/>
          <a:stretch>
            <a:fillRect/>
          </a:stretch>
        </p:blipFill>
        <p:spPr>
          <a:xfrm>
            <a:off x="0" y="0"/>
            <a:ext cx="12192000" cy="6858000"/>
          </a:xfrm>
          <a:prstGeom prst="rect">
            <a:avLst/>
          </a:prstGeom>
          <a:noFill/>
          <a:ln>
            <a:noFill/>
          </a:ln>
        </p:spPr>
      </p:pic>
      <p:sp>
        <p:nvSpPr>
          <p:cNvPr id="99" name="Google Shape;99;p32"/>
          <p:cNvSpPr txBox="1"/>
          <p:nvPr/>
        </p:nvSpPr>
        <p:spPr>
          <a:xfrm>
            <a:off x="159025" y="251792"/>
            <a:ext cx="11736801" cy="646290"/>
          </a:xfrm>
          <a:prstGeom prst="rect">
            <a:avLst/>
          </a:prstGeom>
          <a:noFill/>
          <a:ln>
            <a:noFill/>
          </a:ln>
        </p:spPr>
        <p:txBody>
          <a:bodyPr spcFirstLastPara="1" wrap="square" lIns="91425" tIns="45700" rIns="91425" bIns="45700" anchor="t" anchorCtr="0">
            <a:spAutoFit/>
          </a:bodyPr>
          <a:lstStyle/>
          <a:p>
            <a:r>
              <a:rPr lang="en-US" sz="3600" b="1" dirty="0"/>
              <a:t>Supply Chain Management - Process Flow cont.</a:t>
            </a:r>
            <a:endParaRPr lang="en-US" sz="3600" b="1" dirty="0"/>
          </a:p>
        </p:txBody>
      </p:sp>
      <p:sp>
        <p:nvSpPr>
          <p:cNvPr id="100" name="Google Shape;100;p32"/>
          <p:cNvSpPr/>
          <p:nvPr/>
        </p:nvSpPr>
        <p:spPr>
          <a:xfrm>
            <a:off x="159024" y="1134526"/>
            <a:ext cx="11736801" cy="4154943"/>
          </a:xfrm>
          <a:prstGeom prst="rect">
            <a:avLst/>
          </a:prstGeom>
          <a:noFill/>
          <a:ln>
            <a:noFill/>
          </a:ln>
        </p:spPr>
        <p:txBody>
          <a:bodyPr spcFirstLastPara="1" wrap="square" lIns="91425" tIns="45700" rIns="91425" bIns="45700" anchor="t" anchorCtr="0">
            <a:spAutoFit/>
          </a:bodyPr>
          <a:lstStyle/>
          <a:p>
            <a:r>
              <a:rPr lang="en-US" sz="2400" b="1" dirty="0"/>
              <a:t>Money </a:t>
            </a:r>
            <a:r>
              <a:rPr lang="en-US" sz="2400" b="1" dirty="0" smtClean="0"/>
              <a:t>Flow</a:t>
            </a:r>
            <a:endParaRPr lang="en-US" sz="2400" b="1" dirty="0" smtClean="0"/>
          </a:p>
          <a:p>
            <a:endParaRPr lang="en-US" sz="2400" b="1" dirty="0"/>
          </a:p>
          <a:p>
            <a:r>
              <a:rPr lang="en-US" sz="2400" dirty="0"/>
              <a:t>On the basis of the invoice raised by the producer, the clients examine the order for correctness. If the claims are correct, money flows from the clients to the respective producer. Flow of money is also observed from the producer side to the clients in the form of debit notes</a:t>
            </a:r>
            <a:r>
              <a:rPr lang="en-US" sz="2400" dirty="0" smtClean="0"/>
              <a:t>.</a:t>
            </a:r>
            <a:endParaRPr lang="en-US" sz="2400" dirty="0" smtClean="0"/>
          </a:p>
          <a:p>
            <a:endParaRPr lang="en-US" sz="2400" dirty="0"/>
          </a:p>
          <a:p>
            <a:r>
              <a:rPr lang="en-US" sz="2400" dirty="0"/>
              <a:t>In short, to achieve an efficient and effective supply chain, it is essential to manage all three flows properly with minimal efforts. It is a difficult task for a supply chain manager to identify which information is critical for decision-making. </a:t>
            </a:r>
            <a:r>
              <a:rPr lang="en-US" sz="2400" dirty="0" smtClean="0"/>
              <a:t>Therefore, he or </a:t>
            </a:r>
            <a:r>
              <a:rPr lang="en-US" sz="2400" dirty="0"/>
              <a:t>she would prefer to have the visibility of all flows on the click of a </a:t>
            </a:r>
            <a:r>
              <a:rPr lang="en-US" sz="2400" dirty="0" smtClean="0"/>
              <a:t>button.</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
                                            <p:txEl>
                                              <p:pRg st="0" end="0"/>
                                            </p:txEl>
                                          </p:spTgt>
                                        </p:tgtEl>
                                        <p:attrNameLst>
                                          <p:attrName>style.visibility</p:attrName>
                                        </p:attrNameLst>
                                      </p:cBhvr>
                                      <p:to>
                                        <p:strVal val="visible"/>
                                      </p:to>
                                    </p:set>
                                    <p:animEffect transition="in" filter="fade">
                                      <p:cBhvr>
                                        <p:cTn id="7" dur="500"/>
                                        <p:tgtEl>
                                          <p:spTgt spid="10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0">
                                            <p:txEl>
                                              <p:pRg st="2" end="2"/>
                                            </p:txEl>
                                          </p:spTgt>
                                        </p:tgtEl>
                                        <p:attrNameLst>
                                          <p:attrName>style.visibility</p:attrName>
                                        </p:attrNameLst>
                                      </p:cBhvr>
                                      <p:to>
                                        <p:strVal val="visible"/>
                                      </p:to>
                                    </p:set>
                                    <p:animEffect transition="in" filter="fade">
                                      <p:cBhvr>
                                        <p:cTn id="12" dur="500"/>
                                        <p:tgtEl>
                                          <p:spTgt spid="10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0">
                                            <p:txEl>
                                              <p:pRg st="4" end="4"/>
                                            </p:txEl>
                                          </p:spTgt>
                                        </p:tgtEl>
                                        <p:attrNameLst>
                                          <p:attrName>style.visibility</p:attrName>
                                        </p:attrNameLst>
                                      </p:cBhvr>
                                      <p:to>
                                        <p:strVal val="visible"/>
                                      </p:to>
                                    </p:set>
                                    <p:animEffect transition="in" filter="fade">
                                      <p:cBhvr>
                                        <p:cTn id="17" dur="500"/>
                                        <p:tgtEl>
                                          <p:spTgt spid="10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just" rtl="0">
              <a:lnSpc>
                <a:spcPct val="90000"/>
              </a:lnSpc>
              <a:spcBef>
                <a:spcPts val="0"/>
              </a:spcBef>
              <a:spcAft>
                <a:spcPts val="0"/>
              </a:spcAft>
              <a:buClr>
                <a:schemeClr val="dk1"/>
              </a:buClr>
              <a:buSzPts val="4400"/>
              <a:buFont typeface="Calibri" panose="020F0502020204030204"/>
              <a:buNone/>
            </a:pPr>
          </a:p>
        </p:txBody>
      </p:sp>
      <p:pic>
        <p:nvPicPr>
          <p:cNvPr id="98" name="Google Shape;98;p32"/>
          <p:cNvPicPr preferRelativeResize="0">
            <a:picLocks noGrp="1"/>
          </p:cNvPicPr>
          <p:nvPr>
            <p:ph type="body" idx="1"/>
          </p:nvPr>
        </p:nvPicPr>
        <p:blipFill rotWithShape="1">
          <a:blip r:embed="rId1"/>
          <a:srcRect/>
          <a:stretch>
            <a:fillRect/>
          </a:stretch>
        </p:blipFill>
        <p:spPr>
          <a:xfrm>
            <a:off x="0" y="0"/>
            <a:ext cx="12192000" cy="6858000"/>
          </a:xfrm>
          <a:prstGeom prst="rect">
            <a:avLst/>
          </a:prstGeom>
          <a:noFill/>
          <a:ln>
            <a:noFill/>
          </a:ln>
        </p:spPr>
      </p:pic>
      <p:sp>
        <p:nvSpPr>
          <p:cNvPr id="99" name="Google Shape;99;p32"/>
          <p:cNvSpPr txBox="1"/>
          <p:nvPr/>
        </p:nvSpPr>
        <p:spPr>
          <a:xfrm>
            <a:off x="159025" y="251792"/>
            <a:ext cx="11736801" cy="646290"/>
          </a:xfrm>
          <a:prstGeom prst="rect">
            <a:avLst/>
          </a:prstGeom>
          <a:noFill/>
          <a:ln>
            <a:noFill/>
          </a:ln>
        </p:spPr>
        <p:txBody>
          <a:bodyPr spcFirstLastPara="1" wrap="square" lIns="91425" tIns="45700" rIns="91425" bIns="45700" anchor="t" anchorCtr="0">
            <a:spAutoFit/>
          </a:bodyPr>
          <a:lstStyle/>
          <a:p>
            <a:r>
              <a:rPr lang="en-US" sz="3600" b="1" dirty="0"/>
              <a:t>Supply Chain Management - Flow Components</a:t>
            </a:r>
            <a:endParaRPr lang="en-US" sz="3600" b="1" dirty="0"/>
          </a:p>
        </p:txBody>
      </p:sp>
      <p:sp>
        <p:nvSpPr>
          <p:cNvPr id="100" name="Google Shape;100;p32"/>
          <p:cNvSpPr/>
          <p:nvPr/>
        </p:nvSpPr>
        <p:spPr>
          <a:xfrm>
            <a:off x="159024" y="1134526"/>
            <a:ext cx="5546451" cy="4154943"/>
          </a:xfrm>
          <a:prstGeom prst="rect">
            <a:avLst/>
          </a:prstGeom>
          <a:noFill/>
          <a:ln>
            <a:noFill/>
          </a:ln>
        </p:spPr>
        <p:txBody>
          <a:bodyPr spcFirstLastPara="1" wrap="square" lIns="91425" tIns="45700" rIns="91425" bIns="45700" anchor="t" anchorCtr="0">
            <a:spAutoFit/>
          </a:bodyPr>
          <a:lstStyle/>
          <a:p>
            <a:r>
              <a:rPr lang="en-US" sz="2400" b="1" dirty="0" smtClean="0"/>
              <a:t>Transportation</a:t>
            </a:r>
            <a:endParaRPr lang="en-US" sz="2400" b="1" dirty="0" smtClean="0"/>
          </a:p>
          <a:p>
            <a:endParaRPr lang="en-US" sz="2400" dirty="0"/>
          </a:p>
          <a:p>
            <a:r>
              <a:rPr lang="en-US" sz="2400" dirty="0"/>
              <a:t>Transportation or shipment is necessary for an uninterrupted and seamless supply. The factors that have an impact on shipment are economic uncertainty and instability, varying fuel prices, customers’ expectations, globalization, improvised technologies, changing transportation industry and labor laws.</a:t>
            </a:r>
            <a:endParaRPr lang="en-US" sz="2400" dirty="0"/>
          </a:p>
        </p:txBody>
      </p:sp>
      <p:pic>
        <p:nvPicPr>
          <p:cNvPr id="4098" name="Picture 2" descr="Transportation Of Flow Compon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83951" y="1011415"/>
            <a:ext cx="6111875" cy="51339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fade">
                                      <p:cBhvr>
                                        <p:cTn id="7" dur="500"/>
                                        <p:tgtEl>
                                          <p:spTgt spid="409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0">
                                            <p:txEl>
                                              <p:pRg st="0" end="0"/>
                                            </p:txEl>
                                          </p:spTgt>
                                        </p:tgtEl>
                                        <p:attrNameLst>
                                          <p:attrName>style.visibility</p:attrName>
                                        </p:attrNameLst>
                                      </p:cBhvr>
                                      <p:to>
                                        <p:strVal val="visible"/>
                                      </p:to>
                                    </p:set>
                                    <p:animEffect transition="in" filter="fade">
                                      <p:cBhvr>
                                        <p:cTn id="12" dur="500"/>
                                        <p:tgtEl>
                                          <p:spTgt spid="10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0">
                                            <p:txEl>
                                              <p:pRg st="2" end="2"/>
                                            </p:txEl>
                                          </p:spTgt>
                                        </p:tgtEl>
                                        <p:attrNameLst>
                                          <p:attrName>style.visibility</p:attrName>
                                        </p:attrNameLst>
                                      </p:cBhvr>
                                      <p:to>
                                        <p:strVal val="visible"/>
                                      </p:to>
                                    </p:set>
                                    <p:animEffect transition="in" filter="fade">
                                      <p:cBhvr>
                                        <p:cTn id="17" dur="500"/>
                                        <p:tgtEl>
                                          <p:spTgt spid="10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just" rtl="0">
              <a:lnSpc>
                <a:spcPct val="90000"/>
              </a:lnSpc>
              <a:spcBef>
                <a:spcPts val="0"/>
              </a:spcBef>
              <a:spcAft>
                <a:spcPts val="0"/>
              </a:spcAft>
              <a:buClr>
                <a:schemeClr val="dk1"/>
              </a:buClr>
              <a:buSzPts val="4400"/>
              <a:buFont typeface="Calibri" panose="020F0502020204030204"/>
              <a:buNone/>
            </a:pPr>
          </a:p>
        </p:txBody>
      </p:sp>
      <p:pic>
        <p:nvPicPr>
          <p:cNvPr id="98" name="Google Shape;98;p32"/>
          <p:cNvPicPr preferRelativeResize="0">
            <a:picLocks noGrp="1"/>
          </p:cNvPicPr>
          <p:nvPr>
            <p:ph type="body" idx="1"/>
          </p:nvPr>
        </p:nvPicPr>
        <p:blipFill rotWithShape="1">
          <a:blip r:embed="rId1"/>
          <a:srcRect/>
          <a:stretch>
            <a:fillRect/>
          </a:stretch>
        </p:blipFill>
        <p:spPr>
          <a:xfrm>
            <a:off x="0" y="0"/>
            <a:ext cx="12192000" cy="6858000"/>
          </a:xfrm>
          <a:prstGeom prst="rect">
            <a:avLst/>
          </a:prstGeom>
          <a:noFill/>
          <a:ln>
            <a:noFill/>
          </a:ln>
        </p:spPr>
      </p:pic>
      <p:sp>
        <p:nvSpPr>
          <p:cNvPr id="99" name="Google Shape;99;p32"/>
          <p:cNvSpPr txBox="1"/>
          <p:nvPr/>
        </p:nvSpPr>
        <p:spPr>
          <a:xfrm>
            <a:off x="159025" y="251792"/>
            <a:ext cx="11736801" cy="646290"/>
          </a:xfrm>
          <a:prstGeom prst="rect">
            <a:avLst/>
          </a:prstGeom>
          <a:noFill/>
          <a:ln>
            <a:noFill/>
          </a:ln>
        </p:spPr>
        <p:txBody>
          <a:bodyPr spcFirstLastPara="1" wrap="square" lIns="91425" tIns="45700" rIns="91425" bIns="45700" anchor="t" anchorCtr="0">
            <a:spAutoFit/>
          </a:bodyPr>
          <a:lstStyle/>
          <a:p>
            <a:r>
              <a:rPr lang="en-US" sz="3600" b="1" dirty="0"/>
              <a:t>Supply Chain Management - Flow </a:t>
            </a:r>
            <a:r>
              <a:rPr lang="en-US" sz="3600" b="1" dirty="0" smtClean="0"/>
              <a:t>Components cont.</a:t>
            </a:r>
            <a:endParaRPr lang="en-US" sz="3600" b="1" dirty="0"/>
          </a:p>
        </p:txBody>
      </p:sp>
      <p:sp>
        <p:nvSpPr>
          <p:cNvPr id="100" name="Google Shape;100;p32"/>
          <p:cNvSpPr/>
          <p:nvPr/>
        </p:nvSpPr>
        <p:spPr>
          <a:xfrm>
            <a:off x="159024" y="1134526"/>
            <a:ext cx="11736801" cy="5355272"/>
          </a:xfrm>
          <a:prstGeom prst="rect">
            <a:avLst/>
          </a:prstGeom>
          <a:noFill/>
          <a:ln>
            <a:noFill/>
          </a:ln>
        </p:spPr>
        <p:txBody>
          <a:bodyPr spcFirstLastPara="1" wrap="square" lIns="91425" tIns="45700" rIns="91425" bIns="45700" anchor="t" anchorCtr="0">
            <a:spAutoFit/>
          </a:bodyPr>
          <a:lstStyle/>
          <a:p>
            <a:r>
              <a:rPr lang="en-US" sz="1800" b="1" dirty="0" smtClean="0"/>
              <a:t>Transportation</a:t>
            </a:r>
            <a:endParaRPr lang="en-US" sz="1800" b="1" dirty="0" smtClean="0"/>
          </a:p>
          <a:p>
            <a:endParaRPr lang="en-US" sz="1800" b="1" dirty="0"/>
          </a:p>
          <a:p>
            <a:r>
              <a:rPr lang="en-US" sz="1800" dirty="0"/>
              <a:t>The major elements that influence transportation should be considered, as it is completely dependent on these factors for order completion as well as for ensuring that all the flows work properly. The major factors are </a:t>
            </a:r>
            <a:r>
              <a:rPr lang="en-US" sz="1800" dirty="0" smtClean="0"/>
              <a:t>−</a:t>
            </a:r>
            <a:endParaRPr lang="en-US" sz="1800" dirty="0" smtClean="0"/>
          </a:p>
          <a:p>
            <a:endParaRPr lang="en-US" sz="1800" b="1" dirty="0"/>
          </a:p>
          <a:p>
            <a:r>
              <a:rPr lang="en-US" sz="1800" b="1" dirty="0"/>
              <a:t>Long-term </a:t>
            </a:r>
            <a:r>
              <a:rPr lang="en-US" sz="1800" b="1" dirty="0" smtClean="0"/>
              <a:t>Decisions</a:t>
            </a:r>
            <a:endParaRPr lang="en-US" sz="1800" b="1" dirty="0" smtClean="0"/>
          </a:p>
          <a:p>
            <a:endParaRPr lang="en-US" sz="1800" dirty="0"/>
          </a:p>
          <a:p>
            <a:r>
              <a:rPr lang="en-US" sz="1800" dirty="0"/>
              <a:t>Transportation managers should acknowledge the supply freight flow and accordingly design the network layout. Now, when we say long term decision, we mean that the transportation manager has to select what should be the primary mode of transportation</a:t>
            </a:r>
            <a:r>
              <a:rPr lang="en-US" sz="1800" dirty="0" smtClean="0"/>
              <a:t>.</a:t>
            </a:r>
            <a:endParaRPr lang="en-US" sz="1800" dirty="0" smtClean="0"/>
          </a:p>
          <a:p>
            <a:endParaRPr lang="en-US" sz="1800" dirty="0"/>
          </a:p>
          <a:p>
            <a:r>
              <a:rPr lang="en-US" sz="1800" dirty="0"/>
              <a:t>The manager has to understand the product flows, volume, frequency, seasonality, physical features of products and special handlings necessities, if any. In addition to this, the manager has to make decisions as to the extent of outsourcing to be done for each and every product. While considering all these factors, he should carefully consider the fact that the networks need not be constant</a:t>
            </a:r>
            <a:r>
              <a:rPr lang="en-US" sz="1800" dirty="0" smtClean="0"/>
              <a:t>.</a:t>
            </a:r>
            <a:endParaRPr lang="en-US" sz="1800" dirty="0" smtClean="0"/>
          </a:p>
          <a:p>
            <a:endParaRPr lang="en-US" sz="1800" dirty="0"/>
          </a:p>
          <a:p>
            <a:r>
              <a:rPr lang="en-US" sz="1800" b="1" dirty="0"/>
              <a:t>For example</a:t>
            </a:r>
            <a:r>
              <a:rPr lang="en-US" sz="1800" dirty="0"/>
              <a:t>, in order to transport stock to regional cross dock facilities for sorting, packaging and brokering small loads to individual customers, stock destinations can be assembled through contract transportation providers.</a:t>
            </a:r>
            <a:endParaRPr lang="en-US" sz="1800" dirty="0"/>
          </a:p>
          <a:p>
            <a:endParaRPr lang="en-US" sz="18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
                                            <p:txEl>
                                              <p:pRg st="0" end="0"/>
                                            </p:txEl>
                                          </p:spTgt>
                                        </p:tgtEl>
                                        <p:attrNameLst>
                                          <p:attrName>style.visibility</p:attrName>
                                        </p:attrNameLst>
                                      </p:cBhvr>
                                      <p:to>
                                        <p:strVal val="visible"/>
                                      </p:to>
                                    </p:set>
                                    <p:animEffect transition="in" filter="fade">
                                      <p:cBhvr>
                                        <p:cTn id="7" dur="500"/>
                                        <p:tgtEl>
                                          <p:spTgt spid="10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0">
                                            <p:txEl>
                                              <p:pRg st="2" end="2"/>
                                            </p:txEl>
                                          </p:spTgt>
                                        </p:tgtEl>
                                        <p:attrNameLst>
                                          <p:attrName>style.visibility</p:attrName>
                                        </p:attrNameLst>
                                      </p:cBhvr>
                                      <p:to>
                                        <p:strVal val="visible"/>
                                      </p:to>
                                    </p:set>
                                    <p:animEffect transition="in" filter="fade">
                                      <p:cBhvr>
                                        <p:cTn id="12" dur="500"/>
                                        <p:tgtEl>
                                          <p:spTgt spid="10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0">
                                            <p:txEl>
                                              <p:pRg st="4" end="4"/>
                                            </p:txEl>
                                          </p:spTgt>
                                        </p:tgtEl>
                                        <p:attrNameLst>
                                          <p:attrName>style.visibility</p:attrName>
                                        </p:attrNameLst>
                                      </p:cBhvr>
                                      <p:to>
                                        <p:strVal val="visible"/>
                                      </p:to>
                                    </p:set>
                                    <p:animEffect transition="in" filter="fade">
                                      <p:cBhvr>
                                        <p:cTn id="17" dur="500"/>
                                        <p:tgtEl>
                                          <p:spTgt spid="100">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0">
                                            <p:txEl>
                                              <p:pRg st="6" end="6"/>
                                            </p:txEl>
                                          </p:spTgt>
                                        </p:tgtEl>
                                        <p:attrNameLst>
                                          <p:attrName>style.visibility</p:attrName>
                                        </p:attrNameLst>
                                      </p:cBhvr>
                                      <p:to>
                                        <p:strVal val="visible"/>
                                      </p:to>
                                    </p:set>
                                    <p:animEffect transition="in" filter="fade">
                                      <p:cBhvr>
                                        <p:cTn id="22" dur="500"/>
                                        <p:tgtEl>
                                          <p:spTgt spid="100">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0">
                                            <p:txEl>
                                              <p:pRg st="8" end="8"/>
                                            </p:txEl>
                                          </p:spTgt>
                                        </p:tgtEl>
                                        <p:attrNameLst>
                                          <p:attrName>style.visibility</p:attrName>
                                        </p:attrNameLst>
                                      </p:cBhvr>
                                      <p:to>
                                        <p:strVal val="visible"/>
                                      </p:to>
                                    </p:set>
                                    <p:animEffect transition="in" filter="fade">
                                      <p:cBhvr>
                                        <p:cTn id="27" dur="500"/>
                                        <p:tgtEl>
                                          <p:spTgt spid="100">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0">
                                            <p:txEl>
                                              <p:pRg st="10" end="10"/>
                                            </p:txEl>
                                          </p:spTgt>
                                        </p:tgtEl>
                                        <p:attrNameLst>
                                          <p:attrName>style.visibility</p:attrName>
                                        </p:attrNameLst>
                                      </p:cBhvr>
                                      <p:to>
                                        <p:strVal val="visible"/>
                                      </p:to>
                                    </p:set>
                                    <p:animEffect transition="in" filter="fade">
                                      <p:cBhvr>
                                        <p:cTn id="32" dur="500"/>
                                        <p:tgtEl>
                                          <p:spTgt spid="100">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just" rtl="0">
              <a:lnSpc>
                <a:spcPct val="90000"/>
              </a:lnSpc>
              <a:spcBef>
                <a:spcPts val="0"/>
              </a:spcBef>
              <a:spcAft>
                <a:spcPts val="0"/>
              </a:spcAft>
              <a:buClr>
                <a:schemeClr val="dk1"/>
              </a:buClr>
              <a:buSzPts val="4400"/>
              <a:buFont typeface="Calibri" panose="020F0502020204030204"/>
              <a:buNone/>
            </a:pPr>
          </a:p>
        </p:txBody>
      </p:sp>
      <p:pic>
        <p:nvPicPr>
          <p:cNvPr id="98" name="Google Shape;98;p32"/>
          <p:cNvPicPr preferRelativeResize="0">
            <a:picLocks noGrp="1"/>
          </p:cNvPicPr>
          <p:nvPr>
            <p:ph type="body" idx="1"/>
          </p:nvPr>
        </p:nvPicPr>
        <p:blipFill rotWithShape="1">
          <a:blip r:embed="rId1"/>
          <a:srcRect/>
          <a:stretch>
            <a:fillRect/>
          </a:stretch>
        </p:blipFill>
        <p:spPr>
          <a:xfrm>
            <a:off x="0" y="0"/>
            <a:ext cx="12192000" cy="6858000"/>
          </a:xfrm>
          <a:prstGeom prst="rect">
            <a:avLst/>
          </a:prstGeom>
          <a:noFill/>
          <a:ln>
            <a:noFill/>
          </a:ln>
        </p:spPr>
      </p:pic>
      <p:sp>
        <p:nvSpPr>
          <p:cNvPr id="99" name="Google Shape;99;p32"/>
          <p:cNvSpPr txBox="1"/>
          <p:nvPr/>
        </p:nvSpPr>
        <p:spPr>
          <a:xfrm>
            <a:off x="159025" y="251792"/>
            <a:ext cx="11736801" cy="646290"/>
          </a:xfrm>
          <a:prstGeom prst="rect">
            <a:avLst/>
          </a:prstGeom>
          <a:noFill/>
          <a:ln>
            <a:noFill/>
          </a:ln>
        </p:spPr>
        <p:txBody>
          <a:bodyPr spcFirstLastPara="1" wrap="square" lIns="91425" tIns="45700" rIns="91425" bIns="45700" anchor="t" anchorCtr="0">
            <a:spAutoFit/>
          </a:bodyPr>
          <a:lstStyle/>
          <a:p>
            <a:r>
              <a:rPr lang="en-US" sz="3600" b="1" dirty="0"/>
              <a:t>Supply Chain Management - Flow </a:t>
            </a:r>
            <a:r>
              <a:rPr lang="en-US" sz="3600" b="1" dirty="0" smtClean="0"/>
              <a:t>Components cont.</a:t>
            </a:r>
            <a:endParaRPr lang="en-US" sz="3600" b="1" dirty="0"/>
          </a:p>
        </p:txBody>
      </p:sp>
      <p:sp>
        <p:nvSpPr>
          <p:cNvPr id="100" name="Google Shape;100;p32"/>
          <p:cNvSpPr/>
          <p:nvPr/>
        </p:nvSpPr>
        <p:spPr>
          <a:xfrm>
            <a:off x="159024" y="1134526"/>
            <a:ext cx="11736801" cy="5078273"/>
          </a:xfrm>
          <a:prstGeom prst="rect">
            <a:avLst/>
          </a:prstGeom>
          <a:noFill/>
          <a:ln>
            <a:noFill/>
          </a:ln>
        </p:spPr>
        <p:txBody>
          <a:bodyPr spcFirstLastPara="1" wrap="square" lIns="91425" tIns="45700" rIns="91425" bIns="45700" anchor="t" anchorCtr="0">
            <a:spAutoFit/>
          </a:bodyPr>
          <a:lstStyle/>
          <a:p>
            <a:r>
              <a:rPr lang="en-US" sz="1800" b="1" dirty="0" smtClean="0"/>
              <a:t>Transportation</a:t>
            </a:r>
            <a:endParaRPr lang="en-US" sz="1800" b="1" dirty="0" smtClean="0"/>
          </a:p>
          <a:p>
            <a:endParaRPr lang="en-US" sz="1800" b="1" dirty="0"/>
          </a:p>
          <a:p>
            <a:r>
              <a:rPr lang="en-US" sz="1800" b="1" dirty="0"/>
              <a:t>Lane Operation </a:t>
            </a:r>
            <a:r>
              <a:rPr lang="en-US" sz="1800" b="1" dirty="0" smtClean="0"/>
              <a:t>Decisions</a:t>
            </a:r>
            <a:endParaRPr lang="en-US" sz="1800" b="1" dirty="0" smtClean="0"/>
          </a:p>
          <a:p>
            <a:endParaRPr lang="en-US" sz="1800" dirty="0"/>
          </a:p>
          <a:p>
            <a:r>
              <a:rPr lang="en-US" sz="1800" dirty="0"/>
              <a:t>These functional decisions stress on daily freight operations. Here, the transportation managers work on real time information on products’ requirements at different system nodes and must collaborate every move of the product that is both inbound and outbound shipping lanes so as to satisfy their services demands at the minimal possible cost</a:t>
            </a:r>
            <a:r>
              <a:rPr lang="en-US" sz="1800" dirty="0" smtClean="0"/>
              <a:t>.</a:t>
            </a:r>
            <a:endParaRPr lang="en-US" sz="1800" dirty="0" smtClean="0"/>
          </a:p>
          <a:p>
            <a:endParaRPr lang="en-US" sz="1800" dirty="0"/>
          </a:p>
          <a:p>
            <a:r>
              <a:rPr lang="en-US" sz="1800" dirty="0"/>
              <a:t>Managers who make good decisions easily handle information and utilize the opportunities for their own profit and assure that the product is moved to them immediately, whenever it is demanded, that too in the right quantity. At the same time, they are saving cost on transportation also</a:t>
            </a:r>
            <a:r>
              <a:rPr lang="en-US" sz="1800" dirty="0" smtClean="0"/>
              <a:t>.</a:t>
            </a:r>
            <a:endParaRPr lang="en-US" sz="1800" dirty="0" smtClean="0"/>
          </a:p>
          <a:p>
            <a:endParaRPr lang="en-US" sz="1800" dirty="0"/>
          </a:p>
          <a:p>
            <a:r>
              <a:rPr lang="en-US" sz="1800" b="1" dirty="0"/>
              <a:t>For example</a:t>
            </a:r>
            <a:r>
              <a:rPr lang="en-US" sz="1800" dirty="0"/>
              <a:t>, a shipment has landed from a supplier who is based in New Jersey and in the same week, a product needs to be dispatched to New York as it becomes available for movement. If the manager is aware of this information in advance, he would prepare everything as per the demand and the products could be shipped out immediately.</a:t>
            </a:r>
            <a:endParaRPr lang="en-US" sz="1800" dirty="0"/>
          </a:p>
          <a:p>
            <a:endParaRPr lang="en-US" sz="18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
                                            <p:txEl>
                                              <p:pRg st="0" end="0"/>
                                            </p:txEl>
                                          </p:spTgt>
                                        </p:tgtEl>
                                        <p:attrNameLst>
                                          <p:attrName>style.visibility</p:attrName>
                                        </p:attrNameLst>
                                      </p:cBhvr>
                                      <p:to>
                                        <p:strVal val="visible"/>
                                      </p:to>
                                    </p:set>
                                    <p:animEffect transition="in" filter="fade">
                                      <p:cBhvr>
                                        <p:cTn id="7" dur="500"/>
                                        <p:tgtEl>
                                          <p:spTgt spid="10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00">
                                            <p:txEl>
                                              <p:pRg st="2" end="2"/>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00">
                                            <p:txEl>
                                              <p:pRg st="4" end="4"/>
                                            </p:txEl>
                                          </p:spTgt>
                                        </p:tgtEl>
                                        <p:attrNameLst>
                                          <p:attrName>style.visibility</p:attrName>
                                        </p:attrNameLst>
                                      </p:cBhvr>
                                      <p:to>
                                        <p:strVal val="visible"/>
                                      </p:to>
                                    </p:set>
                                    <p:animEffect transition="in" filter="fade">
                                      <p:cBhvr>
                                        <p:cTn id="16" dur="500"/>
                                        <p:tgtEl>
                                          <p:spTgt spid="100">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00">
                                            <p:txEl>
                                              <p:pRg st="6" end="6"/>
                                            </p:txEl>
                                          </p:spTgt>
                                        </p:tgtEl>
                                        <p:attrNameLst>
                                          <p:attrName>style.visibility</p:attrName>
                                        </p:attrNameLst>
                                      </p:cBhvr>
                                      <p:to>
                                        <p:strVal val="visible"/>
                                      </p:to>
                                    </p:set>
                                    <p:animEffect transition="in" filter="fade">
                                      <p:cBhvr>
                                        <p:cTn id="21" dur="500"/>
                                        <p:tgtEl>
                                          <p:spTgt spid="100">
                                            <p:txEl>
                                              <p:pRg st="6" end="6"/>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00">
                                            <p:txEl>
                                              <p:pRg st="8" end="8"/>
                                            </p:txEl>
                                          </p:spTgt>
                                        </p:tgtEl>
                                        <p:attrNameLst>
                                          <p:attrName>style.visibility</p:attrName>
                                        </p:attrNameLst>
                                      </p:cBhvr>
                                      <p:to>
                                        <p:strVal val="visible"/>
                                      </p:to>
                                    </p:set>
                                    <p:animEffect transition="in" filter="fade">
                                      <p:cBhvr>
                                        <p:cTn id="26" dur="500"/>
                                        <p:tgtEl>
                                          <p:spTgt spid="10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just" rtl="0">
              <a:lnSpc>
                <a:spcPct val="90000"/>
              </a:lnSpc>
              <a:spcBef>
                <a:spcPts val="0"/>
              </a:spcBef>
              <a:spcAft>
                <a:spcPts val="0"/>
              </a:spcAft>
              <a:buClr>
                <a:schemeClr val="dk1"/>
              </a:buClr>
              <a:buSzPts val="4400"/>
              <a:buFont typeface="Calibri" panose="020F0502020204030204"/>
              <a:buNone/>
            </a:pPr>
          </a:p>
        </p:txBody>
      </p:sp>
      <p:pic>
        <p:nvPicPr>
          <p:cNvPr id="98" name="Google Shape;98;p32"/>
          <p:cNvPicPr preferRelativeResize="0">
            <a:picLocks noGrp="1"/>
          </p:cNvPicPr>
          <p:nvPr>
            <p:ph type="body" idx="1"/>
          </p:nvPr>
        </p:nvPicPr>
        <p:blipFill rotWithShape="1">
          <a:blip r:embed="rId1"/>
          <a:srcRect/>
          <a:stretch>
            <a:fillRect/>
          </a:stretch>
        </p:blipFill>
        <p:spPr>
          <a:xfrm>
            <a:off x="0" y="0"/>
            <a:ext cx="12192000" cy="6858000"/>
          </a:xfrm>
          <a:prstGeom prst="rect">
            <a:avLst/>
          </a:prstGeom>
          <a:noFill/>
          <a:ln>
            <a:noFill/>
          </a:ln>
        </p:spPr>
      </p:pic>
      <p:sp>
        <p:nvSpPr>
          <p:cNvPr id="99" name="Google Shape;99;p32"/>
          <p:cNvSpPr txBox="1"/>
          <p:nvPr/>
        </p:nvSpPr>
        <p:spPr>
          <a:xfrm>
            <a:off x="159025" y="251792"/>
            <a:ext cx="11736801" cy="646290"/>
          </a:xfrm>
          <a:prstGeom prst="rect">
            <a:avLst/>
          </a:prstGeom>
          <a:noFill/>
          <a:ln>
            <a:noFill/>
          </a:ln>
        </p:spPr>
        <p:txBody>
          <a:bodyPr spcFirstLastPara="1" wrap="square" lIns="91425" tIns="45700" rIns="91425" bIns="45700" anchor="t" anchorCtr="0">
            <a:spAutoFit/>
          </a:bodyPr>
          <a:lstStyle/>
          <a:p>
            <a:r>
              <a:rPr lang="en-US" sz="3600" b="1" dirty="0"/>
              <a:t>Supply Chain Management - Flow </a:t>
            </a:r>
            <a:r>
              <a:rPr lang="en-US" sz="3600" b="1" dirty="0" smtClean="0"/>
              <a:t>Components cont.</a:t>
            </a:r>
            <a:endParaRPr lang="en-US" sz="3600" b="1" dirty="0"/>
          </a:p>
        </p:txBody>
      </p:sp>
      <p:sp>
        <p:nvSpPr>
          <p:cNvPr id="100" name="Google Shape;100;p32"/>
          <p:cNvSpPr/>
          <p:nvPr/>
        </p:nvSpPr>
        <p:spPr>
          <a:xfrm>
            <a:off x="159024" y="1134526"/>
            <a:ext cx="11736801" cy="4093388"/>
          </a:xfrm>
          <a:prstGeom prst="rect">
            <a:avLst/>
          </a:prstGeom>
          <a:noFill/>
          <a:ln>
            <a:noFill/>
          </a:ln>
        </p:spPr>
        <p:txBody>
          <a:bodyPr spcFirstLastPara="1" wrap="square" lIns="91425" tIns="45700" rIns="91425" bIns="45700" anchor="t" anchorCtr="0">
            <a:spAutoFit/>
          </a:bodyPr>
          <a:lstStyle/>
          <a:p>
            <a:r>
              <a:rPr lang="en-US" sz="2000" b="1" dirty="0" smtClean="0"/>
              <a:t>Transportation</a:t>
            </a:r>
            <a:endParaRPr lang="en-US" sz="2000" b="1" dirty="0" smtClean="0"/>
          </a:p>
          <a:p>
            <a:endParaRPr lang="en-US" sz="2000" b="1" dirty="0"/>
          </a:p>
          <a:p>
            <a:r>
              <a:rPr lang="en-US" sz="2000" b="1" dirty="0"/>
              <a:t>Choice and Mode of </a:t>
            </a:r>
            <a:r>
              <a:rPr lang="en-US" sz="2000" b="1" dirty="0" smtClean="0"/>
              <a:t>Carrier</a:t>
            </a:r>
            <a:endParaRPr lang="en-US" sz="2000" b="1" dirty="0" smtClean="0"/>
          </a:p>
          <a:p>
            <a:endParaRPr lang="en-US" sz="2000" dirty="0"/>
          </a:p>
          <a:p>
            <a:r>
              <a:rPr lang="en-US" sz="2000" dirty="0"/>
              <a:t>A very important decision to be made is to choose the mode of transportation. With the improvement in the means of transportation, modes of transport that were not available in the traditional transportation modes in the past can be now be a preferred choice</a:t>
            </a:r>
            <a:r>
              <a:rPr lang="en-US" sz="2000" dirty="0" smtClean="0"/>
              <a:t>.</a:t>
            </a:r>
            <a:endParaRPr lang="en-US" sz="2000" dirty="0" smtClean="0"/>
          </a:p>
          <a:p>
            <a:endParaRPr lang="en-US" sz="2000" dirty="0"/>
          </a:p>
          <a:p>
            <a:r>
              <a:rPr lang="en-US" sz="2000" b="1" dirty="0"/>
              <a:t>For example</a:t>
            </a:r>
            <a:r>
              <a:rPr lang="en-US" sz="2000" dirty="0"/>
              <a:t>, rail container service may offer a package that is cost-efficient and effective as compared to a motor transport. While making a decision, the manager has to consider the service criteria that need to be met, like the delivery time, date special handling requirements, while also taking into consideration the element of cost, which would be an important factor.</a:t>
            </a:r>
            <a:endParaRPr lang="en-US" sz="2000" dirty="0"/>
          </a:p>
          <a:p>
            <a:endParaRPr lang="en-US" sz="20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
                                            <p:txEl>
                                              <p:pRg st="0" end="0"/>
                                            </p:txEl>
                                          </p:spTgt>
                                        </p:tgtEl>
                                        <p:attrNameLst>
                                          <p:attrName>style.visibility</p:attrName>
                                        </p:attrNameLst>
                                      </p:cBhvr>
                                      <p:to>
                                        <p:strVal val="visible"/>
                                      </p:to>
                                    </p:set>
                                    <p:animEffect transition="in" filter="fade">
                                      <p:cBhvr>
                                        <p:cTn id="7" dur="500"/>
                                        <p:tgtEl>
                                          <p:spTgt spid="10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0">
                                            <p:txEl>
                                              <p:pRg st="2" end="2"/>
                                            </p:txEl>
                                          </p:spTgt>
                                        </p:tgtEl>
                                        <p:attrNameLst>
                                          <p:attrName>style.visibility</p:attrName>
                                        </p:attrNameLst>
                                      </p:cBhvr>
                                      <p:to>
                                        <p:strVal val="visible"/>
                                      </p:to>
                                    </p:set>
                                    <p:animEffect transition="in" filter="fade">
                                      <p:cBhvr>
                                        <p:cTn id="12" dur="500"/>
                                        <p:tgtEl>
                                          <p:spTgt spid="10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0">
                                            <p:txEl>
                                              <p:pRg st="4" end="4"/>
                                            </p:txEl>
                                          </p:spTgt>
                                        </p:tgtEl>
                                        <p:attrNameLst>
                                          <p:attrName>style.visibility</p:attrName>
                                        </p:attrNameLst>
                                      </p:cBhvr>
                                      <p:to>
                                        <p:strVal val="visible"/>
                                      </p:to>
                                    </p:set>
                                    <p:animEffect transition="in" filter="fade">
                                      <p:cBhvr>
                                        <p:cTn id="17" dur="500"/>
                                        <p:tgtEl>
                                          <p:spTgt spid="100">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0">
                                            <p:txEl>
                                              <p:pRg st="6" end="6"/>
                                            </p:txEl>
                                          </p:spTgt>
                                        </p:tgtEl>
                                        <p:attrNameLst>
                                          <p:attrName>style.visibility</p:attrName>
                                        </p:attrNameLst>
                                      </p:cBhvr>
                                      <p:to>
                                        <p:strVal val="visible"/>
                                      </p:to>
                                    </p:set>
                                    <p:animEffect transition="in" filter="fade">
                                      <p:cBhvr>
                                        <p:cTn id="22" dur="500"/>
                                        <p:tgtEl>
                                          <p:spTgt spid="10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just" rtl="0">
              <a:lnSpc>
                <a:spcPct val="90000"/>
              </a:lnSpc>
              <a:spcBef>
                <a:spcPts val="0"/>
              </a:spcBef>
              <a:spcAft>
                <a:spcPts val="0"/>
              </a:spcAft>
              <a:buClr>
                <a:schemeClr val="dk1"/>
              </a:buClr>
              <a:buSzPts val="4400"/>
              <a:buFont typeface="Calibri" panose="020F0502020204030204"/>
              <a:buNone/>
            </a:pPr>
          </a:p>
        </p:txBody>
      </p:sp>
      <p:pic>
        <p:nvPicPr>
          <p:cNvPr id="98" name="Google Shape;98;p32"/>
          <p:cNvPicPr preferRelativeResize="0">
            <a:picLocks noGrp="1"/>
          </p:cNvPicPr>
          <p:nvPr>
            <p:ph type="body" idx="1"/>
          </p:nvPr>
        </p:nvPicPr>
        <p:blipFill rotWithShape="1">
          <a:blip r:embed="rId1"/>
          <a:srcRect/>
          <a:stretch>
            <a:fillRect/>
          </a:stretch>
        </p:blipFill>
        <p:spPr>
          <a:xfrm>
            <a:off x="0" y="0"/>
            <a:ext cx="12192000" cy="6858000"/>
          </a:xfrm>
          <a:prstGeom prst="rect">
            <a:avLst/>
          </a:prstGeom>
          <a:noFill/>
          <a:ln>
            <a:noFill/>
          </a:ln>
        </p:spPr>
      </p:pic>
      <p:sp>
        <p:nvSpPr>
          <p:cNvPr id="99" name="Google Shape;99;p32"/>
          <p:cNvSpPr txBox="1"/>
          <p:nvPr/>
        </p:nvSpPr>
        <p:spPr>
          <a:xfrm>
            <a:off x="159025" y="251792"/>
            <a:ext cx="11736801" cy="646290"/>
          </a:xfrm>
          <a:prstGeom prst="rect">
            <a:avLst/>
          </a:prstGeom>
          <a:noFill/>
          <a:ln>
            <a:noFill/>
          </a:ln>
        </p:spPr>
        <p:txBody>
          <a:bodyPr spcFirstLastPara="1" wrap="square" lIns="91425" tIns="45700" rIns="91425" bIns="45700" anchor="t" anchorCtr="0">
            <a:spAutoFit/>
          </a:bodyPr>
          <a:lstStyle/>
          <a:p>
            <a:r>
              <a:rPr lang="en-US" sz="3600" b="1" dirty="0"/>
              <a:t>Supply Chain Management - Flow </a:t>
            </a:r>
            <a:r>
              <a:rPr lang="en-US" sz="3600" b="1" dirty="0" smtClean="0"/>
              <a:t>Components cont.</a:t>
            </a:r>
            <a:endParaRPr lang="en-US" sz="3600" b="1" dirty="0"/>
          </a:p>
        </p:txBody>
      </p:sp>
      <p:sp>
        <p:nvSpPr>
          <p:cNvPr id="100" name="Google Shape;100;p32"/>
          <p:cNvSpPr/>
          <p:nvPr/>
        </p:nvSpPr>
        <p:spPr>
          <a:xfrm>
            <a:off x="159024" y="1134526"/>
            <a:ext cx="11736801" cy="3170058"/>
          </a:xfrm>
          <a:prstGeom prst="rect">
            <a:avLst/>
          </a:prstGeom>
          <a:noFill/>
          <a:ln>
            <a:noFill/>
          </a:ln>
        </p:spPr>
        <p:txBody>
          <a:bodyPr spcFirstLastPara="1" wrap="square" lIns="91425" tIns="45700" rIns="91425" bIns="45700" anchor="t" anchorCtr="0">
            <a:spAutoFit/>
          </a:bodyPr>
          <a:lstStyle/>
          <a:p>
            <a:r>
              <a:rPr lang="en-US" sz="2000" b="1" dirty="0" smtClean="0"/>
              <a:t>Transportation</a:t>
            </a:r>
            <a:endParaRPr lang="en-US" sz="2000" b="1" dirty="0" smtClean="0"/>
          </a:p>
          <a:p>
            <a:endParaRPr lang="en-US" sz="2000" b="1" dirty="0"/>
          </a:p>
          <a:p>
            <a:r>
              <a:rPr lang="en-US" sz="2000" b="1" dirty="0"/>
              <a:t>Dock Level </a:t>
            </a:r>
            <a:r>
              <a:rPr lang="en-US" sz="2000" b="1" dirty="0" smtClean="0"/>
              <a:t>Operations</a:t>
            </a:r>
            <a:endParaRPr lang="en-US" sz="2000" b="1" dirty="0" smtClean="0"/>
          </a:p>
          <a:p>
            <a:endParaRPr lang="en-US" sz="2000" b="1" dirty="0"/>
          </a:p>
          <a:p>
            <a:r>
              <a:rPr lang="en-US" sz="2000" dirty="0"/>
              <a:t>This involves the last level of decision-making. This comprises planning, routing and scheduling. </a:t>
            </a:r>
            <a:endParaRPr lang="en-US" sz="2000" dirty="0" smtClean="0"/>
          </a:p>
          <a:p>
            <a:endParaRPr lang="en-US" sz="2000" b="1" dirty="0"/>
          </a:p>
          <a:p>
            <a:r>
              <a:rPr lang="en-US" sz="2000" b="1" dirty="0" smtClean="0"/>
              <a:t>For </a:t>
            </a:r>
            <a:r>
              <a:rPr lang="en-US" sz="2000" b="1" dirty="0"/>
              <a:t>example</a:t>
            </a:r>
            <a:r>
              <a:rPr lang="en-US" sz="2000" dirty="0"/>
              <a:t>, if a carriage is being loaded with different customers’ orders, the function of the dock-level managers is to assure that the driver is informed of the most efficient route and that loads are placed in the order of the planned stops.</a:t>
            </a:r>
            <a:endParaRPr lang="en-US" sz="2000" dirty="0"/>
          </a:p>
          <a:p>
            <a:endParaRPr lang="en-US" sz="20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00">
                                            <p:txEl>
                                              <p:pRg st="2" end="2"/>
                                            </p:txEl>
                                          </p:spTgt>
                                        </p:tgtEl>
                                        <p:attrNameLst>
                                          <p:attrName>style.visibility</p:attrName>
                                        </p:attrNameLst>
                                      </p:cBhvr>
                                      <p:to>
                                        <p:strVal val="visible"/>
                                      </p:to>
                                    </p:set>
                                    <p:animEffect transition="in" filter="fade">
                                      <p:cBhvr>
                                        <p:cTn id="11" dur="500"/>
                                        <p:tgtEl>
                                          <p:spTgt spid="100">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00">
                                            <p:txEl>
                                              <p:pRg st="4" end="4"/>
                                            </p:txEl>
                                          </p:spTgt>
                                        </p:tgtEl>
                                        <p:attrNameLst>
                                          <p:attrName>style.visibility</p:attrName>
                                        </p:attrNameLst>
                                      </p:cBhvr>
                                      <p:to>
                                        <p:strVal val="visible"/>
                                      </p:to>
                                    </p:set>
                                    <p:animEffect transition="in" filter="fade">
                                      <p:cBhvr>
                                        <p:cTn id="16" dur="500"/>
                                        <p:tgtEl>
                                          <p:spTgt spid="100">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00">
                                            <p:txEl>
                                              <p:pRg st="6" end="6"/>
                                            </p:txEl>
                                          </p:spTgt>
                                        </p:tgtEl>
                                        <p:attrNameLst>
                                          <p:attrName>style.visibility</p:attrName>
                                        </p:attrNameLst>
                                      </p:cBhvr>
                                      <p:to>
                                        <p:strVal val="visible"/>
                                      </p:to>
                                    </p:set>
                                    <p:animEffect transition="in" filter="fade">
                                      <p:cBhvr>
                                        <p:cTn id="21" dur="500"/>
                                        <p:tgtEl>
                                          <p:spTgt spid="10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just" rtl="0">
              <a:lnSpc>
                <a:spcPct val="90000"/>
              </a:lnSpc>
              <a:spcBef>
                <a:spcPts val="0"/>
              </a:spcBef>
              <a:spcAft>
                <a:spcPts val="0"/>
              </a:spcAft>
              <a:buClr>
                <a:schemeClr val="dk1"/>
              </a:buClr>
              <a:buSzPts val="4400"/>
              <a:buFont typeface="Calibri" panose="020F0502020204030204"/>
              <a:buNone/>
            </a:pPr>
          </a:p>
        </p:txBody>
      </p:sp>
      <p:pic>
        <p:nvPicPr>
          <p:cNvPr id="98" name="Google Shape;98;p32"/>
          <p:cNvPicPr preferRelativeResize="0">
            <a:picLocks noGrp="1"/>
          </p:cNvPicPr>
          <p:nvPr>
            <p:ph type="body" idx="1"/>
          </p:nvPr>
        </p:nvPicPr>
        <p:blipFill rotWithShape="1">
          <a:blip r:embed="rId1"/>
          <a:srcRect/>
          <a:stretch>
            <a:fillRect/>
          </a:stretch>
        </p:blipFill>
        <p:spPr>
          <a:xfrm>
            <a:off x="0" y="0"/>
            <a:ext cx="12192000" cy="6858000"/>
          </a:xfrm>
          <a:prstGeom prst="rect">
            <a:avLst/>
          </a:prstGeom>
          <a:noFill/>
          <a:ln>
            <a:noFill/>
          </a:ln>
        </p:spPr>
      </p:pic>
      <p:sp>
        <p:nvSpPr>
          <p:cNvPr id="99" name="Google Shape;99;p32"/>
          <p:cNvSpPr txBox="1"/>
          <p:nvPr/>
        </p:nvSpPr>
        <p:spPr>
          <a:xfrm>
            <a:off x="159025" y="251792"/>
            <a:ext cx="11736801" cy="646290"/>
          </a:xfrm>
          <a:prstGeom prst="rect">
            <a:avLst/>
          </a:prstGeom>
          <a:noFill/>
          <a:ln>
            <a:noFill/>
          </a:ln>
        </p:spPr>
        <p:txBody>
          <a:bodyPr spcFirstLastPara="1" wrap="square" lIns="91425" tIns="45700" rIns="91425" bIns="45700" anchor="t" anchorCtr="0">
            <a:spAutoFit/>
          </a:bodyPr>
          <a:lstStyle/>
          <a:p>
            <a:r>
              <a:rPr lang="en-US" sz="3600" b="1" dirty="0"/>
              <a:t>Supply Chain Management - Flow Components</a:t>
            </a:r>
            <a:endParaRPr lang="en-US" sz="3600" b="1" dirty="0"/>
          </a:p>
        </p:txBody>
      </p:sp>
      <p:sp>
        <p:nvSpPr>
          <p:cNvPr id="100" name="Google Shape;100;p32"/>
          <p:cNvSpPr/>
          <p:nvPr/>
        </p:nvSpPr>
        <p:spPr>
          <a:xfrm>
            <a:off x="159024" y="1134526"/>
            <a:ext cx="5546451" cy="4893607"/>
          </a:xfrm>
          <a:prstGeom prst="rect">
            <a:avLst/>
          </a:prstGeom>
          <a:noFill/>
          <a:ln>
            <a:noFill/>
          </a:ln>
        </p:spPr>
        <p:txBody>
          <a:bodyPr spcFirstLastPara="1" wrap="square" lIns="91425" tIns="45700" rIns="91425" bIns="45700" anchor="t" anchorCtr="0">
            <a:spAutoFit/>
          </a:bodyPr>
          <a:lstStyle/>
          <a:p>
            <a:r>
              <a:rPr lang="en-US" sz="2400" b="1" dirty="0"/>
              <a:t>Warehousing</a:t>
            </a:r>
            <a:endParaRPr lang="en-US" sz="2400" b="1" dirty="0"/>
          </a:p>
          <a:p>
            <a:endParaRPr lang="en-US" sz="2400" dirty="0"/>
          </a:p>
          <a:p>
            <a:r>
              <a:rPr lang="en-US" sz="2400" dirty="0"/>
              <a:t>Warehousing plays a vital role in the supply chain process. In today’s industry, the demands and expectations of the customers are undergoing a tremendous change. We want everything at our door step – that too with efficient price. We can say that the management of warehousing functions demands a distinct merging of engineering, IT, human resources and supply chain skills.</a:t>
            </a:r>
            <a:endParaRPr lang="en-US" sz="2400" dirty="0"/>
          </a:p>
        </p:txBody>
      </p:sp>
      <p:pic>
        <p:nvPicPr>
          <p:cNvPr id="5122" name="Picture 2" descr="Supply Chain Process Warehous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80826" y="898082"/>
            <a:ext cx="5715000" cy="52101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fade">
                                      <p:cBhvr>
                                        <p:cTn id="7" dur="500"/>
                                        <p:tgtEl>
                                          <p:spTgt spid="51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0">
                                            <p:txEl>
                                              <p:pRg st="0" end="0"/>
                                            </p:txEl>
                                          </p:spTgt>
                                        </p:tgtEl>
                                        <p:attrNameLst>
                                          <p:attrName>style.visibility</p:attrName>
                                        </p:attrNameLst>
                                      </p:cBhvr>
                                      <p:to>
                                        <p:strVal val="visible"/>
                                      </p:to>
                                    </p:set>
                                    <p:animEffect transition="in" filter="fade">
                                      <p:cBhvr>
                                        <p:cTn id="12" dur="500"/>
                                        <p:tgtEl>
                                          <p:spTgt spid="10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0">
                                            <p:txEl>
                                              <p:pRg st="2" end="2"/>
                                            </p:txEl>
                                          </p:spTgt>
                                        </p:tgtEl>
                                        <p:attrNameLst>
                                          <p:attrName>style.visibility</p:attrName>
                                        </p:attrNameLst>
                                      </p:cBhvr>
                                      <p:to>
                                        <p:strVal val="visible"/>
                                      </p:to>
                                    </p:set>
                                    <p:animEffect transition="in" filter="fade">
                                      <p:cBhvr>
                                        <p:cTn id="17" dur="500"/>
                                        <p:tgtEl>
                                          <p:spTgt spid="10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just" rtl="0">
              <a:lnSpc>
                <a:spcPct val="90000"/>
              </a:lnSpc>
              <a:spcBef>
                <a:spcPts val="0"/>
              </a:spcBef>
              <a:spcAft>
                <a:spcPts val="0"/>
              </a:spcAft>
              <a:buClr>
                <a:schemeClr val="dk1"/>
              </a:buClr>
              <a:buSzPts val="4400"/>
              <a:buFont typeface="Calibri" panose="020F0502020204030204"/>
              <a:buNone/>
            </a:pPr>
          </a:p>
        </p:txBody>
      </p:sp>
      <p:pic>
        <p:nvPicPr>
          <p:cNvPr id="98" name="Google Shape;98;p32"/>
          <p:cNvPicPr preferRelativeResize="0">
            <a:picLocks noGrp="1"/>
          </p:cNvPicPr>
          <p:nvPr>
            <p:ph type="body" idx="1"/>
          </p:nvPr>
        </p:nvPicPr>
        <p:blipFill rotWithShape="1">
          <a:blip r:embed="rId1"/>
          <a:srcRect/>
          <a:stretch>
            <a:fillRect/>
          </a:stretch>
        </p:blipFill>
        <p:spPr>
          <a:xfrm>
            <a:off x="0" y="0"/>
            <a:ext cx="12192000" cy="6858000"/>
          </a:xfrm>
          <a:prstGeom prst="rect">
            <a:avLst/>
          </a:prstGeom>
          <a:noFill/>
          <a:ln>
            <a:noFill/>
          </a:ln>
        </p:spPr>
      </p:pic>
      <p:sp>
        <p:nvSpPr>
          <p:cNvPr id="99" name="Google Shape;99;p32"/>
          <p:cNvSpPr txBox="1"/>
          <p:nvPr/>
        </p:nvSpPr>
        <p:spPr>
          <a:xfrm>
            <a:off x="159025" y="251792"/>
            <a:ext cx="11736801" cy="646290"/>
          </a:xfrm>
          <a:prstGeom prst="rect">
            <a:avLst/>
          </a:prstGeom>
          <a:noFill/>
          <a:ln>
            <a:noFill/>
          </a:ln>
        </p:spPr>
        <p:txBody>
          <a:bodyPr spcFirstLastPara="1" wrap="square" lIns="91425" tIns="45700" rIns="91425" bIns="45700" anchor="t" anchorCtr="0">
            <a:spAutoFit/>
          </a:bodyPr>
          <a:lstStyle/>
          <a:p>
            <a:r>
              <a:rPr lang="en-US" sz="3600" b="1" dirty="0"/>
              <a:t>Supply Chain Management - Flow </a:t>
            </a:r>
            <a:r>
              <a:rPr lang="en-US" sz="3600" b="1" dirty="0" smtClean="0"/>
              <a:t>Components cont.</a:t>
            </a:r>
            <a:endParaRPr lang="en-US" sz="3600" b="1" dirty="0"/>
          </a:p>
        </p:txBody>
      </p:sp>
      <p:sp>
        <p:nvSpPr>
          <p:cNvPr id="100" name="Google Shape;100;p32"/>
          <p:cNvSpPr/>
          <p:nvPr/>
        </p:nvSpPr>
        <p:spPr>
          <a:xfrm>
            <a:off x="159024" y="1134526"/>
            <a:ext cx="11736801" cy="4462720"/>
          </a:xfrm>
          <a:prstGeom prst="rect">
            <a:avLst/>
          </a:prstGeom>
          <a:noFill/>
          <a:ln>
            <a:noFill/>
          </a:ln>
        </p:spPr>
        <p:txBody>
          <a:bodyPr spcFirstLastPara="1" wrap="square" lIns="91425" tIns="45700" rIns="91425" bIns="45700" anchor="t" anchorCtr="0">
            <a:spAutoFit/>
          </a:bodyPr>
          <a:lstStyle/>
          <a:p>
            <a:r>
              <a:rPr lang="en-US" sz="2400" b="1" dirty="0"/>
              <a:t>Warehousing</a:t>
            </a:r>
            <a:endParaRPr lang="en-US" sz="2400" b="1" dirty="0"/>
          </a:p>
          <a:p>
            <a:endParaRPr lang="en-US" sz="2400" b="1" dirty="0"/>
          </a:p>
          <a:p>
            <a:r>
              <a:rPr lang="en-US" sz="2400" dirty="0"/>
              <a:t>To neutralize the efficiency of inbound functions, it is ideal to accept materials in an immediately storable conveyance, like a pallet, case or box. For labeling the structure, tool selection and business process demand the types and quantities of orders that are processed. Further, the number of stock-keeping units (SKU’s) in the distribution centers is a crucial consideration</a:t>
            </a:r>
            <a:r>
              <a:rPr lang="en-US" sz="2400" dirty="0" smtClean="0"/>
              <a:t>.</a:t>
            </a:r>
            <a:endParaRPr lang="en-US" sz="2400" dirty="0" smtClean="0"/>
          </a:p>
          <a:p>
            <a:endParaRPr lang="en-US" sz="2400" dirty="0"/>
          </a:p>
          <a:p>
            <a:r>
              <a:rPr lang="en-US" sz="2400" dirty="0"/>
              <a:t>The Warehouse Management Systems (WMS) leads the products to their storage location where they should be stored. The required functionality for the completion and optimization of receiving, storing and shipping functions is then supplied.</a:t>
            </a:r>
            <a:endParaRPr lang="en-US" sz="2400" dirty="0"/>
          </a:p>
          <a:p>
            <a:endParaRPr lang="en-US" sz="20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
                                            <p:txEl>
                                              <p:pRg st="0" end="0"/>
                                            </p:txEl>
                                          </p:spTgt>
                                        </p:tgtEl>
                                        <p:attrNameLst>
                                          <p:attrName>style.visibility</p:attrName>
                                        </p:attrNameLst>
                                      </p:cBhvr>
                                      <p:to>
                                        <p:strVal val="visible"/>
                                      </p:to>
                                    </p:set>
                                    <p:animEffect transition="in" filter="fade">
                                      <p:cBhvr>
                                        <p:cTn id="7" dur="500"/>
                                        <p:tgtEl>
                                          <p:spTgt spid="10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0">
                                            <p:txEl>
                                              <p:pRg st="2" end="2"/>
                                            </p:txEl>
                                          </p:spTgt>
                                        </p:tgtEl>
                                        <p:attrNameLst>
                                          <p:attrName>style.visibility</p:attrName>
                                        </p:attrNameLst>
                                      </p:cBhvr>
                                      <p:to>
                                        <p:strVal val="visible"/>
                                      </p:to>
                                    </p:set>
                                    <p:animEffect transition="in" filter="fade">
                                      <p:cBhvr>
                                        <p:cTn id="12" dur="500"/>
                                        <p:tgtEl>
                                          <p:spTgt spid="10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0">
                                            <p:txEl>
                                              <p:pRg st="4" end="4"/>
                                            </p:txEl>
                                          </p:spTgt>
                                        </p:tgtEl>
                                        <p:attrNameLst>
                                          <p:attrName>style.visibility</p:attrName>
                                        </p:attrNameLst>
                                      </p:cBhvr>
                                      <p:to>
                                        <p:strVal val="visible"/>
                                      </p:to>
                                    </p:set>
                                    <p:animEffect transition="in" filter="fade">
                                      <p:cBhvr>
                                        <p:cTn id="17" dur="500"/>
                                        <p:tgtEl>
                                          <p:spTgt spid="10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just" rtl="0">
              <a:lnSpc>
                <a:spcPct val="90000"/>
              </a:lnSpc>
              <a:spcBef>
                <a:spcPts val="0"/>
              </a:spcBef>
              <a:spcAft>
                <a:spcPts val="0"/>
              </a:spcAft>
              <a:buClr>
                <a:schemeClr val="dk1"/>
              </a:buClr>
              <a:buSzPts val="4400"/>
              <a:buFont typeface="Calibri" panose="020F0502020204030204"/>
              <a:buNone/>
            </a:pPr>
          </a:p>
        </p:txBody>
      </p:sp>
      <p:pic>
        <p:nvPicPr>
          <p:cNvPr id="98" name="Google Shape;98;p32"/>
          <p:cNvPicPr preferRelativeResize="0">
            <a:picLocks noGrp="1"/>
          </p:cNvPicPr>
          <p:nvPr>
            <p:ph type="body" idx="1"/>
          </p:nvPr>
        </p:nvPicPr>
        <p:blipFill rotWithShape="1">
          <a:blip r:embed="rId1"/>
          <a:srcRect/>
          <a:stretch>
            <a:fillRect/>
          </a:stretch>
        </p:blipFill>
        <p:spPr>
          <a:xfrm>
            <a:off x="0" y="0"/>
            <a:ext cx="12192000" cy="6858000"/>
          </a:xfrm>
          <a:prstGeom prst="rect">
            <a:avLst/>
          </a:prstGeom>
          <a:noFill/>
          <a:ln>
            <a:noFill/>
          </a:ln>
        </p:spPr>
      </p:pic>
      <p:sp>
        <p:nvSpPr>
          <p:cNvPr id="99" name="Google Shape;99;p32"/>
          <p:cNvSpPr txBox="1"/>
          <p:nvPr/>
        </p:nvSpPr>
        <p:spPr>
          <a:xfrm>
            <a:off x="159025" y="251792"/>
            <a:ext cx="11736801" cy="646290"/>
          </a:xfrm>
          <a:prstGeom prst="rect">
            <a:avLst/>
          </a:prstGeom>
          <a:noFill/>
          <a:ln>
            <a:noFill/>
          </a:ln>
        </p:spPr>
        <p:txBody>
          <a:bodyPr spcFirstLastPara="1" wrap="square" lIns="91425" tIns="45700" rIns="91425" bIns="45700" anchor="t" anchorCtr="0">
            <a:spAutoFit/>
          </a:bodyPr>
          <a:lstStyle/>
          <a:p>
            <a:r>
              <a:rPr lang="en-US" sz="3600" b="1" dirty="0"/>
              <a:t>Supply Chain Management - Flow </a:t>
            </a:r>
            <a:r>
              <a:rPr lang="en-US" sz="3600" b="1" dirty="0" smtClean="0"/>
              <a:t>Components cont.</a:t>
            </a:r>
            <a:endParaRPr lang="en-US" sz="3600" b="1" dirty="0"/>
          </a:p>
        </p:txBody>
      </p:sp>
      <p:sp>
        <p:nvSpPr>
          <p:cNvPr id="100" name="Google Shape;100;p32"/>
          <p:cNvSpPr/>
          <p:nvPr/>
        </p:nvSpPr>
        <p:spPr>
          <a:xfrm>
            <a:off x="159024" y="1134526"/>
            <a:ext cx="11736801" cy="2308284"/>
          </a:xfrm>
          <a:prstGeom prst="rect">
            <a:avLst/>
          </a:prstGeom>
          <a:noFill/>
          <a:ln>
            <a:noFill/>
          </a:ln>
        </p:spPr>
        <p:txBody>
          <a:bodyPr spcFirstLastPara="1" wrap="square" lIns="91425" tIns="45700" rIns="91425" bIns="45700" anchor="t" anchorCtr="0">
            <a:spAutoFit/>
          </a:bodyPr>
          <a:lstStyle/>
          <a:p>
            <a:r>
              <a:rPr lang="en-US" sz="2400" b="1" dirty="0"/>
              <a:t>Sourcing and </a:t>
            </a:r>
            <a:r>
              <a:rPr lang="en-US" sz="2400" b="1" dirty="0" smtClean="0"/>
              <a:t>Procurement</a:t>
            </a:r>
            <a:endParaRPr lang="en-US" sz="2400" b="1" dirty="0" smtClean="0"/>
          </a:p>
          <a:p>
            <a:endParaRPr lang="en-US" sz="2400" dirty="0"/>
          </a:p>
          <a:p>
            <a:r>
              <a:rPr lang="en-US" sz="2400" dirty="0"/>
              <a:t>Sourcing and procurement are a vital part of the supply chain management. The company decides if it wants to perform all the exercises internally or if it desires to get it done by any other independent firm. This is commonly referred as the make </a:t>
            </a:r>
            <a:r>
              <a:rPr lang="en-US" sz="2400" dirty="0" err="1"/>
              <a:t>vs</a:t>
            </a:r>
            <a:r>
              <a:rPr lang="en-US" sz="2400" dirty="0"/>
              <a:t> buy decision, which we will be discussing in brief in another chapter.</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
                                            <p:txEl>
                                              <p:pRg st="0" end="0"/>
                                            </p:txEl>
                                          </p:spTgt>
                                        </p:tgtEl>
                                        <p:attrNameLst>
                                          <p:attrName>style.visibility</p:attrName>
                                        </p:attrNameLst>
                                      </p:cBhvr>
                                      <p:to>
                                        <p:strVal val="visible"/>
                                      </p:to>
                                    </p:set>
                                    <p:animEffect transition="in" filter="fade">
                                      <p:cBhvr>
                                        <p:cTn id="7" dur="500"/>
                                        <p:tgtEl>
                                          <p:spTgt spid="10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0">
                                            <p:txEl>
                                              <p:pRg st="2" end="2"/>
                                            </p:txEl>
                                          </p:spTgt>
                                        </p:tgtEl>
                                        <p:attrNameLst>
                                          <p:attrName>style.visibility</p:attrName>
                                        </p:attrNameLst>
                                      </p:cBhvr>
                                      <p:to>
                                        <p:strVal val="visible"/>
                                      </p:to>
                                    </p:set>
                                    <p:animEffect transition="in" filter="fade">
                                      <p:cBhvr>
                                        <p:cTn id="12" dur="500"/>
                                        <p:tgtEl>
                                          <p:spTgt spid="10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just" rtl="0">
              <a:lnSpc>
                <a:spcPct val="90000"/>
              </a:lnSpc>
              <a:spcBef>
                <a:spcPts val="0"/>
              </a:spcBef>
              <a:spcAft>
                <a:spcPts val="0"/>
              </a:spcAft>
              <a:buClr>
                <a:schemeClr val="dk1"/>
              </a:buClr>
              <a:buSzPts val="4400"/>
              <a:buFont typeface="Calibri" panose="020F0502020204030204"/>
              <a:buNone/>
            </a:pPr>
          </a:p>
        </p:txBody>
      </p:sp>
      <p:pic>
        <p:nvPicPr>
          <p:cNvPr id="98" name="Google Shape;98;p32"/>
          <p:cNvPicPr preferRelativeResize="0">
            <a:picLocks noGrp="1"/>
          </p:cNvPicPr>
          <p:nvPr>
            <p:ph type="body" idx="1"/>
          </p:nvPr>
        </p:nvPicPr>
        <p:blipFill rotWithShape="1">
          <a:blip r:embed="rId1"/>
          <a:srcRect/>
          <a:stretch>
            <a:fillRect/>
          </a:stretch>
        </p:blipFill>
        <p:spPr>
          <a:xfrm>
            <a:off x="0" y="0"/>
            <a:ext cx="12192000" cy="6858000"/>
          </a:xfrm>
          <a:prstGeom prst="rect">
            <a:avLst/>
          </a:prstGeom>
          <a:noFill/>
          <a:ln>
            <a:noFill/>
          </a:ln>
        </p:spPr>
      </p:pic>
      <p:sp>
        <p:nvSpPr>
          <p:cNvPr id="99" name="Google Shape;99;p32"/>
          <p:cNvSpPr txBox="1"/>
          <p:nvPr/>
        </p:nvSpPr>
        <p:spPr>
          <a:xfrm>
            <a:off x="159025" y="251792"/>
            <a:ext cx="11736801" cy="646290"/>
          </a:xfrm>
          <a:prstGeom prst="rect">
            <a:avLst/>
          </a:prstGeom>
          <a:noFill/>
          <a:ln>
            <a:noFill/>
          </a:ln>
        </p:spPr>
        <p:txBody>
          <a:bodyPr spcFirstLastPara="1" wrap="square" lIns="91425" tIns="45700" rIns="91425" bIns="45700" anchor="t" anchorCtr="0">
            <a:spAutoFit/>
          </a:bodyPr>
          <a:lstStyle/>
          <a:p>
            <a:r>
              <a:rPr lang="en-US" sz="3600" b="1" dirty="0"/>
              <a:t>Supply Chain Management - Flow </a:t>
            </a:r>
            <a:r>
              <a:rPr lang="en-US" sz="3600" b="1" dirty="0" smtClean="0"/>
              <a:t>Components cont.</a:t>
            </a:r>
            <a:endParaRPr lang="en-US" sz="3600" b="1" dirty="0"/>
          </a:p>
        </p:txBody>
      </p:sp>
      <p:sp>
        <p:nvSpPr>
          <p:cNvPr id="100" name="Google Shape;100;p32"/>
          <p:cNvSpPr/>
          <p:nvPr/>
        </p:nvSpPr>
        <p:spPr>
          <a:xfrm>
            <a:off x="159024" y="1134526"/>
            <a:ext cx="11736801" cy="4893607"/>
          </a:xfrm>
          <a:prstGeom prst="rect">
            <a:avLst/>
          </a:prstGeom>
          <a:noFill/>
          <a:ln>
            <a:noFill/>
          </a:ln>
        </p:spPr>
        <p:txBody>
          <a:bodyPr spcFirstLastPara="1" wrap="square" lIns="91425" tIns="45700" rIns="91425" bIns="45700" anchor="t" anchorCtr="0">
            <a:spAutoFit/>
          </a:bodyPr>
          <a:lstStyle/>
          <a:p>
            <a:r>
              <a:rPr lang="en-US" sz="2400" b="1" dirty="0"/>
              <a:t>Returns </a:t>
            </a:r>
            <a:r>
              <a:rPr lang="en-US" sz="2400" b="1" dirty="0" smtClean="0"/>
              <a:t>Management</a:t>
            </a:r>
            <a:endParaRPr lang="en-US" sz="2400" b="1" dirty="0" smtClean="0"/>
          </a:p>
          <a:p>
            <a:endParaRPr lang="en-US" sz="2400" dirty="0"/>
          </a:p>
          <a:p>
            <a:r>
              <a:rPr lang="en-US" sz="2400" dirty="0"/>
              <a:t>Returns management can be defined as the management that invites the merger of challenges and opportunities for inbound logistics. A cost-effective reverse logistics program links the available supply of returns with the product information and demand for repairable items or re-captured materials. We have three pillars that support returns management processes. These are as </a:t>
            </a:r>
            <a:r>
              <a:rPr lang="en-US" sz="2400" dirty="0" smtClean="0"/>
              <a:t>follows:</a:t>
            </a:r>
            <a:endParaRPr lang="en-US" sz="2400" dirty="0" smtClean="0"/>
          </a:p>
          <a:p>
            <a:endParaRPr lang="en-US" sz="2400" dirty="0"/>
          </a:p>
          <a:p>
            <a:pPr marL="342900" indent="-342900">
              <a:buFont typeface="Arial" panose="020B0604020202020204" pitchFamily="34" charset="0"/>
              <a:buChar char="•"/>
            </a:pPr>
            <a:r>
              <a:rPr lang="en-US" sz="2400" b="1" dirty="0"/>
              <a:t>Speed</a:t>
            </a:r>
            <a:r>
              <a:rPr lang="en-US" sz="2400" dirty="0"/>
              <a:t> − It is a must to have quick and easy returns management and automate decisions regarding whether to produce return material authorizations (RMAs) and if so, how to process them. Basically, the tools of speed return processing include automated workflows, labels &amp; attachments and user profiles.</a:t>
            </a:r>
            <a:endParaRPr lang="en-US" sz="2400" dirty="0"/>
          </a:p>
          <a:p>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
                                            <p:txEl>
                                              <p:pRg st="0" end="0"/>
                                            </p:txEl>
                                          </p:spTgt>
                                        </p:tgtEl>
                                        <p:attrNameLst>
                                          <p:attrName>style.visibility</p:attrName>
                                        </p:attrNameLst>
                                      </p:cBhvr>
                                      <p:to>
                                        <p:strVal val="visible"/>
                                      </p:to>
                                    </p:set>
                                    <p:animEffect transition="in" filter="fade">
                                      <p:cBhvr>
                                        <p:cTn id="7" dur="500"/>
                                        <p:tgtEl>
                                          <p:spTgt spid="10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0">
                                            <p:txEl>
                                              <p:pRg st="2" end="2"/>
                                            </p:txEl>
                                          </p:spTgt>
                                        </p:tgtEl>
                                        <p:attrNameLst>
                                          <p:attrName>style.visibility</p:attrName>
                                        </p:attrNameLst>
                                      </p:cBhvr>
                                      <p:to>
                                        <p:strVal val="visible"/>
                                      </p:to>
                                    </p:set>
                                    <p:animEffect transition="in" filter="fade">
                                      <p:cBhvr>
                                        <p:cTn id="12" dur="500"/>
                                        <p:tgtEl>
                                          <p:spTgt spid="10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0">
                                            <p:txEl>
                                              <p:pRg st="4" end="4"/>
                                            </p:txEl>
                                          </p:spTgt>
                                        </p:tgtEl>
                                        <p:attrNameLst>
                                          <p:attrName>style.visibility</p:attrName>
                                        </p:attrNameLst>
                                      </p:cBhvr>
                                      <p:to>
                                        <p:strVal val="visible"/>
                                      </p:to>
                                    </p:set>
                                    <p:animEffect transition="in" filter="fade">
                                      <p:cBhvr>
                                        <p:cTn id="17" dur="500"/>
                                        <p:tgtEl>
                                          <p:spTgt spid="10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just" rtl="0">
              <a:lnSpc>
                <a:spcPct val="90000"/>
              </a:lnSpc>
              <a:spcBef>
                <a:spcPts val="0"/>
              </a:spcBef>
              <a:spcAft>
                <a:spcPts val="0"/>
              </a:spcAft>
              <a:buClr>
                <a:schemeClr val="dk1"/>
              </a:buClr>
              <a:buSzPts val="4400"/>
              <a:buFont typeface="Calibri" panose="020F0502020204030204"/>
              <a:buNone/>
            </a:pPr>
          </a:p>
        </p:txBody>
      </p:sp>
      <p:pic>
        <p:nvPicPr>
          <p:cNvPr id="98" name="Google Shape;98;p32"/>
          <p:cNvPicPr preferRelativeResize="0">
            <a:picLocks noGrp="1"/>
          </p:cNvPicPr>
          <p:nvPr>
            <p:ph type="body" idx="1"/>
          </p:nvPr>
        </p:nvPicPr>
        <p:blipFill rotWithShape="1">
          <a:blip r:embed="rId1"/>
          <a:srcRect/>
          <a:stretch>
            <a:fillRect/>
          </a:stretch>
        </p:blipFill>
        <p:spPr>
          <a:xfrm>
            <a:off x="0" y="0"/>
            <a:ext cx="12192000" cy="6858000"/>
          </a:xfrm>
          <a:prstGeom prst="rect">
            <a:avLst/>
          </a:prstGeom>
          <a:noFill/>
          <a:ln>
            <a:noFill/>
          </a:ln>
        </p:spPr>
      </p:pic>
      <p:sp>
        <p:nvSpPr>
          <p:cNvPr id="99" name="Google Shape;99;p32"/>
          <p:cNvSpPr txBox="1"/>
          <p:nvPr/>
        </p:nvSpPr>
        <p:spPr>
          <a:xfrm>
            <a:off x="159025" y="251792"/>
            <a:ext cx="11736801" cy="646290"/>
          </a:xfrm>
          <a:prstGeom prst="rect">
            <a:avLst/>
          </a:prstGeom>
          <a:noFill/>
          <a:ln>
            <a:noFill/>
          </a:ln>
        </p:spPr>
        <p:txBody>
          <a:bodyPr spcFirstLastPara="1" wrap="square" lIns="91425" tIns="45700" rIns="91425" bIns="45700" anchor="t" anchorCtr="0">
            <a:spAutoFit/>
          </a:bodyPr>
          <a:lstStyle/>
          <a:p>
            <a:r>
              <a:rPr lang="en-US" sz="3600" b="1" dirty="0"/>
              <a:t>Supply Chain Management - Flow </a:t>
            </a:r>
            <a:r>
              <a:rPr lang="en-US" sz="3600" b="1" dirty="0" smtClean="0"/>
              <a:t>Components cont.</a:t>
            </a:r>
            <a:endParaRPr lang="en-US" sz="3600" b="1" dirty="0"/>
          </a:p>
        </p:txBody>
      </p:sp>
      <p:sp>
        <p:nvSpPr>
          <p:cNvPr id="100" name="Google Shape;100;p32"/>
          <p:cNvSpPr/>
          <p:nvPr/>
        </p:nvSpPr>
        <p:spPr>
          <a:xfrm>
            <a:off x="159024" y="1134526"/>
            <a:ext cx="11736801" cy="5262939"/>
          </a:xfrm>
          <a:prstGeom prst="rect">
            <a:avLst/>
          </a:prstGeom>
          <a:noFill/>
          <a:ln>
            <a:noFill/>
          </a:ln>
        </p:spPr>
        <p:txBody>
          <a:bodyPr spcFirstLastPara="1" wrap="square" lIns="91425" tIns="45700" rIns="91425" bIns="45700" anchor="t" anchorCtr="0">
            <a:spAutoFit/>
          </a:bodyPr>
          <a:lstStyle/>
          <a:p>
            <a:r>
              <a:rPr lang="en-US" sz="2400" b="1" dirty="0"/>
              <a:t>Returns </a:t>
            </a:r>
            <a:r>
              <a:rPr lang="en-US" sz="2400" b="1" dirty="0" smtClean="0"/>
              <a:t>Management</a:t>
            </a:r>
            <a:endParaRPr lang="en-US" sz="2400" b="1" dirty="0" smtClean="0"/>
          </a:p>
          <a:p>
            <a:endParaRPr lang="en-US" sz="2400" dirty="0"/>
          </a:p>
          <a:p>
            <a:pPr marL="342900" indent="-342900">
              <a:buFont typeface="Arial" panose="020B0604020202020204" pitchFamily="34" charset="0"/>
              <a:buChar char="•"/>
            </a:pPr>
            <a:r>
              <a:rPr lang="en-US" sz="2400" b="1" dirty="0"/>
              <a:t>Visibility</a:t>
            </a:r>
            <a:r>
              <a:rPr lang="en-US" sz="2400" dirty="0"/>
              <a:t> − For improving the visibility and predictability, information needs to be captured initially in the process, ideally prior to delivering the return to the receiving dock. Most effective and easily implementable approaches for obtaining visibility are web-based portals, carrier integration and bar-coded identifiers</a:t>
            </a:r>
            <a:r>
              <a:rPr lang="en-US" sz="2400" dirty="0" smtClean="0"/>
              <a:t>.</a:t>
            </a:r>
            <a:endParaRPr lang="en-US" sz="2400" dirty="0" smtClean="0"/>
          </a:p>
          <a:p>
            <a:endParaRPr lang="en-US" sz="2400" dirty="0"/>
          </a:p>
          <a:p>
            <a:pPr marL="342900" indent="-342900">
              <a:buFont typeface="Arial" panose="020B0604020202020204" pitchFamily="34" charset="0"/>
              <a:buChar char="•"/>
            </a:pPr>
            <a:r>
              <a:rPr lang="en-US" sz="2400" b="1" dirty="0"/>
              <a:t>Control</a:t>
            </a:r>
            <a:r>
              <a:rPr lang="en-US" sz="2400" dirty="0"/>
              <a:t> − In case of returns management, synchronizing material movements is a common issue that needs to be handled. The producers need to be very cautious and pay close attention to receipts and reconciliation and update the stakeholders of impending quality issues. In this case, reconciliation activates visibility and control all over the enterprise. The key control points in this process are regulatory compliance, reconciliation and final disposition and quality assurance.</a:t>
            </a:r>
            <a:endParaRPr lang="en-US" sz="2400" dirty="0"/>
          </a:p>
          <a:p>
            <a:pPr marL="342900" indent="-342900">
              <a:buFont typeface="Arial" panose="020B0604020202020204" pitchFamily="34" charset="0"/>
              <a:buChar char="•"/>
            </a:pP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
                                            <p:txEl>
                                              <p:pRg st="0" end="0"/>
                                            </p:txEl>
                                          </p:spTgt>
                                        </p:tgtEl>
                                        <p:attrNameLst>
                                          <p:attrName>style.visibility</p:attrName>
                                        </p:attrNameLst>
                                      </p:cBhvr>
                                      <p:to>
                                        <p:strVal val="visible"/>
                                      </p:to>
                                    </p:set>
                                    <p:animEffect transition="in" filter="fade">
                                      <p:cBhvr>
                                        <p:cTn id="7" dur="500"/>
                                        <p:tgtEl>
                                          <p:spTgt spid="10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0">
                                            <p:txEl>
                                              <p:pRg st="2" end="2"/>
                                            </p:txEl>
                                          </p:spTgt>
                                        </p:tgtEl>
                                        <p:attrNameLst>
                                          <p:attrName>style.visibility</p:attrName>
                                        </p:attrNameLst>
                                      </p:cBhvr>
                                      <p:to>
                                        <p:strVal val="visible"/>
                                      </p:to>
                                    </p:set>
                                    <p:animEffect transition="in" filter="fade">
                                      <p:cBhvr>
                                        <p:cTn id="12" dur="500"/>
                                        <p:tgtEl>
                                          <p:spTgt spid="10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0">
                                            <p:txEl>
                                              <p:pRg st="4" end="4"/>
                                            </p:txEl>
                                          </p:spTgt>
                                        </p:tgtEl>
                                        <p:attrNameLst>
                                          <p:attrName>style.visibility</p:attrName>
                                        </p:attrNameLst>
                                      </p:cBhvr>
                                      <p:to>
                                        <p:strVal val="visible"/>
                                      </p:to>
                                    </p:set>
                                    <p:animEffect transition="in" filter="fade">
                                      <p:cBhvr>
                                        <p:cTn id="17" dur="500"/>
                                        <p:tgtEl>
                                          <p:spTgt spid="10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just" rtl="0">
              <a:lnSpc>
                <a:spcPct val="90000"/>
              </a:lnSpc>
              <a:spcBef>
                <a:spcPts val="0"/>
              </a:spcBef>
              <a:spcAft>
                <a:spcPts val="0"/>
              </a:spcAft>
              <a:buClr>
                <a:schemeClr val="dk1"/>
              </a:buClr>
              <a:buSzPts val="4400"/>
              <a:buFont typeface="Calibri" panose="020F0502020204030204"/>
              <a:buNone/>
            </a:pPr>
          </a:p>
        </p:txBody>
      </p:sp>
      <p:pic>
        <p:nvPicPr>
          <p:cNvPr id="98" name="Google Shape;98;p32"/>
          <p:cNvPicPr preferRelativeResize="0">
            <a:picLocks noGrp="1"/>
          </p:cNvPicPr>
          <p:nvPr>
            <p:ph type="body" idx="1"/>
          </p:nvPr>
        </p:nvPicPr>
        <p:blipFill rotWithShape="1">
          <a:blip r:embed="rId1"/>
          <a:srcRect/>
          <a:stretch>
            <a:fillRect/>
          </a:stretch>
        </p:blipFill>
        <p:spPr>
          <a:xfrm>
            <a:off x="0" y="0"/>
            <a:ext cx="12192000" cy="6858000"/>
          </a:xfrm>
          <a:prstGeom prst="rect">
            <a:avLst/>
          </a:prstGeom>
          <a:noFill/>
          <a:ln>
            <a:noFill/>
          </a:ln>
        </p:spPr>
      </p:pic>
      <p:sp>
        <p:nvSpPr>
          <p:cNvPr id="99" name="Google Shape;99;p32"/>
          <p:cNvSpPr txBox="1"/>
          <p:nvPr/>
        </p:nvSpPr>
        <p:spPr>
          <a:xfrm>
            <a:off x="159025" y="251792"/>
            <a:ext cx="11736801" cy="646290"/>
          </a:xfrm>
          <a:prstGeom prst="rect">
            <a:avLst/>
          </a:prstGeom>
          <a:noFill/>
          <a:ln>
            <a:noFill/>
          </a:ln>
        </p:spPr>
        <p:txBody>
          <a:bodyPr spcFirstLastPara="1" wrap="square" lIns="91425" tIns="45700" rIns="91425" bIns="45700" anchor="t" anchorCtr="0">
            <a:spAutoFit/>
          </a:bodyPr>
          <a:lstStyle/>
          <a:p>
            <a:r>
              <a:rPr lang="en-US" sz="3600" b="1" dirty="0"/>
              <a:t>Supply Chain Management - Flow </a:t>
            </a:r>
            <a:r>
              <a:rPr lang="en-US" sz="3600" b="1" dirty="0" smtClean="0"/>
              <a:t>Components cont.</a:t>
            </a:r>
            <a:endParaRPr lang="en-US" sz="3600" b="1" dirty="0"/>
          </a:p>
        </p:txBody>
      </p:sp>
      <p:sp>
        <p:nvSpPr>
          <p:cNvPr id="100" name="Google Shape;100;p32"/>
          <p:cNvSpPr/>
          <p:nvPr/>
        </p:nvSpPr>
        <p:spPr>
          <a:xfrm>
            <a:off x="159024" y="1134526"/>
            <a:ext cx="11736801" cy="5262939"/>
          </a:xfrm>
          <a:prstGeom prst="rect">
            <a:avLst/>
          </a:prstGeom>
          <a:noFill/>
          <a:ln>
            <a:noFill/>
          </a:ln>
        </p:spPr>
        <p:txBody>
          <a:bodyPr spcFirstLastPara="1" wrap="square" lIns="91425" tIns="45700" rIns="91425" bIns="45700" anchor="t" anchorCtr="0">
            <a:spAutoFit/>
          </a:bodyPr>
          <a:lstStyle/>
          <a:p>
            <a:r>
              <a:rPr lang="en-US" sz="2400" b="1" dirty="0"/>
              <a:t>Post - Sales Service</a:t>
            </a:r>
            <a:endParaRPr lang="en-US" sz="2400" b="1" dirty="0"/>
          </a:p>
          <a:p>
            <a:endParaRPr lang="en-US" sz="2400" dirty="0"/>
          </a:p>
          <a:p>
            <a:r>
              <a:rPr lang="en-US" sz="2400" dirty="0"/>
              <a:t>Now that the ordered shipment is over, what is the next step? The post sales service in supply chain tends to be an increasingly essential factor as businesses offer solution instead of products</a:t>
            </a:r>
            <a:r>
              <a:rPr lang="en-US" sz="2400" dirty="0" smtClean="0"/>
              <a:t>.</a:t>
            </a:r>
            <a:endParaRPr lang="en-US" sz="2400" dirty="0" smtClean="0"/>
          </a:p>
          <a:p>
            <a:endParaRPr lang="en-US" sz="2400" dirty="0"/>
          </a:p>
          <a:p>
            <a:r>
              <a:rPr lang="en-US" sz="2400" dirty="0"/>
              <a:t>The post sales services comprise selling spare parts, installing upgrades, performing inspection, maintenance and repairs, offering training &amp; education and consulting</a:t>
            </a:r>
            <a:r>
              <a:rPr lang="en-US" sz="2400" dirty="0" smtClean="0"/>
              <a:t>.</a:t>
            </a:r>
            <a:endParaRPr lang="en-US" sz="2400" dirty="0" smtClean="0"/>
          </a:p>
          <a:p>
            <a:endParaRPr lang="en-US" sz="2400" dirty="0"/>
          </a:p>
          <a:p>
            <a:r>
              <a:rPr lang="en-US" sz="2400" dirty="0"/>
              <a:t>Presently, with the growing demands of the clients, a high volume of after sales service proves to be a profitable business. Here, the services are basically heterogeneous and the value-added services are different from those provided prior to sales service.</a:t>
            </a:r>
            <a:endParaRPr lang="en-US" sz="2400" dirty="0"/>
          </a:p>
          <a:p>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
                                            <p:txEl>
                                              <p:pRg st="0" end="0"/>
                                            </p:txEl>
                                          </p:spTgt>
                                        </p:tgtEl>
                                        <p:attrNameLst>
                                          <p:attrName>style.visibility</p:attrName>
                                        </p:attrNameLst>
                                      </p:cBhvr>
                                      <p:to>
                                        <p:strVal val="visible"/>
                                      </p:to>
                                    </p:set>
                                    <p:animEffect transition="in" filter="fade">
                                      <p:cBhvr>
                                        <p:cTn id="7" dur="500"/>
                                        <p:tgtEl>
                                          <p:spTgt spid="10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0">
                                            <p:txEl>
                                              <p:pRg st="2" end="2"/>
                                            </p:txEl>
                                          </p:spTgt>
                                        </p:tgtEl>
                                        <p:attrNameLst>
                                          <p:attrName>style.visibility</p:attrName>
                                        </p:attrNameLst>
                                      </p:cBhvr>
                                      <p:to>
                                        <p:strVal val="visible"/>
                                      </p:to>
                                    </p:set>
                                    <p:animEffect transition="in" filter="fade">
                                      <p:cBhvr>
                                        <p:cTn id="12" dur="500"/>
                                        <p:tgtEl>
                                          <p:spTgt spid="10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0">
                                            <p:txEl>
                                              <p:pRg st="4" end="4"/>
                                            </p:txEl>
                                          </p:spTgt>
                                        </p:tgtEl>
                                        <p:attrNameLst>
                                          <p:attrName>style.visibility</p:attrName>
                                        </p:attrNameLst>
                                      </p:cBhvr>
                                      <p:to>
                                        <p:strVal val="visible"/>
                                      </p:to>
                                    </p:set>
                                    <p:animEffect transition="in" filter="fade">
                                      <p:cBhvr>
                                        <p:cTn id="17" dur="500"/>
                                        <p:tgtEl>
                                          <p:spTgt spid="100">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0">
                                            <p:txEl>
                                              <p:pRg st="6" end="6"/>
                                            </p:txEl>
                                          </p:spTgt>
                                        </p:tgtEl>
                                        <p:attrNameLst>
                                          <p:attrName>style.visibility</p:attrName>
                                        </p:attrNameLst>
                                      </p:cBhvr>
                                      <p:to>
                                        <p:strVal val="visible"/>
                                      </p:to>
                                    </p:set>
                                    <p:animEffect transition="in" filter="fade">
                                      <p:cBhvr>
                                        <p:cTn id="22" dur="500"/>
                                        <p:tgtEl>
                                          <p:spTgt spid="10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panose="020F0502020204030204"/>
              <a:buNone/>
            </a:pPr>
          </a:p>
        </p:txBody>
      </p:sp>
      <p:pic>
        <p:nvPicPr>
          <p:cNvPr id="184" name="Google Shape;184;p16"/>
          <p:cNvPicPr preferRelativeResize="0">
            <a:picLocks noGrp="1"/>
          </p:cNvPicPr>
          <p:nvPr>
            <p:ph type="body" idx="1"/>
          </p:nvPr>
        </p:nvPicPr>
        <p:blipFill rotWithShape="1">
          <a:blip r:embed="rId1"/>
          <a:srcRect/>
          <a:stretch>
            <a:fillRect/>
          </a:stretch>
        </p:blipFill>
        <p:spPr>
          <a:xfrm>
            <a:off x="-8450" y="0"/>
            <a:ext cx="12192000" cy="6858000"/>
          </a:xfrm>
          <a:prstGeom prst="rect">
            <a:avLst/>
          </a:prstGeom>
          <a:noFill/>
          <a:ln>
            <a:noFill/>
          </a:ln>
        </p:spPr>
      </p:pic>
      <p:sp>
        <p:nvSpPr>
          <p:cNvPr id="185" name="Google Shape;185;p16"/>
          <p:cNvSpPr txBox="1"/>
          <p:nvPr/>
        </p:nvSpPr>
        <p:spPr>
          <a:xfrm>
            <a:off x="444294" y="1622304"/>
            <a:ext cx="10909506" cy="55399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000"/>
              <a:buFont typeface="Arial" panose="020B0604020202020204"/>
              <a:buNone/>
            </a:pPr>
            <a:endParaRPr sz="30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86" name="Google Shape;186;p16" descr="https://scontent.fmnl4-4.fna.fbcdn.net/v/t1.0-0/p480x480/14222158_10154917270481840_943565569919391437_n.jpg?oh=95a375117379ba765ea6cb78072f51db&amp;oe=58804887"/>
          <p:cNvPicPr preferRelativeResize="0"/>
          <p:nvPr/>
        </p:nvPicPr>
        <p:blipFill rotWithShape="1">
          <a:blip r:embed="rId2"/>
          <a:srcRect t="12904"/>
          <a:stretch>
            <a:fillRect/>
          </a:stretch>
        </p:blipFill>
        <p:spPr>
          <a:xfrm>
            <a:off x="-8450" y="219527"/>
            <a:ext cx="7773591" cy="5977267"/>
          </a:xfrm>
          <a:prstGeom prst="rect">
            <a:avLst/>
          </a:prstGeom>
          <a:noFill/>
          <a:ln>
            <a:noFill/>
          </a:ln>
        </p:spPr>
      </p:pic>
      <p:sp>
        <p:nvSpPr>
          <p:cNvPr id="187" name="Google Shape;187;p16"/>
          <p:cNvSpPr txBox="1"/>
          <p:nvPr/>
        </p:nvSpPr>
        <p:spPr>
          <a:xfrm>
            <a:off x="8282343" y="1905506"/>
            <a:ext cx="3384005" cy="304698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600"/>
              <a:buFont typeface="Arial" panose="020B0604020202020204"/>
              <a:buNone/>
            </a:pPr>
            <a:r>
              <a:rPr lang="en-US" sz="9600" b="1" i="0" u="none" strike="noStrike" cap="none" dirty="0">
                <a:solidFill>
                  <a:schemeClr val="dk1"/>
                </a:solidFill>
                <a:latin typeface="Calibri" panose="020F0502020204030204"/>
                <a:ea typeface="Calibri" panose="020F0502020204030204"/>
                <a:cs typeface="Calibri" panose="020F0502020204030204"/>
                <a:sym typeface="Calibri" panose="020F0502020204030204"/>
              </a:rPr>
              <a:t>Thank </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9600"/>
              <a:buFont typeface="Arial" panose="020B0604020202020204"/>
              <a:buNone/>
            </a:pPr>
            <a:r>
              <a:rPr lang="en-US" sz="9600" b="1" i="0" u="none" strike="noStrike" cap="none" dirty="0">
                <a:solidFill>
                  <a:schemeClr val="dk1"/>
                </a:solidFill>
                <a:latin typeface="Calibri" panose="020F0502020204030204"/>
                <a:ea typeface="Calibri" panose="020F0502020204030204"/>
                <a:cs typeface="Calibri" panose="020F0502020204030204"/>
                <a:sym typeface="Calibri" panose="020F0502020204030204"/>
              </a:rPr>
              <a:t>You!</a:t>
            </a:r>
            <a:endParaRPr sz="9600" b="1"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18238</Words>
  <Application>WPS Presentation</Application>
  <PresentationFormat>Widescreen</PresentationFormat>
  <Paragraphs>255</Paragraphs>
  <Slides>30</Slides>
  <Notes>30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30</vt:i4>
      </vt:variant>
    </vt:vector>
  </HeadingPairs>
  <TitlesOfParts>
    <vt:vector size="38" baseType="lpstr">
      <vt:lpstr>Arial</vt:lpstr>
      <vt:lpstr>SimSun</vt:lpstr>
      <vt:lpstr>Wingdings</vt:lpstr>
      <vt:lpstr>Arial</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Gatekeeper</dc:creator>
  <cp:lastModifiedBy>Carl Angelo Dotollo</cp:lastModifiedBy>
  <cp:revision>51</cp:revision>
  <dcterms:created xsi:type="dcterms:W3CDTF">2018-06-07T06:05:00Z</dcterms:created>
  <dcterms:modified xsi:type="dcterms:W3CDTF">2025-02-03T05:38:38Z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1E5239CC4CA64FC1A07F43AA66178BFF_12</vt:lpwstr>
  </property>
  <property fmtid="{D5CDD505-2E9C-101B-9397-08002B2CF9AE}" pid="3" name="KSOProductBuildVer">
    <vt:lpwstr>1033-12.2.0.19805</vt:lpwstr>
  </property>
</Properties>
</file>